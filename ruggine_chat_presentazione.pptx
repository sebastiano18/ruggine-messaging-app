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2" r:id="rId3"/>
    <p:sldId id="28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731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E4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0630" y="1211759"/>
            <a:ext cx="366259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Rust Ruggine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567178" y="1916609"/>
            <a:ext cx="6009644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15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Applicazione di Messaggistica Real-Time</a:t>
            </a:r>
            <a:endParaRPr lang="en-US" sz="2550" dirty="0"/>
          </a:p>
          <a:p>
            <a:pPr marL="0" indent="0" algn="ctr">
              <a:lnSpc>
                <a:spcPts val="3315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Architettura Client-Server in Rust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567178" y="3387030"/>
            <a:ext cx="600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Politecnico di Torino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87bc8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80392"/>
            <a:ext cx="4282380" cy="568226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03771" y="971772"/>
            <a:ext cx="404954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Aft>
                <a:spcPts val="360"/>
              </a:spcAft>
              <a:buNone/>
            </a:pPr>
            <a:r>
              <a:rPr lang="en-US" sz="114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HTTP</a:t>
            </a:r>
            <a:endParaRPr lang="en-US" sz="1140" dirty="0"/>
          </a:p>
        </p:txBody>
      </p:sp>
      <p:sp>
        <p:nvSpPr>
          <p:cNvPr id="4" name="Text 1"/>
          <p:cNvSpPr/>
          <p:nvPr/>
        </p:nvSpPr>
        <p:spPr>
          <a:xfrm>
            <a:off x="403771" y="1220167"/>
            <a:ext cx="404954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Axum Router + Middleware | REST endpoints</a:t>
            </a:r>
            <a:endParaRPr lang="en-US" sz="900" dirty="0"/>
          </a:p>
        </p:txBody>
      </p:sp>
      <p:pic>
        <p:nvPicPr>
          <p:cNvPr id="5" name="Image 1" descr="/tmp/rasterized-gradient-f77cc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871" y="880392"/>
            <a:ext cx="4282529" cy="568226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808041" y="971772"/>
            <a:ext cx="404969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Aft>
                <a:spcPts val="360"/>
              </a:spcAft>
              <a:buNone/>
            </a:pPr>
            <a:r>
              <a:rPr lang="en-US" sz="114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WebSocket</a:t>
            </a:r>
            <a:endParaRPr lang="en-US" sz="1140" dirty="0"/>
          </a:p>
        </p:txBody>
      </p:sp>
      <p:sp>
        <p:nvSpPr>
          <p:cNvPr id="7" name="Text 3"/>
          <p:cNvSpPr/>
          <p:nvPr/>
        </p:nvSpPr>
        <p:spPr>
          <a:xfrm>
            <a:off x="4808041" y="1220167"/>
            <a:ext cx="404969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Upgrade Path | Actor Pattern (Reader/Writer/Receiver)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41732" y="1509488"/>
            <a:ext cx="886053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6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pic>
        <p:nvPicPr>
          <p:cNvPr id="9" name="Image 2" descr="/tmp/rasterized-gradient-067069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692249"/>
            <a:ext cx="8686800" cy="568226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8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403771" y="1783630"/>
            <a:ext cx="854205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Aft>
                <a:spcPts val="360"/>
              </a:spcAft>
              <a:buNone/>
            </a:pPr>
            <a:r>
              <a:rPr lang="en-US" sz="114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Controllers (HTTP/WS)</a:t>
            </a:r>
            <a:endParaRPr lang="en-US" sz="1140" dirty="0"/>
          </a:p>
        </p:txBody>
      </p:sp>
      <p:sp>
        <p:nvSpPr>
          <p:cNvPr id="11" name="Text 6"/>
          <p:cNvSpPr/>
          <p:nvPr/>
        </p:nvSpPr>
        <p:spPr>
          <a:xfrm>
            <a:off x="403771" y="2032024"/>
            <a:ext cx="854205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 UserController, MessageController, ConversationController | WebSocket: ws_entrypoint, ConnectionActor, handlers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41732" y="2321346"/>
            <a:ext cx="886053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6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pic>
        <p:nvPicPr>
          <p:cNvPr id="13" name="Image 3" descr="/tmp/rasterized-gradient-6f7eca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504107"/>
            <a:ext cx="8686800" cy="568226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8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403771" y="2595487"/>
            <a:ext cx="854205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Aft>
                <a:spcPts val="360"/>
              </a:spcAft>
              <a:buNone/>
            </a:pPr>
            <a:r>
              <a:rPr lang="en-US" sz="114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Services (Business Logic) - CONDIVISI</a:t>
            </a:r>
            <a:endParaRPr lang="en-US" sz="1140" dirty="0"/>
          </a:p>
        </p:txBody>
      </p:sp>
      <p:sp>
        <p:nvSpPr>
          <p:cNvPr id="15" name="Text 9"/>
          <p:cNvSpPr/>
          <p:nvPr/>
        </p:nvSpPr>
        <p:spPr>
          <a:xfrm>
            <a:off x="403771" y="2843881"/>
            <a:ext cx="854205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MessageService, ConversationService, UserService, ParticipantService | Orchestrazione repository, validazione business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41732" y="3133203"/>
            <a:ext cx="886053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6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pic>
        <p:nvPicPr>
          <p:cNvPr id="17" name="Image 4" descr="/tmp/rasterized-gradient-a12e6ab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315964"/>
            <a:ext cx="8686800" cy="568226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8000"/>
              </a:srgbClr>
            </a:outerShdw>
          </a:effectLst>
        </p:spPr>
      </p:pic>
      <p:sp>
        <p:nvSpPr>
          <p:cNvPr id="18" name="Text 11"/>
          <p:cNvSpPr/>
          <p:nvPr/>
        </p:nvSpPr>
        <p:spPr>
          <a:xfrm>
            <a:off x="403771" y="3407345"/>
            <a:ext cx="854205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Aft>
                <a:spcPts val="360"/>
              </a:spcAft>
              <a:buNone/>
            </a:pPr>
            <a:r>
              <a:rPr lang="en-US" sz="114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Repositories (Data Access) - CONDIVISI</a:t>
            </a:r>
            <a:endParaRPr lang="en-US" sz="1140" dirty="0"/>
          </a:p>
        </p:txBody>
      </p:sp>
      <p:sp>
        <p:nvSpPr>
          <p:cNvPr id="19" name="Text 12"/>
          <p:cNvSpPr/>
          <p:nvPr/>
        </p:nvSpPr>
        <p:spPr>
          <a:xfrm>
            <a:off x="403771" y="3655739"/>
            <a:ext cx="854205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MessageRepo, ConversationRepo, UserRepo, ParticipantRepo | Query SQL, mapping row → struct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41732" y="3945061"/>
            <a:ext cx="886053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6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pic>
        <p:nvPicPr>
          <p:cNvPr id="21" name="Image 5" descr="/tmp/rasterized-gradient-4c3cae5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127822"/>
            <a:ext cx="8686800" cy="568226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8000"/>
              </a:srgbClr>
            </a:outerShdw>
          </a:effectLst>
        </p:spPr>
      </p:pic>
      <p:sp>
        <p:nvSpPr>
          <p:cNvPr id="22" name="Text 14"/>
          <p:cNvSpPr/>
          <p:nvPr/>
        </p:nvSpPr>
        <p:spPr>
          <a:xfrm>
            <a:off x="403771" y="4219202"/>
            <a:ext cx="854205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Aft>
                <a:spcPts val="360"/>
              </a:spcAft>
              <a:buNone/>
            </a:pPr>
            <a:r>
              <a:rPr lang="en-US" sz="114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Database (SQLite + WAL)</a:t>
            </a:r>
            <a:endParaRPr lang="en-US" sz="1140" dirty="0"/>
          </a:p>
        </p:txBody>
      </p:sp>
      <p:sp>
        <p:nvSpPr>
          <p:cNvPr id="23" name="Text 15"/>
          <p:cNvSpPr/>
          <p:nvPr/>
        </p:nvSpPr>
        <p:spPr>
          <a:xfrm>
            <a:off x="403771" y="4467596"/>
            <a:ext cx="854205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| conversations | participants | messages | message_sequences | user_events | user_sequences</a:t>
            </a:r>
            <a:endParaRPr lang="en-US" sz="90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757AD6E2-6DDC-621F-DE35-CB61D31766F3}"/>
              </a:ext>
            </a:extLst>
          </p:cNvPr>
          <p:cNvSpPr/>
          <p:nvPr/>
        </p:nvSpPr>
        <p:spPr>
          <a:xfrm>
            <a:off x="381000" y="228600"/>
            <a:ext cx="49451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Pattern Architetturale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2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Pattern Architetturale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8600" y="548580"/>
            <a:ext cx="4267200" cy="459730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42888" y="548580"/>
            <a:ext cx="0" cy="45973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3736" y="617041"/>
            <a:ext cx="4106013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spcAft>
                <a:spcPts val="180"/>
              </a:spcAft>
              <a:buNone/>
            </a:pPr>
            <a:r>
              <a:rPr lang="en-US" sz="96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Layer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363736" y="810369"/>
            <a:ext cx="4106013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egui (Immediate Mode GUI) | Render functions (~60Hz)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185928" y="1061591"/>
            <a:ext cx="4352544" cy="6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28600" y="1175742"/>
            <a:ext cx="4267200" cy="459730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2888" y="1175742"/>
            <a:ext cx="0" cy="45973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63736" y="1244203"/>
            <a:ext cx="4106013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spcAft>
                <a:spcPts val="180"/>
              </a:spcAft>
              <a:buNone/>
            </a:pPr>
            <a:r>
              <a:rPr lang="en-US" sz="96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EventDispatcher (Router)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363736" y="1437531"/>
            <a:ext cx="4106013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ui_rx → Route handlers</a:t>
            </a:r>
            <a:endParaRPr lang="en-US" sz="816" dirty="0"/>
          </a:p>
        </p:txBody>
      </p:sp>
      <p:sp>
        <p:nvSpPr>
          <p:cNvPr id="12" name="Text 10"/>
          <p:cNvSpPr/>
          <p:nvPr/>
        </p:nvSpPr>
        <p:spPr>
          <a:xfrm>
            <a:off x="185928" y="1688753"/>
            <a:ext cx="4352544" cy="6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28600" y="1802904"/>
            <a:ext cx="4267200" cy="459730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2888" y="1802904"/>
            <a:ext cx="0" cy="45973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3736" y="1871365"/>
            <a:ext cx="4106013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spcAft>
                <a:spcPts val="180"/>
              </a:spcAft>
              <a:buNone/>
            </a:pPr>
            <a:r>
              <a:rPr lang="en-US" sz="96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Handlers (Business)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363736" y="2064693"/>
            <a:ext cx="4106013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Mutano AppState</a:t>
            </a:r>
            <a:endParaRPr lang="en-US" sz="816" dirty="0"/>
          </a:p>
        </p:txBody>
      </p:sp>
      <p:sp>
        <p:nvSpPr>
          <p:cNvPr id="17" name="Text 15"/>
          <p:cNvSpPr/>
          <p:nvPr/>
        </p:nvSpPr>
        <p:spPr>
          <a:xfrm>
            <a:off x="185928" y="2315914"/>
            <a:ext cx="4352544" cy="6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228600" y="2430066"/>
            <a:ext cx="4267200" cy="673298"/>
          </a:xfrm>
          <a:prstGeom prst="roundRect">
            <a:avLst>
              <a:gd name="adj" fmla="val 5659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42888" y="2430066"/>
            <a:ext cx="0" cy="673298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25636" y="2498527"/>
            <a:ext cx="2020342" cy="536377"/>
          </a:xfrm>
          <a:prstGeom prst="roundRect">
            <a:avLst>
              <a:gd name="adj" fmla="val 532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1326" y="2544217"/>
            <a:ext cx="1967541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spcAft>
                <a:spcPts val="180"/>
              </a:spcAft>
              <a:buNone/>
            </a:pPr>
            <a:r>
              <a:rPr lang="en-US" sz="816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AppState</a:t>
            </a:r>
            <a:endParaRPr lang="en-US" sz="816" dirty="0"/>
          </a:p>
          <a:p>
            <a:pPr marL="0" indent="0" algn="l">
              <a:lnSpc>
                <a:spcPts val="1142"/>
              </a:lnSpc>
              <a:spcAft>
                <a:spcPts val="180"/>
              </a:spcAft>
              <a:buNone/>
            </a:pPr>
            <a:r>
              <a:rPr lang="en-US" sz="816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(Single Truth)</a:t>
            </a:r>
            <a:endParaRPr lang="en-US" sz="816" dirty="0"/>
          </a:p>
        </p:txBody>
      </p:sp>
      <p:sp>
        <p:nvSpPr>
          <p:cNvPr id="22" name="Text 20"/>
          <p:cNvSpPr/>
          <p:nvPr/>
        </p:nvSpPr>
        <p:spPr>
          <a:xfrm>
            <a:off x="371326" y="2856905"/>
            <a:ext cx="1967541" cy="1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2"/>
              </a:lnSpc>
              <a:buNone/>
            </a:pPr>
            <a:r>
              <a:rPr lang="en-US" sz="744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centralizzato</a:t>
            </a:r>
            <a:endParaRPr lang="en-US" sz="744" dirty="0"/>
          </a:p>
        </p:txBody>
      </p:sp>
      <p:sp>
        <p:nvSpPr>
          <p:cNvPr id="23" name="Text 21"/>
          <p:cNvSpPr/>
          <p:nvPr/>
        </p:nvSpPr>
        <p:spPr>
          <a:xfrm>
            <a:off x="2406848" y="2498527"/>
            <a:ext cx="2020491" cy="536377"/>
          </a:xfrm>
          <a:prstGeom prst="roundRect">
            <a:avLst>
              <a:gd name="adj" fmla="val 532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52539" y="2544217"/>
            <a:ext cx="1967692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spcAft>
                <a:spcPts val="180"/>
              </a:spcAft>
              <a:buNone/>
            </a:pPr>
            <a:r>
              <a:rPr lang="en-US" sz="816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ui_to_net_tx</a:t>
            </a:r>
            <a:endParaRPr lang="en-US" sz="816" dirty="0"/>
          </a:p>
          <a:p>
            <a:pPr marL="0" indent="0" algn="l">
              <a:lnSpc>
                <a:spcPts val="1142"/>
              </a:lnSpc>
              <a:spcAft>
                <a:spcPts val="180"/>
              </a:spcAft>
              <a:buNone/>
            </a:pPr>
            <a:r>
              <a:rPr lang="en-US" sz="816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(UI → Network)</a:t>
            </a:r>
            <a:endParaRPr lang="en-US" sz="816" dirty="0"/>
          </a:p>
        </p:txBody>
      </p:sp>
      <p:sp>
        <p:nvSpPr>
          <p:cNvPr id="25" name="Text 23"/>
          <p:cNvSpPr/>
          <p:nvPr/>
        </p:nvSpPr>
        <p:spPr>
          <a:xfrm>
            <a:off x="2452539" y="2856905"/>
            <a:ext cx="1967692" cy="1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2"/>
              </a:lnSpc>
              <a:buNone/>
            </a:pPr>
            <a:r>
              <a:rPr lang="en-US" sz="744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Comandi al backend</a:t>
            </a:r>
            <a:endParaRPr lang="en-US" sz="744" dirty="0"/>
          </a:p>
        </p:txBody>
      </p:sp>
      <p:sp>
        <p:nvSpPr>
          <p:cNvPr id="26" name="Text 24"/>
          <p:cNvSpPr/>
          <p:nvPr/>
        </p:nvSpPr>
        <p:spPr>
          <a:xfrm>
            <a:off x="185928" y="3156645"/>
            <a:ext cx="4352544" cy="6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228600" y="3270796"/>
            <a:ext cx="4267200" cy="589211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3270796"/>
            <a:ext cx="0" cy="589211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363736" y="3339257"/>
            <a:ext cx="4106013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spcAft>
                <a:spcPts val="180"/>
              </a:spcAft>
              <a:buNone/>
            </a:pPr>
            <a:r>
              <a:rPr lang="en-US" sz="96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WebSocketManager (Networking)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363736" y="3532584"/>
            <a:ext cx="410601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Riceve WS dal backend | Spacchetta messaggi | Invia UiEvent via ui_tx | Lifecycle + health</a:t>
            </a:r>
            <a:endParaRPr lang="en-US" sz="816" dirty="0"/>
          </a:p>
        </p:txBody>
      </p:sp>
      <p:sp>
        <p:nvSpPr>
          <p:cNvPr id="31" name="Text 29"/>
          <p:cNvSpPr/>
          <p:nvPr/>
        </p:nvSpPr>
        <p:spPr>
          <a:xfrm>
            <a:off x="185928" y="3913287"/>
            <a:ext cx="4352544" cy="6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60" dirty="0"/>
          </a:p>
        </p:txBody>
      </p:sp>
      <p:pic>
        <p:nvPicPr>
          <p:cNvPr id="32" name="Image 0" descr="/tmp/rasterized-gradient-96f056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027438"/>
            <a:ext cx="4267200" cy="589211"/>
          </a:xfrm>
          <a:prstGeom prst="rect">
            <a:avLst/>
          </a:prstGeom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33" name="Text 30"/>
          <p:cNvSpPr/>
          <p:nvPr/>
        </p:nvSpPr>
        <p:spPr>
          <a:xfrm>
            <a:off x="363736" y="4095899"/>
            <a:ext cx="4106013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spcAft>
                <a:spcPts val="180"/>
              </a:spcAft>
              <a:buNone/>
            </a:pPr>
            <a:r>
              <a:rPr lang="en-US" sz="96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API (reqwest async)</a:t>
            </a:r>
            <a:endParaRPr lang="en-US" sz="960" dirty="0"/>
          </a:p>
        </p:txBody>
      </p:sp>
      <p:sp>
        <p:nvSpPr>
          <p:cNvPr id="34" name="Text 31"/>
          <p:cNvSpPr/>
          <p:nvPr/>
        </p:nvSpPr>
        <p:spPr>
          <a:xfrm>
            <a:off x="363736" y="4289227"/>
            <a:ext cx="410601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Register, Logout | Fetch conversations &amp; messages (pagination) | Request/Response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4648200" y="548580"/>
            <a:ext cx="4352544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48"/>
              </a:lnSpc>
              <a:spcAft>
                <a:spcPts val="360"/>
              </a:spcAft>
              <a:buNone/>
            </a:pPr>
            <a:r>
              <a:rPr lang="en-US" sz="13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Architecture</a:t>
            </a:r>
            <a:endParaRPr lang="en-US" sz="1320" dirty="0"/>
          </a:p>
        </p:txBody>
      </p:sp>
      <p:sp>
        <p:nvSpPr>
          <p:cNvPr id="36" name="Text 33"/>
          <p:cNvSpPr/>
          <p:nvPr/>
        </p:nvSpPr>
        <p:spPr>
          <a:xfrm>
            <a:off x="4648200" y="905024"/>
            <a:ext cx="4352544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600"/>
              </a:spcAft>
              <a:buNone/>
            </a:pPr>
            <a:r>
              <a:rPr lang="en-US" sz="9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event-driven con WebSocketManager (real-time persistente) e HTTP API (async request/response).</a:t>
            </a:r>
            <a:endParaRPr lang="en-US" sz="960" dirty="0"/>
          </a:p>
        </p:txBody>
      </p:sp>
      <p:sp>
        <p:nvSpPr>
          <p:cNvPr id="37" name="Text 34"/>
          <p:cNvSpPr/>
          <p:nvPr/>
        </p:nvSpPr>
        <p:spPr>
          <a:xfrm>
            <a:off x="4648200" y="1374130"/>
            <a:ext cx="4267200" cy="611832"/>
          </a:xfrm>
          <a:prstGeom prst="roundRect">
            <a:avLst>
              <a:gd name="adj" fmla="val 622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4662488" y="1374130"/>
            <a:ext cx="0" cy="61183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6"/>
          <p:cNvSpPr/>
          <p:nvPr/>
        </p:nvSpPr>
        <p:spPr>
          <a:xfrm>
            <a:off x="4752975" y="1450330"/>
            <a:ext cx="4167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40"/>
              </a:spcAft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WebSocketManager: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752975" y="1640681"/>
            <a:ext cx="4167950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networking real-time. Riceve dati backend via WS, deserializza JSON, invia UiEvent via ui_tx. Gestisce lifecycle + health.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4648200" y="2062163"/>
            <a:ext cx="4267200" cy="611832"/>
          </a:xfrm>
          <a:prstGeom prst="roundRect">
            <a:avLst>
              <a:gd name="adj" fmla="val 622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662488" y="2062163"/>
            <a:ext cx="0" cy="61183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0"/>
          <p:cNvSpPr/>
          <p:nvPr/>
        </p:nvSpPr>
        <p:spPr>
          <a:xfrm>
            <a:off x="4752975" y="2138363"/>
            <a:ext cx="4167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40"/>
              </a:spcAft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API: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752975" y="2328714"/>
            <a:ext cx="4167950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Operazioni async request/response: auth (login, register, logout), fetch conversations paginate, fetch messages. Usa reqwest async.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4648200" y="2750195"/>
            <a:ext cx="4267200" cy="477292"/>
          </a:xfrm>
          <a:prstGeom prst="roundRect">
            <a:avLst>
              <a:gd name="adj" fmla="val 798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3"/>
          <p:cNvSpPr/>
          <p:nvPr/>
        </p:nvSpPr>
        <p:spPr>
          <a:xfrm>
            <a:off x="4662488" y="2750195"/>
            <a:ext cx="0" cy="47729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4"/>
          <p:cNvSpPr/>
          <p:nvPr/>
        </p:nvSpPr>
        <p:spPr>
          <a:xfrm>
            <a:off x="4752975" y="2826395"/>
            <a:ext cx="4167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40"/>
              </a:spcAft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EventDispatcher: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752975" y="3016746"/>
            <a:ext cx="4167950" cy="13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ui_rx, route a handler specializzato.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4648200" y="3303687"/>
            <a:ext cx="4267200" cy="477292"/>
          </a:xfrm>
          <a:prstGeom prst="roundRect">
            <a:avLst>
              <a:gd name="adj" fmla="val 798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7"/>
          <p:cNvSpPr/>
          <p:nvPr/>
        </p:nvSpPr>
        <p:spPr>
          <a:xfrm>
            <a:off x="4662488" y="3303687"/>
            <a:ext cx="0" cy="47729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8"/>
          <p:cNvSpPr/>
          <p:nvPr/>
        </p:nvSpPr>
        <p:spPr>
          <a:xfrm>
            <a:off x="4752975" y="3379887"/>
            <a:ext cx="4167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40"/>
              </a:spcAft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Handlers: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4752975" y="3570238"/>
            <a:ext cx="4167950" cy="13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logic, mutano AppState, inviano comandi a ui_to_net_tx.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7411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Axum: Web Framework Async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4667250" y="1572964"/>
            <a:ext cx="41776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t>Framework Web Built on Tokio</a:t>
            </a:r>
            <a:endParaRPr lang="en-US" sz="1050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t>Axum 0.7 è il framework web che gestisce tutte le comunicazioni HTTP del backend. Definisce gli endpoint REST per login e registrazione degli utenti, oltre alla gestione delle conversazioni. Il router è organizzato a layer: ogni richiesta passa attraverso middleware per l'autenticazione JWT, la gestione CORS e il logging. Quando arriva una richiesta WebSocket, il middleware WebSocketUpgrade converte la connessione HTTP in un canale bidirezionale persistente.</a:t>
            </a:r>
          </a:p>
        </p:txBody>
      </p:sp>
      <p:pic>
        <p:nvPicPr>
          <p:cNvPr id="26" name="Immagine 2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E561F439-6CC6-FBB2-EE10-AF00B2AAF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56" y="1317587"/>
            <a:ext cx="2922220" cy="2810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6835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Tokio + Tungstenite: Async Runtime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4667250" y="1572964"/>
            <a:ext cx="41776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t>Multi-threaded Async Runtime</a:t>
            </a:r>
            <a:endParaRPr lang="en-US" sz="1050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t>Tokio è il motore asincrono che fa girare tutto il sistema, sia backend che frontend. Nel backend, ogni nuova connessione WebSocket crea tre task concorrenti che lavorano in parallelo: uno per scrivere messaggi al client, uno per leggere i suoi input, e uno per gestire le notifiche broadcast. Nel frontend, Tokio gestisce la connessione client verso il server usando tokio-tungstenite. Il sistema usa primitives come select! per gestire eventi multipli simultaneamente e interval per operazioni periodiche come gli heartbeat.</a:t>
            </a: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C9C2DC0E-46A3-27E3-BC9D-26A5278E3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86" y="1252972"/>
            <a:ext cx="2952382" cy="31915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5281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WebSocket Actor Pattern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4667252" y="1069066"/>
            <a:ext cx="4095750" cy="3845834"/>
          </a:xfrm>
          <a:prstGeom prst="roundRect">
            <a:avLst>
              <a:gd name="adj" fmla="val 6213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3 Task </a:t>
            </a:r>
            <a:r>
              <a:rPr dirty="0" err="1"/>
              <a:t>Concorrenti</a:t>
            </a:r>
            <a:r>
              <a:rPr dirty="0"/>
              <a:t> per </a:t>
            </a:r>
            <a:r>
              <a:rPr dirty="0" err="1"/>
              <a:t>Connessione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Ogni </a:t>
            </a:r>
            <a:r>
              <a:rPr dirty="0" err="1"/>
              <a:t>connessione</a:t>
            </a:r>
            <a:r>
              <a:rPr dirty="0"/>
              <a:t> WebSocket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gestita</a:t>
            </a:r>
            <a:r>
              <a:rPr dirty="0"/>
              <a:t> da un Actor Pattern con </a:t>
            </a:r>
            <a:r>
              <a:rPr dirty="0" err="1"/>
              <a:t>tre</a:t>
            </a:r>
            <a:r>
              <a:rPr dirty="0"/>
              <a:t> task </a:t>
            </a:r>
            <a:r>
              <a:rPr dirty="0" err="1"/>
              <a:t>separati</a:t>
            </a:r>
            <a:r>
              <a:rPr dirty="0"/>
              <a:t>. Quando un client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connette</a:t>
            </a:r>
            <a:r>
              <a:rPr dirty="0"/>
              <a:t>, il socket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diviso</a:t>
            </a:r>
            <a:r>
              <a:rPr dirty="0"/>
              <a:t> in due </a:t>
            </a:r>
            <a:r>
              <a:rPr dirty="0" err="1"/>
              <a:t>metà</a:t>
            </a:r>
            <a:r>
              <a:rPr dirty="0"/>
              <a:t>: </a:t>
            </a:r>
            <a:r>
              <a:rPr dirty="0" err="1"/>
              <a:t>una</a:t>
            </a:r>
            <a:r>
              <a:rPr dirty="0"/>
              <a:t> per </a:t>
            </a:r>
            <a:r>
              <a:rPr dirty="0" err="1"/>
              <a:t>scrivere</a:t>
            </a:r>
            <a:r>
              <a:rPr dirty="0"/>
              <a:t> e </a:t>
            </a:r>
            <a:r>
              <a:rPr dirty="0" err="1"/>
              <a:t>una</a:t>
            </a:r>
            <a:r>
              <a:rPr dirty="0"/>
              <a:t> per </a:t>
            </a:r>
            <a:r>
              <a:rPr dirty="0" err="1"/>
              <a:t>leggere</a:t>
            </a:r>
            <a:r>
              <a:rPr dirty="0"/>
              <a:t>. Il Writer Task è </a:t>
            </a:r>
            <a:r>
              <a:rPr dirty="0" err="1"/>
              <a:t>l'unico</a:t>
            </a:r>
            <a:r>
              <a:rPr dirty="0"/>
              <a:t> </a:t>
            </a:r>
            <a:r>
              <a:rPr dirty="0" err="1"/>
              <a:t>proprietario</a:t>
            </a:r>
            <a:r>
              <a:rPr dirty="0"/>
              <a:t> della </a:t>
            </a:r>
            <a:r>
              <a:rPr dirty="0" err="1"/>
              <a:t>metà</a:t>
            </a:r>
            <a:r>
              <a:rPr dirty="0"/>
              <a:t> di </a:t>
            </a:r>
            <a:r>
              <a:rPr dirty="0" err="1"/>
              <a:t>scrittura</a:t>
            </a:r>
            <a:r>
              <a:rPr dirty="0"/>
              <a:t> e </a:t>
            </a:r>
            <a:r>
              <a:rPr dirty="0" err="1"/>
              <a:t>invia</a:t>
            </a:r>
            <a:r>
              <a:rPr dirty="0"/>
              <a:t> </a:t>
            </a:r>
            <a:r>
              <a:rPr dirty="0" err="1"/>
              <a:t>messaggi</a:t>
            </a:r>
            <a:r>
              <a:rPr dirty="0"/>
              <a:t> al client ogni volta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arriva</a:t>
            </a:r>
            <a:r>
              <a:rPr dirty="0"/>
              <a:t> </a:t>
            </a:r>
            <a:r>
              <a:rPr dirty="0" err="1"/>
              <a:t>qualcosa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canale</a:t>
            </a:r>
            <a:r>
              <a:rPr dirty="0"/>
              <a:t> </a:t>
            </a:r>
            <a:r>
              <a:rPr dirty="0" err="1"/>
              <a:t>out_rx</a:t>
            </a:r>
            <a:r>
              <a:rPr dirty="0"/>
              <a:t>, </a:t>
            </a:r>
            <a:r>
              <a:rPr dirty="0" err="1"/>
              <a:t>inoltre</a:t>
            </a:r>
            <a:r>
              <a:rPr dirty="0"/>
              <a:t> </a:t>
            </a:r>
            <a:r>
              <a:rPr dirty="0" err="1"/>
              <a:t>invia</a:t>
            </a:r>
            <a:r>
              <a:rPr dirty="0"/>
              <a:t> ping ogni 30 secondi con </a:t>
            </a:r>
            <a:r>
              <a:rPr dirty="0" err="1"/>
              <a:t>ritardo</a:t>
            </a:r>
            <a:r>
              <a:rPr dirty="0"/>
              <a:t> </a:t>
            </a:r>
            <a:r>
              <a:rPr dirty="0" err="1"/>
              <a:t>casuale</a:t>
            </a:r>
            <a:r>
              <a:rPr dirty="0"/>
              <a:t> per </a:t>
            </a:r>
            <a:r>
              <a:rPr dirty="0" err="1"/>
              <a:t>evitare</a:t>
            </a:r>
            <a:r>
              <a:rPr dirty="0"/>
              <a:t> </a:t>
            </a:r>
            <a:r>
              <a:rPr dirty="0" err="1"/>
              <a:t>picchi</a:t>
            </a:r>
            <a:r>
              <a:rPr dirty="0"/>
              <a:t> di </a:t>
            </a:r>
            <a:r>
              <a:rPr dirty="0" err="1"/>
              <a:t>traffico</a:t>
            </a:r>
            <a:r>
              <a:rPr dirty="0"/>
              <a:t>. Il Reader Task </a:t>
            </a:r>
            <a:r>
              <a:rPr dirty="0" err="1"/>
              <a:t>legge</a:t>
            </a:r>
            <a:r>
              <a:rPr lang="it-IT" dirty="0"/>
              <a:t> </a:t>
            </a:r>
            <a:r>
              <a:rPr dirty="0" err="1"/>
              <a:t>continuamente</a:t>
            </a:r>
            <a:r>
              <a:rPr dirty="0"/>
              <a:t> dal socket, </a:t>
            </a:r>
            <a:r>
              <a:rPr dirty="0" err="1"/>
              <a:t>valida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messaggi</a:t>
            </a:r>
            <a:r>
              <a:rPr dirty="0"/>
              <a:t> in </a:t>
            </a:r>
            <a:r>
              <a:rPr dirty="0" err="1"/>
              <a:t>arrivo</a:t>
            </a:r>
            <a:r>
              <a:rPr dirty="0"/>
              <a:t> e </a:t>
            </a:r>
            <a:r>
              <a:rPr dirty="0" err="1"/>
              <a:t>applica</a:t>
            </a:r>
            <a:r>
              <a:rPr dirty="0"/>
              <a:t> rate limiting di 60 </a:t>
            </a:r>
            <a:r>
              <a:rPr dirty="0" err="1"/>
              <a:t>messaggi</a:t>
            </a:r>
            <a:r>
              <a:rPr dirty="0"/>
              <a:t> al </a:t>
            </a:r>
            <a:r>
              <a:rPr dirty="0" err="1"/>
              <a:t>minuto</a:t>
            </a:r>
            <a:r>
              <a:rPr dirty="0"/>
              <a:t>. Il Receiver Task fa da </a:t>
            </a:r>
            <a:r>
              <a:rPr dirty="0" err="1"/>
              <a:t>ponte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broadcast channels e il Writer, </a:t>
            </a:r>
            <a:r>
              <a:rPr dirty="0" err="1"/>
              <a:t>unendo</a:t>
            </a:r>
            <a:r>
              <a:rPr dirty="0"/>
              <a:t> </a:t>
            </a:r>
            <a:r>
              <a:rPr dirty="0" err="1"/>
              <a:t>notifiche</a:t>
            </a:r>
            <a:r>
              <a:rPr dirty="0"/>
              <a:t> </a:t>
            </a:r>
            <a:r>
              <a:rPr dirty="0" err="1"/>
              <a:t>personali</a:t>
            </a:r>
            <a:r>
              <a:rPr dirty="0"/>
              <a:t> </a:t>
            </a:r>
            <a:r>
              <a:rPr dirty="0" err="1"/>
              <a:t>dell'utente</a:t>
            </a:r>
            <a:r>
              <a:rPr dirty="0"/>
              <a:t> e </a:t>
            </a:r>
            <a:r>
              <a:rPr dirty="0" err="1"/>
              <a:t>messaggi</a:t>
            </a:r>
            <a:r>
              <a:rPr dirty="0"/>
              <a:t> delle </a:t>
            </a:r>
            <a:r>
              <a:rPr dirty="0" err="1"/>
              <a:t>conversazioni</a:t>
            </a:r>
            <a:r>
              <a:rPr dirty="0"/>
              <a:t> </a:t>
            </a:r>
            <a:r>
              <a:rPr dirty="0" err="1"/>
              <a:t>attive</a:t>
            </a:r>
            <a:r>
              <a:rPr dirty="0"/>
              <a:t>.</a:t>
            </a:r>
          </a:p>
        </p:txBody>
      </p:sp>
      <p:pic>
        <p:nvPicPr>
          <p:cNvPr id="22" name="Immagine 21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EF1D5F40-B780-C886-50DF-5FF699E53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06" y="1436915"/>
            <a:ext cx="2799798" cy="28561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5093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AppState - Strutture Dati Canali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4667250" y="855617"/>
            <a:ext cx="4095750" cy="4199709"/>
          </a:xfrm>
          <a:prstGeom prst="roundRect">
            <a:avLst>
              <a:gd name="adj" fmla="val 5292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Storage Backend Broadcast Channels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Il backend </a:t>
            </a:r>
            <a:r>
              <a:rPr dirty="0" err="1"/>
              <a:t>mantiene</a:t>
            </a:r>
            <a:r>
              <a:rPr dirty="0"/>
              <a:t> lo </a:t>
            </a:r>
            <a:r>
              <a:rPr dirty="0" err="1"/>
              <a:t>stato</a:t>
            </a:r>
            <a:r>
              <a:rPr dirty="0"/>
              <a:t> </a:t>
            </a:r>
            <a:r>
              <a:rPr dirty="0" err="1"/>
              <a:t>condiviso</a:t>
            </a:r>
            <a:r>
              <a:rPr dirty="0"/>
              <a:t> in </a:t>
            </a:r>
            <a:r>
              <a:rPr dirty="0" err="1"/>
              <a:t>AppState</a:t>
            </a:r>
            <a:r>
              <a:rPr dirty="0"/>
              <a:t>,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struttura</a:t>
            </a:r>
            <a:r>
              <a:rPr dirty="0"/>
              <a:t> thread-safe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contiene</a:t>
            </a:r>
            <a:r>
              <a:rPr dirty="0"/>
              <a:t> tutte le </a:t>
            </a:r>
            <a:r>
              <a:rPr dirty="0" err="1"/>
              <a:t>informazioni</a:t>
            </a:r>
            <a:r>
              <a:rPr dirty="0"/>
              <a:t> </a:t>
            </a:r>
            <a:r>
              <a:rPr dirty="0" err="1"/>
              <a:t>sulle</a:t>
            </a:r>
            <a:r>
              <a:rPr dirty="0"/>
              <a:t> </a:t>
            </a:r>
            <a:r>
              <a:rPr dirty="0" err="1"/>
              <a:t>connessioni</a:t>
            </a:r>
            <a:r>
              <a:rPr dirty="0"/>
              <a:t> </a:t>
            </a:r>
            <a:r>
              <a:rPr dirty="0" err="1"/>
              <a:t>attive</a:t>
            </a:r>
            <a:r>
              <a:rPr dirty="0"/>
              <a:t>. I broadcast channels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organizzati</a:t>
            </a:r>
            <a:r>
              <a:rPr dirty="0"/>
              <a:t> in due HashMap: uno per le </a:t>
            </a:r>
            <a:r>
              <a:rPr dirty="0" err="1"/>
              <a:t>notifiche</a:t>
            </a:r>
            <a:r>
              <a:rPr lang="it-IT" dirty="0"/>
              <a:t> </a:t>
            </a:r>
            <a:r>
              <a:rPr dirty="0" err="1"/>
              <a:t>personali</a:t>
            </a:r>
            <a:r>
              <a:rPr dirty="0"/>
              <a:t> di ogni </a:t>
            </a:r>
            <a:r>
              <a:rPr dirty="0" err="1"/>
              <a:t>utente</a:t>
            </a:r>
            <a:r>
              <a:rPr dirty="0"/>
              <a:t> e uno per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messaggi</a:t>
            </a:r>
            <a:r>
              <a:rPr dirty="0"/>
              <a:t> di ogni conversazione. </a:t>
            </a:r>
            <a:r>
              <a:rPr dirty="0" err="1"/>
              <a:t>Questi</a:t>
            </a:r>
            <a:r>
              <a:rPr dirty="0"/>
              <a:t> </a:t>
            </a:r>
            <a:r>
              <a:rPr dirty="0" err="1"/>
              <a:t>canali</a:t>
            </a:r>
            <a:r>
              <a:rPr dirty="0"/>
              <a:t>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creati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servono</a:t>
            </a:r>
            <a:r>
              <a:rPr dirty="0"/>
              <a:t> e </a:t>
            </a:r>
            <a:r>
              <a:rPr dirty="0" err="1"/>
              <a:t>permettono</a:t>
            </a:r>
            <a:r>
              <a:rPr dirty="0"/>
              <a:t> di </a:t>
            </a:r>
            <a:r>
              <a:rPr dirty="0" err="1"/>
              <a:t>inviare</a:t>
            </a:r>
            <a:r>
              <a:rPr dirty="0"/>
              <a:t> aggiornamenti in tempo </a:t>
            </a:r>
            <a:r>
              <a:rPr dirty="0" err="1"/>
              <a:t>reale</a:t>
            </a:r>
            <a:r>
              <a:rPr dirty="0"/>
              <a:t> a tutti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partecipanti</a:t>
            </a:r>
            <a:r>
              <a:rPr dirty="0"/>
              <a:t>. Ogni </a:t>
            </a:r>
            <a:r>
              <a:rPr dirty="0" err="1"/>
              <a:t>connessione</a:t>
            </a:r>
            <a:r>
              <a:rPr dirty="0"/>
              <a:t> è </a:t>
            </a:r>
            <a:r>
              <a:rPr dirty="0" err="1"/>
              <a:t>tracciata</a:t>
            </a:r>
            <a:r>
              <a:rPr dirty="0"/>
              <a:t> con un </a:t>
            </a:r>
            <a:r>
              <a:rPr lang="it-IT" dirty="0" err="1"/>
              <a:t>ActiveConnection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contiene</a:t>
            </a:r>
            <a:r>
              <a:rPr dirty="0"/>
              <a:t> </a:t>
            </a:r>
            <a:r>
              <a:rPr dirty="0" err="1"/>
              <a:t>l'ID</a:t>
            </a:r>
            <a:r>
              <a:rPr dirty="0"/>
              <a:t> di </a:t>
            </a:r>
            <a:r>
              <a:rPr dirty="0" err="1"/>
              <a:t>sessione</a:t>
            </a:r>
            <a:r>
              <a:rPr dirty="0"/>
              <a:t> per </a:t>
            </a:r>
            <a:r>
              <a:rPr lang="it-IT" dirty="0"/>
              <a:t>gestire</a:t>
            </a:r>
            <a:r>
              <a:rPr dirty="0"/>
              <a:t> login </a:t>
            </a:r>
            <a:r>
              <a:rPr dirty="0" err="1"/>
              <a:t>multipli</a:t>
            </a:r>
            <a:r>
              <a:rPr dirty="0"/>
              <a:t> </a:t>
            </a:r>
            <a:r>
              <a:rPr dirty="0" err="1"/>
              <a:t>dallo</a:t>
            </a:r>
            <a:r>
              <a:rPr dirty="0"/>
              <a:t> </a:t>
            </a:r>
            <a:r>
              <a:rPr dirty="0" err="1"/>
              <a:t>stesso</a:t>
            </a:r>
            <a:r>
              <a:rPr dirty="0"/>
              <a:t> account, e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canali</a:t>
            </a:r>
            <a:r>
              <a:rPr dirty="0"/>
              <a:t> per </a:t>
            </a:r>
            <a:r>
              <a:rPr dirty="0" err="1"/>
              <a:t>comunicare</a:t>
            </a:r>
            <a:r>
              <a:rPr dirty="0"/>
              <a:t> </a:t>
            </a:r>
            <a:r>
              <a:rPr dirty="0" err="1"/>
              <a:t>direttamente</a:t>
            </a:r>
            <a:r>
              <a:rPr dirty="0"/>
              <a:t> con il Writer Task.</a:t>
            </a:r>
          </a:p>
        </p:txBody>
      </p:sp>
      <p:pic>
        <p:nvPicPr>
          <p:cNvPr id="24" name="Immagine 2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8309264-3967-8414-843A-919C36496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37" y="1287743"/>
            <a:ext cx="3310429" cy="30425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3553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Broadcast Channels - Creazione &amp; Delivery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4804410" y="752475"/>
            <a:ext cx="4095750" cy="3695700"/>
          </a:xfrm>
          <a:prstGeom prst="roundRect">
            <a:avLst>
              <a:gd name="adj" fmla="val 7637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Lazy Creation + O(1) Delivery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 broadcast channels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creati</a:t>
            </a:r>
            <a:r>
              <a:rPr dirty="0"/>
              <a:t> in modo lazy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servono</a:t>
            </a:r>
            <a:r>
              <a:rPr dirty="0"/>
              <a:t>, </a:t>
            </a:r>
            <a:r>
              <a:rPr dirty="0" err="1"/>
              <a:t>usando</a:t>
            </a:r>
            <a:r>
              <a:rPr dirty="0"/>
              <a:t> un pattern di double-check locking per </a:t>
            </a:r>
            <a:r>
              <a:rPr dirty="0" err="1"/>
              <a:t>ottimizzare</a:t>
            </a:r>
            <a:r>
              <a:rPr dirty="0"/>
              <a:t> le performance. Quando serve un </a:t>
            </a:r>
            <a:r>
              <a:rPr dirty="0" err="1"/>
              <a:t>canale</a:t>
            </a:r>
            <a:r>
              <a:rPr dirty="0"/>
              <a:t>, il s</a:t>
            </a:r>
            <a:r>
              <a:rPr lang="it-IT" dirty="0"/>
              <a:t>i</a:t>
            </a:r>
            <a:r>
              <a:rPr dirty="0" err="1"/>
              <a:t>stema</a:t>
            </a:r>
            <a:r>
              <a:rPr dirty="0"/>
              <a:t> prima </a:t>
            </a:r>
            <a:r>
              <a:rPr dirty="0" err="1"/>
              <a:t>controlla</a:t>
            </a:r>
            <a:r>
              <a:rPr dirty="0"/>
              <a:t> se </a:t>
            </a:r>
            <a:r>
              <a:rPr dirty="0" err="1"/>
              <a:t>esiste</a:t>
            </a:r>
            <a:r>
              <a:rPr dirty="0"/>
              <a:t> </a:t>
            </a:r>
            <a:r>
              <a:rPr dirty="0" err="1"/>
              <a:t>già</a:t>
            </a:r>
            <a:r>
              <a:rPr dirty="0"/>
              <a:t> con un lock di </a:t>
            </a:r>
            <a:r>
              <a:rPr dirty="0" err="1"/>
              <a:t>lettura</a:t>
            </a:r>
            <a:r>
              <a:rPr dirty="0"/>
              <a:t> veloce. Se non </a:t>
            </a:r>
            <a:r>
              <a:rPr dirty="0" err="1"/>
              <a:t>c'è</a:t>
            </a:r>
            <a:r>
              <a:rPr dirty="0"/>
              <a:t>, </a:t>
            </a:r>
            <a:r>
              <a:rPr dirty="0" err="1"/>
              <a:t>acquisisce</a:t>
            </a:r>
            <a:r>
              <a:rPr dirty="0"/>
              <a:t> un lock di </a:t>
            </a:r>
            <a:r>
              <a:rPr dirty="0" err="1"/>
              <a:t>scrittura</a:t>
            </a:r>
            <a:r>
              <a:rPr dirty="0"/>
              <a:t> e lo </a:t>
            </a:r>
            <a:r>
              <a:rPr dirty="0" err="1"/>
              <a:t>crea</a:t>
            </a:r>
            <a:r>
              <a:rPr dirty="0"/>
              <a:t>. Ogni channel ha un buffer </a:t>
            </a:r>
            <a:r>
              <a:rPr dirty="0" err="1"/>
              <a:t>circolare</a:t>
            </a:r>
            <a:r>
              <a:rPr dirty="0"/>
              <a:t> di 1024</a:t>
            </a:r>
            <a:r>
              <a:rPr lang="it-IT" dirty="0"/>
              <a:t> </a:t>
            </a:r>
            <a:r>
              <a:rPr dirty="0" err="1"/>
              <a:t>messaggi</a:t>
            </a:r>
            <a:r>
              <a:rPr dirty="0"/>
              <a:t> e </a:t>
            </a:r>
            <a:r>
              <a:rPr dirty="0" err="1"/>
              <a:t>può</a:t>
            </a:r>
            <a:r>
              <a:rPr dirty="0"/>
              <a:t>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clonato</a:t>
            </a:r>
            <a:r>
              <a:rPr dirty="0"/>
              <a:t> a basso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grazie</a:t>
            </a:r>
            <a:r>
              <a:rPr dirty="0"/>
              <a:t> a Arc </a:t>
            </a:r>
            <a:r>
              <a:rPr dirty="0" err="1"/>
              <a:t>interno</a:t>
            </a:r>
            <a:r>
              <a:rPr dirty="0"/>
              <a:t>. Il broadcast verso </a:t>
            </a:r>
            <a:r>
              <a:rPr dirty="0" err="1"/>
              <a:t>una</a:t>
            </a:r>
            <a:r>
              <a:rPr dirty="0"/>
              <a:t> conversazione è O(1): un </a:t>
            </a:r>
            <a:r>
              <a:rPr dirty="0" err="1"/>
              <a:t>singolo</a:t>
            </a:r>
            <a:r>
              <a:rPr dirty="0"/>
              <a:t> send() </a:t>
            </a:r>
            <a:r>
              <a:rPr dirty="0" err="1"/>
              <a:t>distribuisce</a:t>
            </a:r>
            <a:r>
              <a:rPr dirty="0"/>
              <a:t> il </a:t>
            </a:r>
            <a:r>
              <a:rPr dirty="0" err="1"/>
              <a:t>messaggio</a:t>
            </a:r>
            <a:r>
              <a:rPr dirty="0"/>
              <a:t> a tutti </a:t>
            </a:r>
            <a:r>
              <a:rPr dirty="0" err="1"/>
              <a:t>i</a:t>
            </a:r>
            <a:r>
              <a:rPr dirty="0"/>
              <a:t> receiver </a:t>
            </a:r>
            <a:r>
              <a:rPr dirty="0" err="1"/>
              <a:t>attivi</a:t>
            </a:r>
            <a:r>
              <a:rPr dirty="0"/>
              <a:t>, </a:t>
            </a:r>
            <a:r>
              <a:rPr dirty="0" err="1"/>
              <a:t>indipendentemente</a:t>
            </a:r>
            <a:r>
              <a:rPr dirty="0"/>
              <a:t> dal loro </a:t>
            </a:r>
            <a:r>
              <a:rPr dirty="0" err="1"/>
              <a:t>numero</a:t>
            </a:r>
            <a:r>
              <a:rPr dirty="0"/>
              <a:t>.</a:t>
            </a:r>
          </a:p>
        </p:txBody>
      </p:sp>
      <p:pic>
        <p:nvPicPr>
          <p:cNvPr id="30" name="Immagine 29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689DECB8-D029-C942-8BE4-E80F77C62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27" y="982003"/>
            <a:ext cx="2997356" cy="36621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99516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Dual Sequencing - Implementation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4778284" y="813163"/>
            <a:ext cx="4095750" cy="4101737"/>
          </a:xfrm>
          <a:prstGeom prst="roundRect">
            <a:avLst>
              <a:gd name="adj" fmla="val 6213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Due Livelli di </a:t>
            </a:r>
            <a:r>
              <a:rPr dirty="0" err="1"/>
              <a:t>Sequenze</a:t>
            </a:r>
            <a:r>
              <a:rPr dirty="0"/>
              <a:t> </a:t>
            </a:r>
            <a:r>
              <a:rPr dirty="0" err="1"/>
              <a:t>Atomiche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usa</a:t>
            </a:r>
            <a:r>
              <a:rPr dirty="0"/>
              <a:t> due </a:t>
            </a:r>
            <a:r>
              <a:rPr dirty="0" err="1"/>
              <a:t>livelli</a:t>
            </a:r>
            <a:r>
              <a:rPr dirty="0"/>
              <a:t> di </a:t>
            </a:r>
            <a:r>
              <a:rPr dirty="0" err="1"/>
              <a:t>sequenze</a:t>
            </a:r>
            <a:r>
              <a:rPr dirty="0"/>
              <a:t> per </a:t>
            </a:r>
            <a:r>
              <a:rPr dirty="0" err="1"/>
              <a:t>garantire</a:t>
            </a:r>
            <a:r>
              <a:rPr dirty="0"/>
              <a:t> </a:t>
            </a:r>
            <a:r>
              <a:rPr dirty="0" err="1"/>
              <a:t>l'ordine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messaggi</a:t>
            </a:r>
            <a:r>
              <a:rPr dirty="0"/>
              <a:t>. Ogni </a:t>
            </a:r>
            <a:r>
              <a:rPr dirty="0" err="1"/>
              <a:t>messaggio</a:t>
            </a:r>
            <a:r>
              <a:rPr dirty="0"/>
              <a:t> in </a:t>
            </a:r>
            <a:r>
              <a:rPr dirty="0" err="1"/>
              <a:t>una</a:t>
            </a:r>
            <a:r>
              <a:rPr dirty="0"/>
              <a:t> conversazione </a:t>
            </a:r>
            <a:r>
              <a:rPr dirty="0" err="1"/>
              <a:t>riceve</a:t>
            </a:r>
            <a:r>
              <a:rPr dirty="0"/>
              <a:t> un </a:t>
            </a:r>
            <a:r>
              <a:rPr dirty="0" err="1"/>
              <a:t>numero</a:t>
            </a:r>
            <a:r>
              <a:rPr dirty="0"/>
              <a:t> di </a:t>
            </a:r>
            <a:r>
              <a:rPr dirty="0" err="1"/>
              <a:t>sequenza</a:t>
            </a:r>
            <a:r>
              <a:rPr dirty="0"/>
              <a:t> </a:t>
            </a:r>
            <a:r>
              <a:rPr dirty="0" err="1"/>
              <a:t>incrementale</a:t>
            </a:r>
            <a:r>
              <a:rPr dirty="0"/>
              <a:t>, </a:t>
            </a:r>
            <a:r>
              <a:rPr dirty="0" err="1"/>
              <a:t>usato</a:t>
            </a:r>
            <a:r>
              <a:rPr dirty="0"/>
              <a:t> per </a:t>
            </a:r>
            <a:r>
              <a:rPr dirty="0" err="1"/>
              <a:t>rilevare</a:t>
            </a:r>
            <a:r>
              <a:rPr dirty="0"/>
              <a:t> gap e </a:t>
            </a:r>
            <a:r>
              <a:rPr dirty="0" err="1"/>
              <a:t>implementare</a:t>
            </a:r>
            <a:r>
              <a:rPr dirty="0"/>
              <a:t> il mark-as-read.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eventi</a:t>
            </a:r>
            <a:r>
              <a:rPr dirty="0"/>
              <a:t> cross-conversazione come </a:t>
            </a:r>
            <a:r>
              <a:rPr dirty="0" err="1"/>
              <a:t>conferme</a:t>
            </a:r>
            <a:r>
              <a:rPr dirty="0"/>
              <a:t> e </a:t>
            </a:r>
            <a:r>
              <a:rPr dirty="0" err="1"/>
              <a:t>notifiche</a:t>
            </a:r>
            <a:r>
              <a:rPr dirty="0"/>
              <a:t> </a:t>
            </a:r>
            <a:r>
              <a:rPr dirty="0" err="1"/>
              <a:t>ricevono</a:t>
            </a:r>
            <a:r>
              <a:rPr dirty="0"/>
              <a:t> </a:t>
            </a:r>
            <a:r>
              <a:rPr dirty="0" err="1"/>
              <a:t>invece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sequenza</a:t>
            </a:r>
            <a:r>
              <a:rPr dirty="0"/>
              <a:t> </a:t>
            </a:r>
            <a:r>
              <a:rPr dirty="0" err="1"/>
              <a:t>globale</a:t>
            </a:r>
            <a:r>
              <a:rPr dirty="0"/>
              <a:t> per </a:t>
            </a:r>
            <a:r>
              <a:rPr dirty="0" err="1"/>
              <a:t>utente</a:t>
            </a:r>
            <a:r>
              <a:rPr dirty="0"/>
              <a:t>. Le </a:t>
            </a:r>
            <a:r>
              <a:rPr dirty="0" err="1"/>
              <a:t>sequenze</a:t>
            </a:r>
            <a:r>
              <a:rPr dirty="0"/>
              <a:t> </a:t>
            </a:r>
            <a:r>
              <a:rPr dirty="0" err="1"/>
              <a:t>sono</a:t>
            </a:r>
            <a:r>
              <a:rPr dirty="0"/>
              <a:t> generate </a:t>
            </a:r>
            <a:r>
              <a:rPr dirty="0" err="1"/>
              <a:t>atomicamente</a:t>
            </a:r>
            <a:r>
              <a:rPr dirty="0"/>
              <a:t> </a:t>
            </a:r>
            <a:r>
              <a:rPr dirty="0" err="1"/>
              <a:t>tramite</a:t>
            </a:r>
            <a:r>
              <a:rPr dirty="0"/>
              <a:t> subquery SQL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usano</a:t>
            </a:r>
            <a:r>
              <a:rPr dirty="0"/>
              <a:t> COALESCE per </a:t>
            </a:r>
            <a:r>
              <a:rPr dirty="0" err="1"/>
              <a:t>gestire</a:t>
            </a:r>
            <a:r>
              <a:rPr dirty="0"/>
              <a:t> il primo </a:t>
            </a:r>
            <a:r>
              <a:rPr dirty="0" err="1"/>
              <a:t>inserimento</a:t>
            </a:r>
            <a:r>
              <a:rPr dirty="0"/>
              <a:t>.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approccio</a:t>
            </a:r>
            <a:r>
              <a:rPr dirty="0"/>
              <a:t> </a:t>
            </a:r>
            <a:r>
              <a:rPr dirty="0" err="1"/>
              <a:t>sfrutta</a:t>
            </a:r>
            <a:r>
              <a:rPr dirty="0"/>
              <a:t> la </a:t>
            </a:r>
            <a:r>
              <a:rPr dirty="0" err="1"/>
              <a:t>serializzabilità</a:t>
            </a:r>
            <a:r>
              <a:rPr dirty="0"/>
              <a:t> delle </a:t>
            </a:r>
            <a:r>
              <a:rPr dirty="0" err="1"/>
              <a:t>transazioni</a:t>
            </a:r>
            <a:r>
              <a:rPr dirty="0"/>
              <a:t> SQLite per </a:t>
            </a:r>
            <a:r>
              <a:rPr dirty="0" err="1"/>
              <a:t>evitare</a:t>
            </a:r>
            <a:r>
              <a:rPr dirty="0"/>
              <a:t> race condition.</a:t>
            </a:r>
          </a:p>
        </p:txBody>
      </p:sp>
      <p:pic>
        <p:nvPicPr>
          <p:cNvPr id="25" name="Immagine 2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CEAACDDA-5E61-47A0-6B66-3B25D5171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05" y="1209925"/>
            <a:ext cx="2976346" cy="31755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6932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Security - Argon2id + JWT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4667250" y="778600"/>
            <a:ext cx="4095750" cy="3738699"/>
          </a:xfrm>
          <a:prstGeom prst="roundRect">
            <a:avLst>
              <a:gd name="adj" fmla="val 7637"/>
            </a:avLst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Production-Grade Authentication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L'autenticazione è production-grade con Argon2id per </a:t>
            </a:r>
            <a:r>
              <a:rPr dirty="0" err="1"/>
              <a:t>l'hashing</a:t>
            </a:r>
            <a:r>
              <a:rPr dirty="0"/>
              <a:t> delle password e JWT per le </a:t>
            </a:r>
            <a:r>
              <a:rPr dirty="0" err="1"/>
              <a:t>sessioni</a:t>
            </a:r>
            <a:r>
              <a:rPr dirty="0"/>
              <a:t>. Argon2id è un </a:t>
            </a:r>
            <a:r>
              <a:rPr dirty="0" err="1"/>
              <a:t>algoritmo</a:t>
            </a:r>
            <a:r>
              <a:rPr dirty="0"/>
              <a:t> </a:t>
            </a:r>
            <a:r>
              <a:rPr dirty="0" err="1"/>
              <a:t>ibrido</a:t>
            </a:r>
            <a:r>
              <a:rPr dirty="0"/>
              <a:t> </a:t>
            </a:r>
            <a:r>
              <a:rPr dirty="0" err="1"/>
              <a:t>resistente</a:t>
            </a:r>
            <a:r>
              <a:rPr dirty="0"/>
              <a:t>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agli</a:t>
            </a:r>
            <a:r>
              <a:rPr dirty="0"/>
              <a:t> </a:t>
            </a:r>
            <a:r>
              <a:rPr dirty="0" err="1"/>
              <a:t>attacchi</a:t>
            </a:r>
            <a:r>
              <a:rPr dirty="0"/>
              <a:t> side-channel </a:t>
            </a:r>
            <a:r>
              <a:rPr dirty="0" err="1"/>
              <a:t>che</a:t>
            </a:r>
            <a:r>
              <a:rPr dirty="0"/>
              <a:t> a </a:t>
            </a:r>
            <a:r>
              <a:rPr dirty="0" err="1"/>
              <a:t>quelli</a:t>
            </a:r>
            <a:r>
              <a:rPr dirty="0"/>
              <a:t> GPU-based. Ogni password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hashata</a:t>
            </a:r>
            <a:r>
              <a:rPr dirty="0"/>
              <a:t> con un salt </a:t>
            </a:r>
            <a:r>
              <a:rPr dirty="0" err="1"/>
              <a:t>crittograficamente</a:t>
            </a:r>
            <a:r>
              <a:rPr dirty="0"/>
              <a:t> </a:t>
            </a:r>
            <a:r>
              <a:rPr dirty="0" err="1"/>
              <a:t>sicuro</a:t>
            </a:r>
            <a:r>
              <a:rPr dirty="0"/>
              <a:t> prima di </a:t>
            </a:r>
            <a:r>
              <a:rPr dirty="0" err="1"/>
              <a:t>essere</a:t>
            </a:r>
            <a:r>
              <a:rPr dirty="0"/>
              <a:t> </a:t>
            </a:r>
            <a:r>
              <a:rPr dirty="0" err="1"/>
              <a:t>salvata</a:t>
            </a:r>
            <a:r>
              <a:rPr dirty="0"/>
              <a:t>. I JWT token </a:t>
            </a:r>
            <a:r>
              <a:rPr dirty="0" err="1"/>
              <a:t>contengono</a:t>
            </a:r>
            <a:r>
              <a:rPr dirty="0"/>
              <a:t> </a:t>
            </a:r>
            <a:r>
              <a:rPr dirty="0" err="1"/>
              <a:t>user_id</a:t>
            </a:r>
            <a:r>
              <a:rPr dirty="0"/>
              <a:t>, username e </a:t>
            </a:r>
            <a:r>
              <a:rPr dirty="0" err="1"/>
              <a:t>scadenza</a:t>
            </a:r>
            <a:r>
              <a:rPr dirty="0"/>
              <a:t> a 24 ore, </a:t>
            </a:r>
            <a:r>
              <a:rPr dirty="0" err="1"/>
              <a:t>firmati</a:t>
            </a:r>
            <a:r>
              <a:rPr dirty="0"/>
              <a:t> con HMAC-SHA256. Un middleware </a:t>
            </a:r>
            <a:r>
              <a:rPr dirty="0" err="1"/>
              <a:t>valida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 il token </a:t>
            </a:r>
            <a:r>
              <a:rPr dirty="0" err="1"/>
              <a:t>su</a:t>
            </a:r>
            <a:r>
              <a:rPr dirty="0"/>
              <a:t> ogni </a:t>
            </a:r>
            <a:r>
              <a:rPr dirty="0" err="1"/>
              <a:t>richiesta</a:t>
            </a:r>
            <a:r>
              <a:rPr dirty="0"/>
              <a:t> </a:t>
            </a:r>
            <a:r>
              <a:rPr dirty="0" err="1"/>
              <a:t>protetta</a:t>
            </a:r>
            <a:r>
              <a:rPr dirty="0"/>
              <a:t>, </a:t>
            </a:r>
            <a:r>
              <a:rPr dirty="0" err="1"/>
              <a:t>estraendo</a:t>
            </a:r>
            <a:r>
              <a:rPr dirty="0"/>
              <a:t> le </a:t>
            </a:r>
            <a:r>
              <a:rPr dirty="0" err="1"/>
              <a:t>credenziali</a:t>
            </a:r>
            <a:r>
              <a:rPr dirty="0"/>
              <a:t> e </a:t>
            </a:r>
            <a:r>
              <a:rPr dirty="0" err="1"/>
              <a:t>verificando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non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scaduto</a:t>
            </a:r>
            <a:r>
              <a:rPr dirty="0"/>
              <a:t>.</a:t>
            </a:r>
          </a:p>
        </p:txBody>
      </p:sp>
      <p:pic>
        <p:nvPicPr>
          <p:cNvPr id="22" name="Immagine 21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A87370BB-3C30-5052-56E7-693EE4295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88" y="1189689"/>
            <a:ext cx="3401966" cy="29811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6162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Database Schema (SQLite WAL)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4667250" y="855617"/>
            <a:ext cx="4095750" cy="3325857"/>
          </a:xfrm>
          <a:prstGeom prst="roundRect">
            <a:avLst>
              <a:gd name="adj" fmla="val 9938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t>SQLite WAL Mode + 7 Tabelle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t>Il database SQLite è configurato in modalità WAL (Write-Ahead Logging) che permette letture concorrenti anche durante le scritture. Lo schema è composto da 7 tabelle con foreign keys abilitate per garantire l'integrità referenziale. Le tabelle principali sono users, conversations, messages e participants, affiancate da message_sequences e user_sequences per il dual sequencing. Gli indici critici su (conversation_id, sequence_num) e user_id velocizzano le query più frequenti.</a:t>
            </a:r>
          </a:p>
        </p:txBody>
      </p:sp>
      <p:pic>
        <p:nvPicPr>
          <p:cNvPr id="29" name="Immagine 28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144D6FD1-AF9A-BC2E-A9FA-01E3BB58B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33" y="834390"/>
            <a:ext cx="2546596" cy="3863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05206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Reliability Guarantees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4572000" y="2210721"/>
            <a:ext cx="4095750" cy="919907"/>
          </a:xfrm>
          <a:prstGeom prst="roundRect">
            <a:avLst>
              <a:gd name="adj" fmla="val 6213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Strong Ordering + No Message Loss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garantisce</a:t>
            </a:r>
            <a:r>
              <a:rPr dirty="0"/>
              <a:t> </a:t>
            </a:r>
            <a:r>
              <a:rPr dirty="0" err="1"/>
              <a:t>ordinamento</a:t>
            </a:r>
            <a:r>
              <a:rPr dirty="0"/>
              <a:t> </a:t>
            </a:r>
            <a:r>
              <a:rPr dirty="0" err="1"/>
              <a:t>totale</a:t>
            </a:r>
            <a:r>
              <a:rPr dirty="0"/>
              <a:t> e zero </a:t>
            </a:r>
            <a:r>
              <a:rPr dirty="0" err="1"/>
              <a:t>perdita</a:t>
            </a:r>
            <a:r>
              <a:rPr dirty="0"/>
              <a:t> di </a:t>
            </a:r>
            <a:r>
              <a:rPr dirty="0" err="1"/>
              <a:t>messaggi</a:t>
            </a:r>
            <a:r>
              <a:rPr dirty="0"/>
              <a:t> </a:t>
            </a:r>
            <a:r>
              <a:rPr dirty="0" err="1"/>
              <a:t>attraverso</a:t>
            </a:r>
            <a:r>
              <a:rPr dirty="0"/>
              <a:t> gap detection </a:t>
            </a:r>
            <a:r>
              <a:rPr dirty="0" err="1"/>
              <a:t>automatico</a:t>
            </a:r>
            <a:r>
              <a:rPr dirty="0"/>
              <a:t>. Il client </a:t>
            </a:r>
            <a:r>
              <a:rPr dirty="0" err="1"/>
              <a:t>traccia</a:t>
            </a:r>
            <a:r>
              <a:rPr dirty="0"/>
              <a:t> la </a:t>
            </a:r>
            <a:r>
              <a:rPr dirty="0" err="1"/>
              <a:t>sequenza</a:t>
            </a:r>
            <a:r>
              <a:rPr dirty="0"/>
              <a:t> </a:t>
            </a:r>
            <a:r>
              <a:rPr dirty="0" err="1"/>
              <a:t>attesa</a:t>
            </a:r>
            <a:r>
              <a:rPr dirty="0"/>
              <a:t> per ogni conversazione. Se </a:t>
            </a:r>
            <a:r>
              <a:rPr dirty="0" err="1"/>
              <a:t>arriva</a:t>
            </a:r>
            <a:r>
              <a:rPr dirty="0"/>
              <a:t> un </a:t>
            </a:r>
            <a:r>
              <a:rPr dirty="0" err="1"/>
              <a:t>messaggio</a:t>
            </a:r>
            <a:r>
              <a:rPr dirty="0"/>
              <a:t> con </a:t>
            </a:r>
            <a:r>
              <a:rPr dirty="0" err="1"/>
              <a:t>sequenza</a:t>
            </a:r>
            <a:r>
              <a:rPr dirty="0"/>
              <a:t> </a:t>
            </a:r>
            <a:r>
              <a:rPr dirty="0" err="1"/>
              <a:t>superiore</a:t>
            </a:r>
            <a:r>
              <a:rPr dirty="0"/>
              <a:t>,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ne </a:t>
            </a:r>
            <a:r>
              <a:rPr dirty="0" err="1"/>
              <a:t>mancano</a:t>
            </a:r>
            <a:r>
              <a:rPr dirty="0"/>
              <a:t> </a:t>
            </a:r>
            <a:r>
              <a:rPr dirty="0" err="1"/>
              <a:t>alcuni</a:t>
            </a:r>
            <a:r>
              <a:rPr dirty="0"/>
              <a:t>: il </a:t>
            </a:r>
            <a:r>
              <a:rPr dirty="0" err="1"/>
              <a:t>messaggio</a:t>
            </a:r>
            <a:r>
              <a:rPr dirty="0"/>
              <a:t> </a:t>
            </a:r>
            <a:r>
              <a:rPr dirty="0" err="1"/>
              <a:t>futuro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bufferizzato</a:t>
            </a:r>
            <a:r>
              <a:rPr dirty="0"/>
              <a:t> in un </a:t>
            </a:r>
            <a:r>
              <a:rPr dirty="0" err="1"/>
              <a:t>BTreeMap</a:t>
            </a:r>
            <a:r>
              <a:rPr dirty="0"/>
              <a:t> </a:t>
            </a:r>
            <a:r>
              <a:rPr dirty="0" err="1"/>
              <a:t>ordinato</a:t>
            </a:r>
            <a:r>
              <a:rPr dirty="0"/>
              <a:t> e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richiesto</a:t>
            </a:r>
            <a:r>
              <a:rPr dirty="0"/>
              <a:t> al server il </a:t>
            </a:r>
            <a:r>
              <a:rPr dirty="0" err="1"/>
              <a:t>recupero</a:t>
            </a:r>
            <a:r>
              <a:rPr dirty="0"/>
              <a:t> di </a:t>
            </a:r>
            <a:r>
              <a:rPr dirty="0" err="1"/>
              <a:t>quelli</a:t>
            </a:r>
            <a:r>
              <a:rPr dirty="0"/>
              <a:t> </a:t>
            </a:r>
            <a:r>
              <a:rPr dirty="0" err="1"/>
              <a:t>mancanti</a:t>
            </a:r>
            <a:r>
              <a:rPr dirty="0"/>
              <a:t>. Il server </a:t>
            </a:r>
            <a:r>
              <a:rPr dirty="0" err="1"/>
              <a:t>risponde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query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estrae</a:t>
            </a:r>
            <a:r>
              <a:rPr dirty="0"/>
              <a:t> tutti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messaggi</a:t>
            </a:r>
            <a:r>
              <a:rPr dirty="0"/>
              <a:t> dal punto di </a:t>
            </a:r>
            <a:r>
              <a:rPr dirty="0" err="1"/>
              <a:t>interruzione</a:t>
            </a:r>
            <a:r>
              <a:rPr dirty="0"/>
              <a:t> in poi. Quando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messaggi</a:t>
            </a:r>
            <a:r>
              <a:rPr dirty="0"/>
              <a:t> </a:t>
            </a:r>
            <a:r>
              <a:rPr dirty="0" err="1"/>
              <a:t>mancanti</a:t>
            </a:r>
            <a:r>
              <a:rPr dirty="0"/>
              <a:t> </a:t>
            </a:r>
            <a:r>
              <a:rPr dirty="0" err="1"/>
              <a:t>arrivano</a:t>
            </a:r>
            <a:r>
              <a:rPr dirty="0"/>
              <a:t>, il buffer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svuotato</a:t>
            </a:r>
            <a:r>
              <a:rPr dirty="0"/>
              <a:t> in </a:t>
            </a:r>
            <a:r>
              <a:rPr dirty="0" err="1"/>
              <a:t>ordine</a:t>
            </a:r>
            <a:r>
              <a:rPr dirty="0"/>
              <a:t>, </a:t>
            </a:r>
            <a:r>
              <a:rPr dirty="0" err="1"/>
              <a:t>garantendo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tutti </a:t>
            </a:r>
            <a:r>
              <a:rPr dirty="0" err="1"/>
              <a:t>i</a:t>
            </a:r>
            <a:r>
              <a:rPr dirty="0"/>
              <a:t> client </a:t>
            </a:r>
            <a:r>
              <a:rPr dirty="0" err="1"/>
              <a:t>convergano</a:t>
            </a:r>
            <a:r>
              <a:rPr dirty="0"/>
              <a:t> </a:t>
            </a:r>
            <a:r>
              <a:rPr dirty="0" err="1"/>
              <a:t>allo</a:t>
            </a:r>
            <a:r>
              <a:rPr dirty="0"/>
              <a:t> </a:t>
            </a:r>
            <a:r>
              <a:rPr dirty="0" err="1"/>
              <a:t>stesso</a:t>
            </a:r>
            <a:r>
              <a:rPr dirty="0"/>
              <a:t> </a:t>
            </a:r>
            <a:r>
              <a:rPr dirty="0" err="1"/>
              <a:t>stato</a:t>
            </a:r>
            <a:r>
              <a:rPr dirty="0"/>
              <a:t> </a:t>
            </a:r>
            <a:r>
              <a:rPr dirty="0" err="1"/>
              <a:t>anche</a:t>
            </a:r>
            <a:r>
              <a:rPr dirty="0"/>
              <a:t> in </a:t>
            </a:r>
            <a:r>
              <a:rPr dirty="0" err="1"/>
              <a:t>presenza</a:t>
            </a:r>
            <a:r>
              <a:rPr dirty="0"/>
              <a:t> di </a:t>
            </a:r>
            <a:r>
              <a:rPr dirty="0" err="1"/>
              <a:t>problemi</a:t>
            </a:r>
            <a:r>
              <a:rPr dirty="0"/>
              <a:t> di rete.</a:t>
            </a:r>
          </a:p>
        </p:txBody>
      </p:sp>
      <p:pic>
        <p:nvPicPr>
          <p:cNvPr id="24" name="Immagine 2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E08427E4-C58F-E234-69AD-2E1E6D699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14" y="926210"/>
            <a:ext cx="2844820" cy="3488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796671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WebSocket Architecture - Message Flow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4667250" y="2250132"/>
            <a:ext cx="4095750" cy="575072"/>
          </a:xfrm>
          <a:prstGeom prst="roundRect">
            <a:avLst>
              <a:gd name="adj" fmla="val 9938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 err="1"/>
              <a:t>Flusso</a:t>
            </a:r>
            <a:r>
              <a:rPr dirty="0"/>
              <a:t> WebSocket → Business → State → UI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Il </a:t>
            </a:r>
            <a:r>
              <a:rPr dirty="0" err="1"/>
              <a:t>flusso</a:t>
            </a:r>
            <a:r>
              <a:rPr dirty="0"/>
              <a:t> di un </a:t>
            </a:r>
            <a:r>
              <a:rPr dirty="0" err="1"/>
              <a:t>messaggio</a:t>
            </a:r>
            <a:r>
              <a:rPr dirty="0"/>
              <a:t> </a:t>
            </a:r>
            <a:r>
              <a:rPr dirty="0" err="1"/>
              <a:t>attraversa</a:t>
            </a:r>
            <a:r>
              <a:rPr dirty="0"/>
              <a:t> </a:t>
            </a:r>
            <a:r>
              <a:rPr dirty="0" err="1"/>
              <a:t>l'intera</a:t>
            </a:r>
            <a:r>
              <a:rPr dirty="0"/>
              <a:t> </a:t>
            </a:r>
            <a:r>
              <a:rPr dirty="0" err="1"/>
              <a:t>architettura</a:t>
            </a:r>
            <a:r>
              <a:rPr dirty="0"/>
              <a:t> frontend in modo event-driven. Quando </a:t>
            </a:r>
            <a:r>
              <a:rPr dirty="0" err="1"/>
              <a:t>arriva</a:t>
            </a:r>
            <a:r>
              <a:rPr dirty="0"/>
              <a:t> un frame dal WebSocket, il Reader Task lo </a:t>
            </a:r>
            <a:r>
              <a:rPr dirty="0" err="1"/>
              <a:t>deserializza</a:t>
            </a:r>
            <a:r>
              <a:rPr dirty="0"/>
              <a:t> in JSON e lo </a:t>
            </a:r>
            <a:r>
              <a:rPr dirty="0" err="1"/>
              <a:t>invia</a:t>
            </a:r>
            <a:r>
              <a:rPr dirty="0"/>
              <a:t> al thread </a:t>
            </a:r>
            <a:r>
              <a:rPr dirty="0" err="1"/>
              <a:t>principale</a:t>
            </a:r>
            <a:r>
              <a:rPr dirty="0"/>
              <a:t> </a:t>
            </a:r>
            <a:r>
              <a:rPr dirty="0" err="1"/>
              <a:t>tramite</a:t>
            </a:r>
            <a:r>
              <a:rPr dirty="0"/>
              <a:t> il </a:t>
            </a:r>
            <a:r>
              <a:rPr dirty="0" err="1"/>
              <a:t>canale</a:t>
            </a:r>
            <a:r>
              <a:rPr dirty="0"/>
              <a:t> </a:t>
            </a:r>
            <a:r>
              <a:rPr dirty="0" err="1"/>
              <a:t>ui_tx</a:t>
            </a:r>
            <a:r>
              <a:rPr dirty="0"/>
              <a:t>. Nel </a:t>
            </a:r>
            <a:r>
              <a:rPr dirty="0" err="1"/>
              <a:t>prossimo</a:t>
            </a:r>
            <a:r>
              <a:rPr dirty="0"/>
              <a:t> frame </a:t>
            </a:r>
            <a:r>
              <a:rPr dirty="0" err="1"/>
              <a:t>dell'UI</a:t>
            </a:r>
            <a:r>
              <a:rPr dirty="0"/>
              <a:t> loop, </a:t>
            </a:r>
            <a:r>
              <a:rPr dirty="0" err="1"/>
              <a:t>l'EventDispatcher</a:t>
            </a:r>
            <a:r>
              <a:rPr dirty="0"/>
              <a:t> </a:t>
            </a:r>
            <a:r>
              <a:rPr dirty="0" err="1"/>
              <a:t>drena</a:t>
            </a:r>
            <a:r>
              <a:rPr dirty="0"/>
              <a:t> il </a:t>
            </a:r>
            <a:r>
              <a:rPr dirty="0" err="1"/>
              <a:t>canale</a:t>
            </a:r>
            <a:r>
              <a:rPr dirty="0"/>
              <a:t> e routes </a:t>
            </a:r>
            <a:r>
              <a:rPr dirty="0" err="1"/>
              <a:t>l'evento</a:t>
            </a:r>
            <a:r>
              <a:rPr dirty="0"/>
              <a:t> </a:t>
            </a:r>
            <a:r>
              <a:rPr dirty="0" err="1"/>
              <a:t>all'handler</a:t>
            </a:r>
            <a:r>
              <a:rPr dirty="0"/>
              <a:t> </a:t>
            </a:r>
            <a:r>
              <a:rPr dirty="0" err="1"/>
              <a:t>appropriato</a:t>
            </a:r>
            <a:r>
              <a:rPr dirty="0"/>
              <a:t>. </a:t>
            </a:r>
            <a:r>
              <a:rPr dirty="0" err="1"/>
              <a:t>L'handler</a:t>
            </a:r>
            <a:r>
              <a:rPr dirty="0"/>
              <a:t> </a:t>
            </a:r>
            <a:r>
              <a:rPr dirty="0" err="1"/>
              <a:t>modifica</a:t>
            </a:r>
            <a:r>
              <a:rPr dirty="0"/>
              <a:t> lo </a:t>
            </a:r>
            <a:r>
              <a:rPr dirty="0" err="1"/>
              <a:t>stato</a:t>
            </a:r>
            <a:r>
              <a:rPr dirty="0"/>
              <a:t> </a:t>
            </a:r>
            <a:r>
              <a:rPr dirty="0" err="1"/>
              <a:t>dell'applicazione</a:t>
            </a:r>
            <a:r>
              <a:rPr dirty="0"/>
              <a:t> </a:t>
            </a:r>
            <a:r>
              <a:rPr dirty="0" err="1"/>
              <a:t>aggiungendo</a:t>
            </a:r>
            <a:r>
              <a:rPr dirty="0"/>
              <a:t> il </a:t>
            </a:r>
            <a:r>
              <a:rPr dirty="0" err="1"/>
              <a:t>messaggio</a:t>
            </a:r>
            <a:r>
              <a:rPr dirty="0"/>
              <a:t> alla </a:t>
            </a:r>
            <a:r>
              <a:rPr dirty="0" err="1"/>
              <a:t>lista</a:t>
            </a:r>
            <a:r>
              <a:rPr dirty="0"/>
              <a:t> della conversazione e </a:t>
            </a:r>
            <a:r>
              <a:rPr dirty="0" err="1"/>
              <a:t>aggiornando</a:t>
            </a:r>
            <a:r>
              <a:rPr dirty="0"/>
              <a:t> la </a:t>
            </a:r>
            <a:r>
              <a:rPr dirty="0" err="1"/>
              <a:t>sequenza</a:t>
            </a:r>
            <a:r>
              <a:rPr dirty="0"/>
              <a:t> </a:t>
            </a:r>
            <a:r>
              <a:rPr dirty="0" err="1"/>
              <a:t>tracciata</a:t>
            </a:r>
            <a:r>
              <a:rPr dirty="0"/>
              <a:t>. </a:t>
            </a:r>
            <a:r>
              <a:rPr dirty="0" err="1"/>
              <a:t>Infine</a:t>
            </a:r>
            <a:r>
              <a:rPr dirty="0"/>
              <a:t> </a:t>
            </a:r>
            <a:r>
              <a:rPr dirty="0" err="1"/>
              <a:t>egui_waker</a:t>
            </a:r>
            <a:r>
              <a:rPr dirty="0"/>
              <a:t>() </a:t>
            </a:r>
            <a:r>
              <a:rPr dirty="0" err="1"/>
              <a:t>sveglia</a:t>
            </a:r>
            <a:r>
              <a:rPr dirty="0"/>
              <a:t> </a:t>
            </a:r>
            <a:r>
              <a:rPr dirty="0" err="1"/>
              <a:t>l'event</a:t>
            </a:r>
            <a:r>
              <a:rPr dirty="0"/>
              <a:t> loop UI per </a:t>
            </a:r>
            <a:r>
              <a:rPr dirty="0" err="1"/>
              <a:t>triggerare</a:t>
            </a:r>
            <a:r>
              <a:rPr dirty="0"/>
              <a:t> un repaint con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nuovi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.</a:t>
            </a:r>
          </a:p>
        </p:txBody>
      </p:sp>
      <p:pic>
        <p:nvPicPr>
          <p:cNvPr id="31" name="Immagine 30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71E3C1BF-5B00-9911-B65B-E4DCBFACB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664" y="979714"/>
            <a:ext cx="2292903" cy="34361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785012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WebSocket Task - Bidirectional Handler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4667250" y="2163514"/>
            <a:ext cx="4095750" cy="748308"/>
          </a:xfrm>
          <a:prstGeom prst="roundRect">
            <a:avLst>
              <a:gd name="adj" fmla="val 7637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Reader + Writer Loops </a:t>
            </a:r>
            <a:r>
              <a:rPr dirty="0" err="1"/>
              <a:t>Concorrenti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Il WebSocket client </a:t>
            </a:r>
            <a:r>
              <a:rPr dirty="0" err="1"/>
              <a:t>gestisce</a:t>
            </a:r>
            <a:r>
              <a:rPr dirty="0"/>
              <a:t> </a:t>
            </a:r>
            <a:r>
              <a:rPr dirty="0" err="1"/>
              <a:t>comunicazione</a:t>
            </a:r>
            <a:r>
              <a:rPr dirty="0"/>
              <a:t> </a:t>
            </a:r>
            <a:r>
              <a:rPr dirty="0" err="1"/>
              <a:t>bidirezionale</a:t>
            </a:r>
            <a:r>
              <a:rPr dirty="0"/>
              <a:t> con un </a:t>
            </a:r>
            <a:r>
              <a:rPr dirty="0" err="1"/>
              <a:t>singolo</a:t>
            </a:r>
            <a:r>
              <a:rPr dirty="0"/>
              <a:t> task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usa</a:t>
            </a:r>
            <a:r>
              <a:rPr dirty="0"/>
              <a:t> </a:t>
            </a:r>
            <a:r>
              <a:rPr dirty="0" err="1"/>
              <a:t>tokio</a:t>
            </a:r>
            <a:r>
              <a:rPr dirty="0"/>
              <a:t>::select!. Il task divide il socket in due </a:t>
            </a:r>
            <a:r>
              <a:rPr dirty="0" err="1"/>
              <a:t>metà</a:t>
            </a:r>
            <a:r>
              <a:rPr dirty="0"/>
              <a:t> </a:t>
            </a:r>
            <a:r>
              <a:rPr dirty="0" err="1"/>
              <a:t>indipendenti</a:t>
            </a:r>
            <a:r>
              <a:rPr dirty="0"/>
              <a:t>: </a:t>
            </a:r>
            <a:r>
              <a:rPr dirty="0" err="1"/>
              <a:t>ws_rx</a:t>
            </a:r>
            <a:r>
              <a:rPr dirty="0"/>
              <a:t> per </a:t>
            </a:r>
            <a:r>
              <a:rPr dirty="0" err="1"/>
              <a:t>ricevere</a:t>
            </a:r>
            <a:r>
              <a:rPr dirty="0"/>
              <a:t> e </a:t>
            </a:r>
            <a:r>
              <a:rPr dirty="0" err="1"/>
              <a:t>ws_tx</a:t>
            </a:r>
            <a:r>
              <a:rPr dirty="0"/>
              <a:t> per </a:t>
            </a:r>
            <a:r>
              <a:rPr dirty="0" err="1"/>
              <a:t>inviare</a:t>
            </a:r>
            <a:r>
              <a:rPr dirty="0"/>
              <a:t>. Il branch reader </a:t>
            </a:r>
            <a:r>
              <a:rPr dirty="0" err="1"/>
              <a:t>aspetta</a:t>
            </a:r>
            <a:r>
              <a:rPr dirty="0"/>
              <a:t> frame dal server, li </a:t>
            </a:r>
            <a:r>
              <a:rPr dirty="0" err="1"/>
              <a:t>deserializza</a:t>
            </a:r>
            <a:r>
              <a:rPr dirty="0"/>
              <a:t> e li </a:t>
            </a:r>
            <a:r>
              <a:rPr dirty="0" err="1"/>
              <a:t>inoltra</a:t>
            </a:r>
            <a:r>
              <a:rPr dirty="0"/>
              <a:t> al main thread </a:t>
            </a:r>
            <a:r>
              <a:rPr dirty="0" err="1"/>
              <a:t>tramite</a:t>
            </a:r>
            <a:r>
              <a:rPr dirty="0"/>
              <a:t> </a:t>
            </a:r>
            <a:r>
              <a:rPr dirty="0" err="1"/>
              <a:t>ui_tx</a:t>
            </a:r>
            <a:r>
              <a:rPr dirty="0"/>
              <a:t>. Il branch writer </a:t>
            </a:r>
            <a:r>
              <a:rPr dirty="0" err="1"/>
              <a:t>aspetta</a:t>
            </a:r>
            <a:r>
              <a:rPr dirty="0"/>
              <a:t> </a:t>
            </a:r>
            <a:r>
              <a:rPr dirty="0" err="1"/>
              <a:t>comandi</a:t>
            </a:r>
            <a:r>
              <a:rPr dirty="0"/>
              <a:t> </a:t>
            </a:r>
            <a:r>
              <a:rPr dirty="0" err="1"/>
              <a:t>dall'UI</a:t>
            </a:r>
            <a:r>
              <a:rPr dirty="0"/>
              <a:t> </a:t>
            </a:r>
            <a:r>
              <a:rPr dirty="0" err="1"/>
              <a:t>tramite</a:t>
            </a:r>
            <a:r>
              <a:rPr dirty="0"/>
              <a:t> </a:t>
            </a:r>
            <a:r>
              <a:rPr dirty="0" err="1"/>
              <a:t>ui_to_net_rx</a:t>
            </a:r>
            <a:r>
              <a:rPr dirty="0"/>
              <a:t>, li </a:t>
            </a:r>
            <a:r>
              <a:rPr dirty="0" err="1"/>
              <a:t>serializza</a:t>
            </a:r>
            <a:r>
              <a:rPr dirty="0"/>
              <a:t> in JSON e li </a:t>
            </a:r>
            <a:r>
              <a:rPr dirty="0" err="1"/>
              <a:t>invia</a:t>
            </a:r>
            <a:r>
              <a:rPr dirty="0"/>
              <a:t> al server. La macro select!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gestire</a:t>
            </a:r>
            <a:r>
              <a:rPr dirty="0"/>
              <a:t> </a:t>
            </a:r>
            <a:r>
              <a:rPr dirty="0" err="1"/>
              <a:t>entrambi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flussi</a:t>
            </a:r>
            <a:r>
              <a:rPr dirty="0"/>
              <a:t> </a:t>
            </a:r>
            <a:r>
              <a:rPr dirty="0" err="1"/>
              <a:t>concorrentemente</a:t>
            </a:r>
            <a:r>
              <a:rPr dirty="0"/>
              <a:t>, </a:t>
            </a:r>
            <a:r>
              <a:rPr dirty="0" err="1"/>
              <a:t>eseguendo</a:t>
            </a:r>
            <a:r>
              <a:rPr dirty="0"/>
              <a:t> il primo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risveglia</a:t>
            </a:r>
            <a:r>
              <a:rPr dirty="0"/>
              <a:t>.</a:t>
            </a:r>
          </a:p>
        </p:txBody>
      </p:sp>
      <p:pic>
        <p:nvPicPr>
          <p:cNvPr id="29" name="Immagine 28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47F6531-3240-8F77-8A7E-B74CFFA3B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48" y="1114512"/>
            <a:ext cx="3215837" cy="3421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82999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EventDispatcher - Central Router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4667250" y="2163514"/>
            <a:ext cx="4095750" cy="575072"/>
          </a:xfrm>
          <a:prstGeom prst="roundRect">
            <a:avLst>
              <a:gd name="adj" fmla="val 9938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Poll </a:t>
            </a:r>
            <a:r>
              <a:rPr dirty="0" err="1"/>
              <a:t>ui_rx</a:t>
            </a:r>
            <a:r>
              <a:rPr dirty="0"/>
              <a:t> → Route → Trigger Repaint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 err="1"/>
              <a:t>L'EventDispatcher</a:t>
            </a:r>
            <a:r>
              <a:rPr dirty="0"/>
              <a:t> è il router centrale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collega</a:t>
            </a:r>
            <a:r>
              <a:rPr dirty="0"/>
              <a:t> networking e business logic.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chiamato</a:t>
            </a:r>
            <a:r>
              <a:rPr dirty="0"/>
              <a:t> ogni frame (~60Hz) e </a:t>
            </a:r>
            <a:r>
              <a:rPr dirty="0" err="1"/>
              <a:t>drena</a:t>
            </a:r>
            <a:r>
              <a:rPr dirty="0"/>
              <a:t> tutti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eventi</a:t>
            </a:r>
            <a:r>
              <a:rPr dirty="0"/>
              <a:t> </a:t>
            </a:r>
            <a:r>
              <a:rPr dirty="0" err="1"/>
              <a:t>disponibili</a:t>
            </a:r>
            <a:r>
              <a:rPr dirty="0"/>
              <a:t> dal </a:t>
            </a:r>
            <a:r>
              <a:rPr dirty="0" err="1"/>
              <a:t>canale</a:t>
            </a:r>
            <a:r>
              <a:rPr dirty="0"/>
              <a:t> </a:t>
            </a:r>
            <a:r>
              <a:rPr dirty="0" err="1"/>
              <a:t>ui_rx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</a:t>
            </a:r>
            <a:r>
              <a:rPr dirty="0" err="1"/>
              <a:t>try_recv</a:t>
            </a:r>
            <a:r>
              <a:rPr dirty="0"/>
              <a:t>() non-blocking. Per ogni </a:t>
            </a:r>
            <a:r>
              <a:rPr dirty="0" err="1"/>
              <a:t>evento</a:t>
            </a:r>
            <a:r>
              <a:rPr dirty="0"/>
              <a:t> fa pattern matching </a:t>
            </a:r>
            <a:r>
              <a:rPr dirty="0" err="1"/>
              <a:t>sul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e </a:t>
            </a:r>
            <a:r>
              <a:rPr dirty="0" err="1"/>
              <a:t>chiama</a:t>
            </a:r>
            <a:r>
              <a:rPr dirty="0"/>
              <a:t> </a:t>
            </a:r>
            <a:r>
              <a:rPr dirty="0" err="1"/>
              <a:t>l'handler</a:t>
            </a:r>
            <a:r>
              <a:rPr dirty="0"/>
              <a:t> </a:t>
            </a:r>
            <a:r>
              <a:rPr dirty="0" err="1"/>
              <a:t>specializzato</a:t>
            </a:r>
            <a:r>
              <a:rPr dirty="0"/>
              <a:t> </a:t>
            </a:r>
            <a:r>
              <a:rPr dirty="0" err="1"/>
              <a:t>appropriato</a:t>
            </a:r>
            <a:r>
              <a:rPr dirty="0"/>
              <a:t>. </a:t>
            </a:r>
            <a:r>
              <a:rPr dirty="0" err="1"/>
              <a:t>Gli</a:t>
            </a:r>
            <a:r>
              <a:rPr dirty="0"/>
              <a:t> handler non </a:t>
            </a:r>
            <a:r>
              <a:rPr dirty="0" err="1"/>
              <a:t>conoscono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dettagli</a:t>
            </a:r>
            <a:r>
              <a:rPr dirty="0"/>
              <a:t> del networking: </a:t>
            </a:r>
            <a:r>
              <a:rPr dirty="0" err="1"/>
              <a:t>ricevono</a:t>
            </a:r>
            <a:r>
              <a:rPr dirty="0"/>
              <a:t> solo </a:t>
            </a:r>
            <a:r>
              <a:rPr dirty="0" err="1"/>
              <a:t>riferimento</a:t>
            </a:r>
            <a:r>
              <a:rPr dirty="0"/>
              <a:t> </a:t>
            </a:r>
            <a:r>
              <a:rPr dirty="0" err="1"/>
              <a:t>mutabile</a:t>
            </a:r>
            <a:r>
              <a:rPr dirty="0"/>
              <a:t> </a:t>
            </a:r>
            <a:r>
              <a:rPr dirty="0" err="1"/>
              <a:t>allo</a:t>
            </a:r>
            <a:r>
              <a:rPr dirty="0"/>
              <a:t> </a:t>
            </a:r>
            <a:r>
              <a:rPr dirty="0" err="1"/>
              <a:t>stato</a:t>
            </a:r>
            <a:r>
              <a:rPr dirty="0"/>
              <a:t> e </a:t>
            </a:r>
            <a:r>
              <a:rPr dirty="0" err="1"/>
              <a:t>applicano</a:t>
            </a:r>
            <a:r>
              <a:rPr dirty="0"/>
              <a:t> le </a:t>
            </a:r>
            <a:r>
              <a:rPr dirty="0" err="1"/>
              <a:t>modifiche</a:t>
            </a:r>
            <a:r>
              <a:rPr dirty="0"/>
              <a:t> </a:t>
            </a:r>
            <a:r>
              <a:rPr dirty="0" err="1"/>
              <a:t>necessarie</a:t>
            </a:r>
            <a:r>
              <a:rPr dirty="0"/>
              <a:t>. Alla fine </a:t>
            </a:r>
            <a:r>
              <a:rPr dirty="0" err="1"/>
              <a:t>egui_waker</a:t>
            </a:r>
            <a:r>
              <a:rPr dirty="0"/>
              <a:t>() </a:t>
            </a:r>
            <a:r>
              <a:rPr dirty="0" err="1"/>
              <a:t>garantisce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l'UI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aggiorni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prossimo</a:t>
            </a:r>
            <a:r>
              <a:rPr dirty="0"/>
              <a:t> frame.</a:t>
            </a:r>
          </a:p>
        </p:txBody>
      </p:sp>
      <p:pic>
        <p:nvPicPr>
          <p:cNvPr id="24" name="Immagine 2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71605C2-92A4-0899-36C9-3A8F3B15C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92" y="1112919"/>
            <a:ext cx="3151877" cy="29176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77529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Event Handlers - Business Logic Layer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4667250" y="2250132"/>
            <a:ext cx="4095750" cy="575072"/>
          </a:xfrm>
          <a:prstGeom prst="roundRect">
            <a:avLst>
              <a:gd name="adj" fmla="val 9938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7 Handler </a:t>
            </a:r>
            <a:r>
              <a:rPr dirty="0" err="1"/>
              <a:t>Specializzati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Il </a:t>
            </a:r>
            <a:r>
              <a:rPr dirty="0" err="1"/>
              <a:t>sistema</a:t>
            </a:r>
            <a:r>
              <a:rPr dirty="0"/>
              <a:t> è </a:t>
            </a:r>
            <a:r>
              <a:rPr dirty="0" err="1"/>
              <a:t>organizzato</a:t>
            </a:r>
            <a:r>
              <a:rPr dirty="0"/>
              <a:t> in 7 handler </a:t>
            </a:r>
            <a:r>
              <a:rPr dirty="0" err="1"/>
              <a:t>specializzati</a:t>
            </a:r>
            <a:r>
              <a:rPr dirty="0"/>
              <a:t>, </a:t>
            </a:r>
            <a:r>
              <a:rPr dirty="0" err="1"/>
              <a:t>ognuno</a:t>
            </a:r>
            <a:r>
              <a:rPr dirty="0"/>
              <a:t> </a:t>
            </a:r>
            <a:r>
              <a:rPr dirty="0" err="1"/>
              <a:t>responsabile</a:t>
            </a:r>
            <a:r>
              <a:rPr dirty="0"/>
              <a:t> di un </a:t>
            </a:r>
            <a:r>
              <a:rPr dirty="0" err="1"/>
              <a:t>aspetto</a:t>
            </a:r>
            <a:r>
              <a:rPr dirty="0"/>
              <a:t> </a:t>
            </a:r>
            <a:r>
              <a:rPr dirty="0" err="1"/>
              <a:t>specifico</a:t>
            </a:r>
            <a:r>
              <a:rPr dirty="0"/>
              <a:t> </a:t>
            </a:r>
            <a:r>
              <a:rPr dirty="0" err="1"/>
              <a:t>dell'applicazione</a:t>
            </a:r>
            <a:r>
              <a:rPr dirty="0"/>
              <a:t>. </a:t>
            </a:r>
            <a:r>
              <a:rPr dirty="0" err="1"/>
              <a:t>AuthHandler</a:t>
            </a:r>
            <a:r>
              <a:rPr dirty="0"/>
              <a:t> </a:t>
            </a:r>
            <a:r>
              <a:rPr dirty="0" err="1"/>
              <a:t>gestisce</a:t>
            </a:r>
            <a:r>
              <a:rPr dirty="0"/>
              <a:t> login e logout, </a:t>
            </a:r>
            <a:r>
              <a:rPr dirty="0" err="1"/>
              <a:t>MessageHandler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occupa</a:t>
            </a:r>
            <a:r>
              <a:rPr dirty="0"/>
              <a:t> del lifecycle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messaggi</a:t>
            </a:r>
            <a:r>
              <a:rPr dirty="0"/>
              <a:t> </a:t>
            </a:r>
            <a:r>
              <a:rPr dirty="0" err="1"/>
              <a:t>dall'invio</a:t>
            </a:r>
            <a:r>
              <a:rPr dirty="0"/>
              <a:t> alla </a:t>
            </a:r>
            <a:r>
              <a:rPr dirty="0" err="1"/>
              <a:t>conferma</a:t>
            </a:r>
            <a:r>
              <a:rPr dirty="0"/>
              <a:t>, </a:t>
            </a:r>
            <a:r>
              <a:rPr dirty="0" err="1"/>
              <a:t>SequenceHandler</a:t>
            </a:r>
            <a:r>
              <a:rPr dirty="0"/>
              <a:t> </a:t>
            </a:r>
            <a:r>
              <a:rPr dirty="0" err="1"/>
              <a:t>implementa</a:t>
            </a:r>
            <a:r>
              <a:rPr dirty="0"/>
              <a:t> gap detection e recovery, </a:t>
            </a:r>
            <a:r>
              <a:rPr dirty="0" err="1"/>
              <a:t>BufferHandler</a:t>
            </a:r>
            <a:r>
              <a:rPr dirty="0"/>
              <a:t> </a:t>
            </a:r>
            <a:r>
              <a:rPr dirty="0" err="1"/>
              <a:t>gestisce</a:t>
            </a:r>
            <a:r>
              <a:rPr dirty="0"/>
              <a:t> il </a:t>
            </a:r>
            <a:r>
              <a:rPr dirty="0" err="1"/>
              <a:t>riordinamento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messaggi</a:t>
            </a:r>
            <a:r>
              <a:rPr dirty="0"/>
              <a:t> </a:t>
            </a:r>
            <a:r>
              <a:rPr dirty="0" err="1"/>
              <a:t>fuori</a:t>
            </a:r>
            <a:r>
              <a:rPr dirty="0"/>
              <a:t> </a:t>
            </a:r>
            <a:r>
              <a:rPr dirty="0" err="1"/>
              <a:t>sequenza</a:t>
            </a:r>
            <a:r>
              <a:rPr dirty="0"/>
              <a:t>. Ogni handler </a:t>
            </a:r>
            <a:r>
              <a:rPr dirty="0" err="1"/>
              <a:t>riceve</a:t>
            </a:r>
            <a:r>
              <a:rPr dirty="0"/>
              <a:t> </a:t>
            </a:r>
            <a:r>
              <a:rPr dirty="0" err="1"/>
              <a:t>riferimento</a:t>
            </a:r>
            <a:r>
              <a:rPr dirty="0"/>
              <a:t> </a:t>
            </a:r>
            <a:r>
              <a:rPr dirty="0" err="1"/>
              <a:t>mutabile</a:t>
            </a:r>
            <a:r>
              <a:rPr dirty="0"/>
              <a:t> ad </a:t>
            </a:r>
            <a:r>
              <a:rPr dirty="0" err="1"/>
              <a:t>AppState</a:t>
            </a:r>
            <a:r>
              <a:rPr dirty="0"/>
              <a:t> e </a:t>
            </a:r>
            <a:r>
              <a:rPr dirty="0" err="1"/>
              <a:t>applica</a:t>
            </a:r>
            <a:r>
              <a:rPr dirty="0"/>
              <a:t> le </a:t>
            </a:r>
            <a:r>
              <a:rPr dirty="0" err="1"/>
              <a:t>trasformazioni</a:t>
            </a:r>
            <a:r>
              <a:rPr dirty="0"/>
              <a:t> </a:t>
            </a:r>
            <a:r>
              <a:rPr dirty="0" err="1"/>
              <a:t>necessarie</a:t>
            </a:r>
            <a:r>
              <a:rPr dirty="0"/>
              <a:t> </a:t>
            </a:r>
            <a:r>
              <a:rPr dirty="0" err="1"/>
              <a:t>mantenendo</a:t>
            </a:r>
            <a:r>
              <a:rPr dirty="0"/>
              <a:t> la </a:t>
            </a:r>
            <a:r>
              <a:rPr dirty="0" err="1"/>
              <a:t>separazione</a:t>
            </a:r>
            <a:r>
              <a:rPr dirty="0"/>
              <a:t> delle </a:t>
            </a:r>
            <a:r>
              <a:rPr dirty="0" err="1"/>
              <a:t>responsabilità</a:t>
            </a:r>
            <a:r>
              <a:rPr dirty="0"/>
              <a:t>.</a:t>
            </a:r>
          </a:p>
        </p:txBody>
      </p:sp>
      <p:pic>
        <p:nvPicPr>
          <p:cNvPr id="22" name="Immagine 21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D21CEB49-B322-9B4D-1822-D607DCAC9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91" y="904058"/>
            <a:ext cx="2399374" cy="37645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781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AppState Mutations → UI Update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4667250" y="2163514"/>
            <a:ext cx="4095750" cy="748308"/>
          </a:xfrm>
          <a:prstGeom prst="roundRect">
            <a:avLst>
              <a:gd name="adj" fmla="val 7637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Single Source of Truth + </a:t>
            </a:r>
            <a:r>
              <a:rPr dirty="0" err="1"/>
              <a:t>egui_waker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Il pattern di update è </a:t>
            </a:r>
            <a:r>
              <a:rPr dirty="0" err="1"/>
              <a:t>basato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single source of truth. Quando un handler </a:t>
            </a:r>
            <a:r>
              <a:rPr dirty="0" err="1"/>
              <a:t>modifica</a:t>
            </a:r>
            <a:r>
              <a:rPr dirty="0"/>
              <a:t> </a:t>
            </a:r>
            <a:r>
              <a:rPr dirty="0" err="1"/>
              <a:t>AppState</a:t>
            </a:r>
            <a:r>
              <a:rPr dirty="0"/>
              <a:t>, per </a:t>
            </a:r>
            <a:r>
              <a:rPr dirty="0" err="1"/>
              <a:t>esempio</a:t>
            </a:r>
            <a:r>
              <a:rPr dirty="0"/>
              <a:t> </a:t>
            </a:r>
            <a:r>
              <a:rPr dirty="0" err="1"/>
              <a:t>aggiungendo</a:t>
            </a:r>
            <a:r>
              <a:rPr dirty="0"/>
              <a:t> un </a:t>
            </a:r>
            <a:r>
              <a:rPr dirty="0" err="1"/>
              <a:t>messaggio</a:t>
            </a:r>
            <a:r>
              <a:rPr dirty="0"/>
              <a:t> alla </a:t>
            </a:r>
            <a:r>
              <a:rPr dirty="0" err="1"/>
              <a:t>conversation_messages</a:t>
            </a:r>
            <a:r>
              <a:rPr dirty="0"/>
              <a:t> HashMap e </a:t>
            </a:r>
            <a:r>
              <a:rPr dirty="0" err="1"/>
              <a:t>aggiornando</a:t>
            </a:r>
            <a:r>
              <a:rPr dirty="0"/>
              <a:t> </a:t>
            </a:r>
            <a:r>
              <a:rPr dirty="0" err="1"/>
              <a:t>conversation_sequences</a:t>
            </a:r>
            <a:r>
              <a:rPr dirty="0"/>
              <a:t>, </a:t>
            </a:r>
            <a:r>
              <a:rPr dirty="0" err="1"/>
              <a:t>chiama</a:t>
            </a:r>
            <a:r>
              <a:rPr dirty="0"/>
              <a:t> </a:t>
            </a:r>
            <a:r>
              <a:rPr dirty="0" err="1"/>
              <a:t>egui_waker</a:t>
            </a:r>
            <a:r>
              <a:rPr dirty="0"/>
              <a:t>() per </a:t>
            </a:r>
            <a:r>
              <a:rPr dirty="0" err="1"/>
              <a:t>svegliare</a:t>
            </a:r>
            <a:r>
              <a:rPr dirty="0"/>
              <a:t> </a:t>
            </a:r>
            <a:r>
              <a:rPr dirty="0" err="1"/>
              <a:t>l'event</a:t>
            </a:r>
            <a:r>
              <a:rPr dirty="0"/>
              <a:t> loop. Nel </a:t>
            </a:r>
            <a:r>
              <a:rPr dirty="0" err="1"/>
              <a:t>prossimo</a:t>
            </a:r>
            <a:r>
              <a:rPr dirty="0"/>
              <a:t> frame </a:t>
            </a:r>
            <a:r>
              <a:rPr dirty="0" err="1"/>
              <a:t>l'UI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ricostruita</a:t>
            </a:r>
            <a:r>
              <a:rPr dirty="0"/>
              <a:t> </a:t>
            </a:r>
            <a:r>
              <a:rPr dirty="0" err="1"/>
              <a:t>completamente</a:t>
            </a:r>
            <a:r>
              <a:rPr dirty="0"/>
              <a:t> </a:t>
            </a:r>
            <a:r>
              <a:rPr dirty="0" err="1"/>
              <a:t>leggendo</a:t>
            </a:r>
            <a:r>
              <a:rPr dirty="0"/>
              <a:t> il nuovo </a:t>
            </a:r>
            <a:r>
              <a:rPr dirty="0" err="1"/>
              <a:t>stato</a:t>
            </a:r>
            <a:r>
              <a:rPr dirty="0"/>
              <a:t>: </a:t>
            </a:r>
            <a:r>
              <a:rPr dirty="0" err="1"/>
              <a:t>egui</a:t>
            </a:r>
            <a:r>
              <a:rPr dirty="0"/>
              <a:t> in immediate mode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ogni frame le </a:t>
            </a:r>
            <a:r>
              <a:rPr dirty="0" err="1"/>
              <a:t>funzioni</a:t>
            </a:r>
            <a:r>
              <a:rPr dirty="0"/>
              <a:t> di rendering </a:t>
            </a:r>
            <a:r>
              <a:rPr dirty="0" err="1"/>
              <a:t>leggono</a:t>
            </a:r>
            <a:r>
              <a:rPr dirty="0"/>
              <a:t> </a:t>
            </a:r>
            <a:r>
              <a:rPr dirty="0" err="1"/>
              <a:t>AppState</a:t>
            </a:r>
            <a:r>
              <a:rPr dirty="0"/>
              <a:t> e </a:t>
            </a:r>
            <a:r>
              <a:rPr dirty="0" err="1"/>
              <a:t>disegnano</a:t>
            </a:r>
            <a:r>
              <a:rPr dirty="0"/>
              <a:t> </a:t>
            </a:r>
            <a:r>
              <a:rPr dirty="0" err="1"/>
              <a:t>l'interfaccia</a:t>
            </a:r>
            <a:r>
              <a:rPr dirty="0"/>
              <a:t> da zero. Non </a:t>
            </a:r>
            <a:r>
              <a:rPr dirty="0" err="1"/>
              <a:t>c'è</a:t>
            </a:r>
            <a:r>
              <a:rPr dirty="0"/>
              <a:t> DOM da </a:t>
            </a:r>
            <a:r>
              <a:rPr dirty="0" err="1"/>
              <a:t>aggiornare</a:t>
            </a:r>
            <a:r>
              <a:rPr dirty="0"/>
              <a:t>, </a:t>
            </a:r>
            <a:r>
              <a:rPr dirty="0" err="1"/>
              <a:t>tutto</a:t>
            </a:r>
            <a:r>
              <a:rPr dirty="0"/>
              <a:t> è data-driven.</a:t>
            </a:r>
          </a:p>
        </p:txBody>
      </p:sp>
      <p:pic>
        <p:nvPicPr>
          <p:cNvPr id="31" name="Immagine 30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A972A9E4-62C4-78E6-A833-EACDC0F6D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769" y="1110342"/>
            <a:ext cx="2530492" cy="34845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62597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Gap Detection &amp; Reorder Buffer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4667250" y="2250132"/>
            <a:ext cx="4095750" cy="575072"/>
          </a:xfrm>
          <a:prstGeom prst="roundRect">
            <a:avLst>
              <a:gd name="adj" fmla="val 9938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 err="1"/>
              <a:t>BTreeMap</a:t>
            </a:r>
            <a:r>
              <a:rPr dirty="0"/>
              <a:t> Buffer + Auto Recovery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Il gap detection è </a:t>
            </a:r>
            <a:r>
              <a:rPr dirty="0" err="1"/>
              <a:t>automatico</a:t>
            </a:r>
            <a:r>
              <a:rPr dirty="0"/>
              <a:t> e </a:t>
            </a:r>
            <a:r>
              <a:rPr dirty="0" err="1"/>
              <a:t>trasparente</a:t>
            </a:r>
            <a:r>
              <a:rPr dirty="0"/>
              <a:t>. Ogni volta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arriva</a:t>
            </a:r>
            <a:r>
              <a:rPr dirty="0"/>
              <a:t> un </a:t>
            </a:r>
            <a:r>
              <a:rPr dirty="0" err="1"/>
              <a:t>messaggio</a:t>
            </a:r>
            <a:r>
              <a:rPr dirty="0"/>
              <a:t>, il client </a:t>
            </a:r>
            <a:r>
              <a:rPr dirty="0" err="1"/>
              <a:t>controlla</a:t>
            </a:r>
            <a:r>
              <a:rPr dirty="0"/>
              <a:t> se la </a:t>
            </a:r>
            <a:r>
              <a:rPr dirty="0" err="1"/>
              <a:t>sequenza</a:t>
            </a:r>
            <a:r>
              <a:rPr dirty="0"/>
              <a:t> </a:t>
            </a:r>
            <a:r>
              <a:rPr dirty="0" err="1"/>
              <a:t>corrisponde</a:t>
            </a:r>
            <a:r>
              <a:rPr dirty="0"/>
              <a:t> a </a:t>
            </a:r>
            <a:r>
              <a:rPr dirty="0" err="1"/>
              <a:t>quella</a:t>
            </a:r>
            <a:r>
              <a:rPr dirty="0"/>
              <a:t> </a:t>
            </a:r>
            <a:r>
              <a:rPr dirty="0" err="1"/>
              <a:t>attesa</a:t>
            </a:r>
            <a:r>
              <a:rPr dirty="0"/>
              <a:t>. Se </a:t>
            </a:r>
            <a:r>
              <a:rPr dirty="0" err="1"/>
              <a:t>perfetta</a:t>
            </a:r>
            <a:r>
              <a:rPr dirty="0"/>
              <a:t>, il </a:t>
            </a:r>
            <a:r>
              <a:rPr dirty="0" err="1"/>
              <a:t>messaggio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consegnato</a:t>
            </a:r>
            <a:r>
              <a:rPr dirty="0"/>
              <a:t> </a:t>
            </a:r>
            <a:r>
              <a:rPr dirty="0" err="1"/>
              <a:t>immediatamente</a:t>
            </a:r>
            <a:r>
              <a:rPr dirty="0"/>
              <a:t> e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tenta</a:t>
            </a:r>
            <a:r>
              <a:rPr dirty="0"/>
              <a:t> di </a:t>
            </a:r>
            <a:r>
              <a:rPr dirty="0" err="1"/>
              <a:t>svuotare</a:t>
            </a:r>
            <a:r>
              <a:rPr dirty="0"/>
              <a:t> il buffer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messaggi</a:t>
            </a:r>
            <a:r>
              <a:rPr dirty="0"/>
              <a:t> </a:t>
            </a:r>
            <a:r>
              <a:rPr dirty="0" err="1"/>
              <a:t>futuri</a:t>
            </a:r>
            <a:r>
              <a:rPr dirty="0"/>
              <a:t>. Se la </a:t>
            </a:r>
            <a:r>
              <a:rPr dirty="0" err="1"/>
              <a:t>sequenza</a:t>
            </a:r>
            <a:r>
              <a:rPr dirty="0"/>
              <a:t> è </a:t>
            </a:r>
            <a:r>
              <a:rPr dirty="0" err="1"/>
              <a:t>superiore</a:t>
            </a:r>
            <a:r>
              <a:rPr dirty="0"/>
              <a:t> </a:t>
            </a:r>
            <a:r>
              <a:rPr dirty="0" err="1"/>
              <a:t>all'attesa</a:t>
            </a:r>
            <a:r>
              <a:rPr dirty="0"/>
              <a:t>,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c'è</a:t>
            </a:r>
            <a:r>
              <a:rPr dirty="0"/>
              <a:t> un gap: il </a:t>
            </a:r>
            <a:r>
              <a:rPr dirty="0" err="1"/>
              <a:t>messaggio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bufferizzato</a:t>
            </a:r>
            <a:r>
              <a:rPr dirty="0"/>
              <a:t> in un </a:t>
            </a:r>
            <a:r>
              <a:rPr dirty="0" err="1"/>
              <a:t>BTreeMap</a:t>
            </a:r>
            <a:r>
              <a:rPr dirty="0"/>
              <a:t> </a:t>
            </a:r>
            <a:r>
              <a:rPr dirty="0" err="1"/>
              <a:t>ordinato</a:t>
            </a:r>
            <a:r>
              <a:rPr dirty="0"/>
              <a:t> per </a:t>
            </a:r>
            <a:r>
              <a:rPr dirty="0" err="1"/>
              <a:t>sequenza</a:t>
            </a:r>
            <a:r>
              <a:rPr dirty="0"/>
              <a:t> e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richiesta</a:t>
            </a:r>
            <a:r>
              <a:rPr dirty="0"/>
              <a:t> al server per </a:t>
            </a:r>
            <a:r>
              <a:rPr dirty="0" err="1"/>
              <a:t>recuperare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mancanti</a:t>
            </a:r>
            <a:r>
              <a:rPr dirty="0"/>
              <a:t>. Quando </a:t>
            </a:r>
            <a:r>
              <a:rPr dirty="0" err="1"/>
              <a:t>arrivano</a:t>
            </a:r>
            <a:r>
              <a:rPr dirty="0"/>
              <a:t>, </a:t>
            </a:r>
            <a:r>
              <a:rPr dirty="0" err="1"/>
              <a:t>flush_consecutive</a:t>
            </a:r>
            <a:r>
              <a:rPr dirty="0"/>
              <a:t> </a:t>
            </a:r>
            <a:r>
              <a:rPr dirty="0" err="1"/>
              <a:t>estrae</a:t>
            </a:r>
            <a:r>
              <a:rPr dirty="0"/>
              <a:t> dal buffer tutti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messaggi</a:t>
            </a:r>
            <a:r>
              <a:rPr dirty="0"/>
              <a:t> </a:t>
            </a:r>
            <a:r>
              <a:rPr dirty="0" err="1"/>
              <a:t>consecutivi</a:t>
            </a:r>
            <a:r>
              <a:rPr dirty="0"/>
              <a:t> </a:t>
            </a:r>
            <a:r>
              <a:rPr dirty="0" err="1"/>
              <a:t>partendo</a:t>
            </a:r>
            <a:r>
              <a:rPr dirty="0"/>
              <a:t> </a:t>
            </a:r>
            <a:r>
              <a:rPr dirty="0" err="1"/>
              <a:t>dall'expected</a:t>
            </a:r>
            <a:r>
              <a:rPr dirty="0"/>
              <a:t>, </a:t>
            </a:r>
            <a:r>
              <a:rPr dirty="0" err="1"/>
              <a:t>garantendo</a:t>
            </a:r>
            <a:r>
              <a:rPr dirty="0"/>
              <a:t> </a:t>
            </a:r>
            <a:r>
              <a:rPr dirty="0" err="1"/>
              <a:t>l'ordine</a:t>
            </a:r>
            <a:r>
              <a:rPr dirty="0"/>
              <a:t>.</a:t>
            </a:r>
          </a:p>
        </p:txBody>
      </p:sp>
      <p:pic>
        <p:nvPicPr>
          <p:cNvPr id="27" name="Immagine 26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641CB90A-F8B2-88AA-0B11-95735C660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71" y="996671"/>
            <a:ext cx="2770838" cy="33186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6842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Optimistic UI con Confirmations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4667250" y="2250132"/>
            <a:ext cx="4095750" cy="575072"/>
          </a:xfrm>
          <a:prstGeom prst="roundRect">
            <a:avLst>
              <a:gd name="adj" fmla="val 9938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Immediate UI + Deduplication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L'UI è </a:t>
            </a:r>
            <a:r>
              <a:rPr dirty="0" err="1"/>
              <a:t>ottimistica</a:t>
            </a:r>
            <a:r>
              <a:rPr dirty="0"/>
              <a:t>: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l'utente</a:t>
            </a:r>
            <a:r>
              <a:rPr dirty="0"/>
              <a:t> </a:t>
            </a:r>
            <a:r>
              <a:rPr dirty="0" err="1"/>
              <a:t>invia</a:t>
            </a:r>
            <a:r>
              <a:rPr dirty="0"/>
              <a:t> un </a:t>
            </a:r>
            <a:r>
              <a:rPr dirty="0" err="1"/>
              <a:t>messaggio</a:t>
            </a:r>
            <a:r>
              <a:rPr dirty="0"/>
              <a:t>, </a:t>
            </a:r>
            <a:r>
              <a:rPr dirty="0" err="1"/>
              <a:t>appare</a:t>
            </a:r>
            <a:r>
              <a:rPr dirty="0"/>
              <a:t> </a:t>
            </a:r>
            <a:r>
              <a:rPr dirty="0" err="1"/>
              <a:t>immediatamente</a:t>
            </a:r>
            <a:r>
              <a:rPr dirty="0"/>
              <a:t> </a:t>
            </a:r>
            <a:r>
              <a:rPr dirty="0" err="1"/>
              <a:t>nell'interfaccia</a:t>
            </a:r>
            <a:r>
              <a:rPr dirty="0"/>
              <a:t> con </a:t>
            </a:r>
            <a:r>
              <a:rPr dirty="0" err="1"/>
              <a:t>stato</a:t>
            </a:r>
            <a:r>
              <a:rPr dirty="0"/>
              <a:t> "Pending" prima </a:t>
            </a:r>
            <a:r>
              <a:rPr dirty="0" err="1"/>
              <a:t>ancora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il server </a:t>
            </a:r>
            <a:r>
              <a:rPr dirty="0" err="1"/>
              <a:t>risponda</a:t>
            </a:r>
            <a:r>
              <a:rPr dirty="0"/>
              <a:t>. Il </a:t>
            </a:r>
            <a:r>
              <a:rPr dirty="0" err="1"/>
              <a:t>messaggio</a:t>
            </a:r>
            <a:r>
              <a:rPr dirty="0"/>
              <a:t> </a:t>
            </a:r>
            <a:r>
              <a:rPr dirty="0" err="1"/>
              <a:t>riceve</a:t>
            </a:r>
            <a:r>
              <a:rPr dirty="0"/>
              <a:t> un </a:t>
            </a:r>
            <a:r>
              <a:rPr dirty="0" err="1"/>
              <a:t>client_msg_id</a:t>
            </a:r>
            <a:r>
              <a:rPr dirty="0"/>
              <a:t> </a:t>
            </a:r>
            <a:r>
              <a:rPr dirty="0" err="1"/>
              <a:t>temporaneo</a:t>
            </a:r>
            <a:r>
              <a:rPr dirty="0"/>
              <a:t> </a:t>
            </a:r>
            <a:r>
              <a:rPr dirty="0" err="1"/>
              <a:t>generato</a:t>
            </a:r>
            <a:r>
              <a:rPr dirty="0"/>
              <a:t> </a:t>
            </a:r>
            <a:r>
              <a:rPr dirty="0" err="1"/>
              <a:t>localmente</a:t>
            </a:r>
            <a:r>
              <a:rPr dirty="0"/>
              <a:t> e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tracciato</a:t>
            </a:r>
            <a:r>
              <a:rPr dirty="0"/>
              <a:t> in </a:t>
            </a:r>
            <a:r>
              <a:rPr dirty="0" err="1"/>
              <a:t>pending_confirmations</a:t>
            </a:r>
            <a:r>
              <a:rPr dirty="0"/>
              <a:t>. Quando </a:t>
            </a:r>
            <a:r>
              <a:rPr dirty="0" err="1"/>
              <a:t>arriva</a:t>
            </a:r>
            <a:r>
              <a:rPr dirty="0"/>
              <a:t> la </a:t>
            </a:r>
            <a:r>
              <a:rPr dirty="0" err="1"/>
              <a:t>conferma</a:t>
            </a:r>
            <a:r>
              <a:rPr dirty="0"/>
              <a:t> dal server, il </a:t>
            </a:r>
            <a:r>
              <a:rPr dirty="0" err="1"/>
              <a:t>sistema</a:t>
            </a:r>
            <a:r>
              <a:rPr dirty="0"/>
              <a:t> fa lookup </a:t>
            </a:r>
            <a:r>
              <a:rPr dirty="0" err="1"/>
              <a:t>tramite</a:t>
            </a:r>
            <a:r>
              <a:rPr dirty="0"/>
              <a:t> </a:t>
            </a:r>
            <a:r>
              <a:rPr dirty="0" err="1"/>
              <a:t>client_msg_id</a:t>
            </a:r>
            <a:r>
              <a:rPr dirty="0"/>
              <a:t>, </a:t>
            </a:r>
            <a:r>
              <a:rPr dirty="0" err="1"/>
              <a:t>aggiorna</a:t>
            </a:r>
            <a:r>
              <a:rPr dirty="0"/>
              <a:t> lo status a "Confirmed" e </a:t>
            </a:r>
            <a:r>
              <a:rPr dirty="0" err="1"/>
              <a:t>associa</a:t>
            </a:r>
            <a:r>
              <a:rPr dirty="0"/>
              <a:t> </a:t>
            </a:r>
            <a:r>
              <a:rPr dirty="0" err="1"/>
              <a:t>l'ID</a:t>
            </a:r>
            <a:r>
              <a:rPr dirty="0"/>
              <a:t> server. Se lo </a:t>
            </a:r>
            <a:r>
              <a:rPr dirty="0" err="1"/>
              <a:t>stesso</a:t>
            </a:r>
            <a:r>
              <a:rPr dirty="0"/>
              <a:t> </a:t>
            </a:r>
            <a:r>
              <a:rPr dirty="0" err="1"/>
              <a:t>messaggio</a:t>
            </a:r>
            <a:r>
              <a:rPr dirty="0"/>
              <a:t> </a:t>
            </a:r>
            <a:r>
              <a:rPr dirty="0" err="1"/>
              <a:t>arriva</a:t>
            </a:r>
            <a:r>
              <a:rPr dirty="0"/>
              <a:t> poi via broadcast (</a:t>
            </a:r>
            <a:r>
              <a:rPr dirty="0" err="1"/>
              <a:t>perché</a:t>
            </a:r>
            <a:r>
              <a:rPr dirty="0"/>
              <a:t> il sender è </a:t>
            </a:r>
            <a:r>
              <a:rPr dirty="0" err="1"/>
              <a:t>anche</a:t>
            </a:r>
            <a:r>
              <a:rPr dirty="0"/>
              <a:t> receiver), </a:t>
            </a:r>
            <a:r>
              <a:rPr dirty="0" err="1"/>
              <a:t>viene</a:t>
            </a:r>
            <a:r>
              <a:rPr dirty="0"/>
              <a:t> deduplicate </a:t>
            </a:r>
            <a:r>
              <a:rPr dirty="0" err="1"/>
              <a:t>controllando</a:t>
            </a:r>
            <a:r>
              <a:rPr dirty="0"/>
              <a:t> il </a:t>
            </a:r>
            <a:r>
              <a:rPr dirty="0" err="1"/>
              <a:t>client_msg_id</a:t>
            </a:r>
            <a:r>
              <a:rPr dirty="0"/>
              <a:t> per </a:t>
            </a:r>
            <a:r>
              <a:rPr dirty="0" err="1"/>
              <a:t>evitare</a:t>
            </a:r>
            <a:r>
              <a:rPr dirty="0"/>
              <a:t> </a:t>
            </a:r>
            <a:r>
              <a:rPr dirty="0" err="1"/>
              <a:t>duplicati</a:t>
            </a:r>
            <a:r>
              <a:rPr dirty="0"/>
              <a:t> in UI.</a:t>
            </a:r>
          </a:p>
        </p:txBody>
      </p:sp>
      <p:pic>
        <p:nvPicPr>
          <p:cNvPr id="26" name="Immagine 2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138C3FED-8820-EA6C-D99D-3BA34B868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79" y="953588"/>
            <a:ext cx="2950567" cy="35709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15130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ConnectionManager - Lifecycle &amp; Backoff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4667250" y="2250132"/>
            <a:ext cx="4095750" cy="575072"/>
          </a:xfrm>
          <a:prstGeom prst="roundRect">
            <a:avLst>
              <a:gd name="adj" fmla="val 9938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State Machine + Exponential Backoff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La </a:t>
            </a:r>
            <a:r>
              <a:rPr dirty="0" err="1"/>
              <a:t>gestione</a:t>
            </a:r>
            <a:r>
              <a:rPr dirty="0"/>
              <a:t> delle </a:t>
            </a:r>
            <a:r>
              <a:rPr dirty="0" err="1"/>
              <a:t>connessioni</a:t>
            </a:r>
            <a:r>
              <a:rPr dirty="0"/>
              <a:t> </a:t>
            </a:r>
            <a:r>
              <a:rPr dirty="0" err="1"/>
              <a:t>usa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state machine con backoff </a:t>
            </a:r>
            <a:r>
              <a:rPr dirty="0" err="1"/>
              <a:t>esponenziale</a:t>
            </a:r>
            <a:r>
              <a:rPr dirty="0"/>
              <a:t>.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stati</a:t>
            </a:r>
            <a:r>
              <a:rPr dirty="0"/>
              <a:t> </a:t>
            </a:r>
            <a:r>
              <a:rPr dirty="0" err="1"/>
              <a:t>sono</a:t>
            </a:r>
            <a:r>
              <a:rPr dirty="0"/>
              <a:t> Disconnected, Connecting e Connected. Quando la </a:t>
            </a:r>
            <a:r>
              <a:rPr dirty="0" err="1"/>
              <a:t>connessione</a:t>
            </a:r>
            <a:r>
              <a:rPr dirty="0"/>
              <a:t> </a:t>
            </a:r>
            <a:r>
              <a:rPr dirty="0" err="1"/>
              <a:t>fallisce</a:t>
            </a:r>
            <a:r>
              <a:rPr dirty="0"/>
              <a:t>, il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aspetta</a:t>
            </a:r>
            <a:r>
              <a:rPr dirty="0"/>
              <a:t> </a:t>
            </a:r>
            <a:r>
              <a:rPr dirty="0" err="1"/>
              <a:t>progressivamente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tempo prima di </a:t>
            </a:r>
            <a:r>
              <a:rPr dirty="0" err="1"/>
              <a:t>riprovare</a:t>
            </a:r>
            <a:r>
              <a:rPr dirty="0"/>
              <a:t>: 1 secondo, poi 2, 5, 10 e 15 secondi. Al </a:t>
            </a:r>
            <a:r>
              <a:rPr dirty="0" err="1"/>
              <a:t>sesto</a:t>
            </a:r>
            <a:r>
              <a:rPr dirty="0"/>
              <a:t> </a:t>
            </a:r>
            <a:r>
              <a:rPr dirty="0" err="1"/>
              <a:t>tentativo</a:t>
            </a:r>
            <a:r>
              <a:rPr dirty="0"/>
              <a:t> </a:t>
            </a:r>
            <a:r>
              <a:rPr dirty="0" err="1"/>
              <a:t>consecutivo</a:t>
            </a:r>
            <a:r>
              <a:rPr dirty="0"/>
              <a:t> </a:t>
            </a:r>
            <a:r>
              <a:rPr dirty="0" err="1"/>
              <a:t>fallito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forzato</a:t>
            </a:r>
            <a:r>
              <a:rPr dirty="0"/>
              <a:t> il logout per </a:t>
            </a:r>
            <a:r>
              <a:rPr dirty="0" err="1"/>
              <a:t>evitare</a:t>
            </a:r>
            <a:r>
              <a:rPr dirty="0"/>
              <a:t> loop </a:t>
            </a:r>
            <a:r>
              <a:rPr dirty="0" err="1"/>
              <a:t>infiniti</a:t>
            </a:r>
            <a:r>
              <a:rPr dirty="0"/>
              <a:t>. Il flag </a:t>
            </a:r>
            <a:r>
              <a:rPr dirty="0" err="1"/>
              <a:t>is_connecting_in_progress</a:t>
            </a:r>
            <a:r>
              <a:rPr dirty="0"/>
              <a:t> </a:t>
            </a:r>
            <a:r>
              <a:rPr dirty="0" err="1"/>
              <a:t>previene</a:t>
            </a:r>
            <a:r>
              <a:rPr dirty="0"/>
              <a:t> </a:t>
            </a:r>
            <a:r>
              <a:rPr dirty="0" err="1"/>
              <a:t>tentativi</a:t>
            </a:r>
            <a:r>
              <a:rPr dirty="0"/>
              <a:t> </a:t>
            </a:r>
            <a:r>
              <a:rPr dirty="0" err="1"/>
              <a:t>multipli</a:t>
            </a:r>
            <a:r>
              <a:rPr dirty="0"/>
              <a:t> </a:t>
            </a:r>
            <a:r>
              <a:rPr dirty="0" err="1"/>
              <a:t>simultanei</a:t>
            </a:r>
            <a:r>
              <a:rPr dirty="0"/>
              <a:t>, </a:t>
            </a:r>
            <a:r>
              <a:rPr dirty="0" err="1"/>
              <a:t>mentre</a:t>
            </a:r>
            <a:r>
              <a:rPr dirty="0"/>
              <a:t> </a:t>
            </a:r>
            <a:r>
              <a:rPr dirty="0" err="1"/>
              <a:t>connection_attempt_start</a:t>
            </a:r>
            <a:r>
              <a:rPr dirty="0"/>
              <a:t> </a:t>
            </a:r>
            <a:r>
              <a:rPr dirty="0" err="1"/>
              <a:t>implementa</a:t>
            </a:r>
            <a:r>
              <a:rPr dirty="0"/>
              <a:t> un timeout di 30 secondi </a:t>
            </a:r>
            <a:r>
              <a:rPr dirty="0" err="1"/>
              <a:t>sulla</a:t>
            </a:r>
            <a:r>
              <a:rPr dirty="0"/>
              <a:t> </a:t>
            </a:r>
            <a:r>
              <a:rPr dirty="0" err="1"/>
              <a:t>fase</a:t>
            </a:r>
            <a:r>
              <a:rPr dirty="0"/>
              <a:t> di connecting.</a:t>
            </a:r>
          </a:p>
        </p:txBody>
      </p:sp>
      <p:pic>
        <p:nvPicPr>
          <p:cNvPr id="28" name="Immagine 2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DCA47F67-1480-1718-97F2-00E2956F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13" y="768202"/>
            <a:ext cx="3176728" cy="39327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97503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Monitoring: CPU Logger - Architettura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4667250" y="2250132"/>
            <a:ext cx="4095750" cy="575072"/>
          </a:xfrm>
          <a:prstGeom prst="roundRect">
            <a:avLst>
              <a:gd name="adj" fmla="val 9938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Background Task - 120s Interval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Il CPU logger è un task background Tokio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monitora</a:t>
            </a:r>
            <a:r>
              <a:rPr dirty="0"/>
              <a:t> le </a:t>
            </a:r>
            <a:r>
              <a:rPr dirty="0" err="1"/>
              <a:t>risorse</a:t>
            </a:r>
            <a:r>
              <a:rPr dirty="0"/>
              <a:t> del </a:t>
            </a:r>
            <a:r>
              <a:rPr dirty="0" err="1"/>
              <a:t>processo</a:t>
            </a:r>
            <a:r>
              <a:rPr dirty="0"/>
              <a:t> server ogni 2 </a:t>
            </a:r>
            <a:r>
              <a:rPr dirty="0" err="1"/>
              <a:t>minuti</a:t>
            </a:r>
            <a:r>
              <a:rPr dirty="0"/>
              <a:t>. Usa la crate </a:t>
            </a:r>
            <a:r>
              <a:rPr dirty="0" err="1"/>
              <a:t>sysinfo</a:t>
            </a:r>
            <a:r>
              <a:rPr dirty="0"/>
              <a:t> per </a:t>
            </a:r>
            <a:r>
              <a:rPr dirty="0" err="1"/>
              <a:t>interrogare</a:t>
            </a:r>
            <a:r>
              <a:rPr dirty="0"/>
              <a:t> il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 e </a:t>
            </a:r>
            <a:r>
              <a:rPr dirty="0" err="1"/>
              <a:t>ottenere</a:t>
            </a:r>
            <a:r>
              <a:rPr dirty="0"/>
              <a:t> CPU usage e memoria </a:t>
            </a:r>
            <a:r>
              <a:rPr dirty="0" err="1"/>
              <a:t>residente</a:t>
            </a:r>
            <a:r>
              <a:rPr dirty="0"/>
              <a:t>. La CPU </a:t>
            </a:r>
            <a:r>
              <a:rPr dirty="0" err="1"/>
              <a:t>viene</a:t>
            </a:r>
            <a:r>
              <a:rPr lang="it-IT" dirty="0"/>
              <a:t> </a:t>
            </a:r>
            <a:r>
              <a:rPr dirty="0" err="1"/>
              <a:t>normalizzata</a:t>
            </a:r>
            <a:r>
              <a:rPr dirty="0"/>
              <a:t> </a:t>
            </a:r>
            <a:r>
              <a:rPr dirty="0" err="1"/>
              <a:t>dividendo</a:t>
            </a:r>
            <a:r>
              <a:rPr dirty="0"/>
              <a:t> per il </a:t>
            </a:r>
            <a:r>
              <a:rPr dirty="0" err="1"/>
              <a:t>numero</a:t>
            </a:r>
            <a:r>
              <a:rPr dirty="0"/>
              <a:t> di core </a:t>
            </a:r>
            <a:r>
              <a:rPr dirty="0" err="1"/>
              <a:t>disponibili</a:t>
            </a:r>
            <a:r>
              <a:rPr dirty="0"/>
              <a:t>, </a:t>
            </a:r>
            <a:r>
              <a:rPr dirty="0" err="1"/>
              <a:t>così</a:t>
            </a:r>
            <a:r>
              <a:rPr dirty="0"/>
              <a:t> la </a:t>
            </a:r>
            <a:r>
              <a:rPr dirty="0" err="1"/>
              <a:t>percentuale</a:t>
            </a:r>
            <a:r>
              <a:rPr dirty="0"/>
              <a:t> è </a:t>
            </a:r>
            <a:r>
              <a:rPr dirty="0" err="1"/>
              <a:t>comparabile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sistemi</a:t>
            </a:r>
            <a:r>
              <a:rPr dirty="0"/>
              <a:t> </a:t>
            </a:r>
            <a:r>
              <a:rPr dirty="0" err="1"/>
              <a:t>diversi</a:t>
            </a:r>
            <a:r>
              <a:rPr dirty="0"/>
              <a:t>. La memoria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convertita</a:t>
            </a:r>
            <a:r>
              <a:rPr dirty="0"/>
              <a:t> da bytes a megabytes per </a:t>
            </a:r>
            <a:r>
              <a:rPr dirty="0" err="1"/>
              <a:t>leggibilità</a:t>
            </a:r>
            <a:r>
              <a:rPr dirty="0"/>
              <a:t>. I </a:t>
            </a:r>
            <a:r>
              <a:rPr dirty="0" err="1"/>
              <a:t>dati</a:t>
            </a:r>
            <a:r>
              <a:rPr dirty="0"/>
              <a:t>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scritti</a:t>
            </a:r>
            <a:r>
              <a:rPr dirty="0"/>
              <a:t> in append </a:t>
            </a:r>
            <a:r>
              <a:rPr dirty="0" err="1"/>
              <a:t>su</a:t>
            </a:r>
            <a:r>
              <a:rPr dirty="0"/>
              <a:t> server_cpu.log con timestamp UTC, </a:t>
            </a:r>
            <a:r>
              <a:rPr dirty="0" err="1"/>
              <a:t>permettendo</a:t>
            </a:r>
            <a:r>
              <a:rPr dirty="0"/>
              <a:t> di </a:t>
            </a:r>
            <a:r>
              <a:rPr dirty="0" err="1"/>
              <a:t>tracciare</a:t>
            </a:r>
            <a:r>
              <a:rPr dirty="0"/>
              <a:t> </a:t>
            </a:r>
            <a:r>
              <a:rPr dirty="0" err="1"/>
              <a:t>l'andamento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tempo.</a:t>
            </a:r>
          </a:p>
        </p:txBody>
      </p:sp>
      <p:pic>
        <p:nvPicPr>
          <p:cNvPr id="27" name="Immagine 2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0578BD53-7F86-F136-F544-F61025C84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4" y="1244292"/>
            <a:ext cx="2778136" cy="28746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9465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Monitoring: CPU Logger - Metriche Raccolte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4667250" y="2250132"/>
            <a:ext cx="4095750" cy="575072"/>
          </a:xfrm>
          <a:prstGeom prst="roundRect">
            <a:avLst>
              <a:gd name="adj" fmla="val 9938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CPU + Memory con Timestamp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I log </a:t>
            </a:r>
            <a:r>
              <a:rPr dirty="0" err="1"/>
              <a:t>mostrano</a:t>
            </a:r>
            <a:r>
              <a:rPr dirty="0"/>
              <a:t> pattern </a:t>
            </a:r>
            <a:r>
              <a:rPr dirty="0" err="1"/>
              <a:t>interessanti</a:t>
            </a:r>
            <a:r>
              <a:rPr dirty="0"/>
              <a:t>: </a:t>
            </a:r>
            <a:r>
              <a:rPr dirty="0" err="1"/>
              <a:t>quando</a:t>
            </a:r>
            <a:r>
              <a:rPr dirty="0"/>
              <a:t> il server è idle la CPU è </a:t>
            </a:r>
            <a:r>
              <a:rPr dirty="0" err="1"/>
              <a:t>praticamente</a:t>
            </a:r>
            <a:r>
              <a:rPr dirty="0"/>
              <a:t> zero, </a:t>
            </a:r>
            <a:r>
              <a:rPr dirty="0" err="1"/>
              <a:t>durante</a:t>
            </a:r>
            <a:r>
              <a:rPr dirty="0"/>
              <a:t> lo startup sale al 3-12% per </a:t>
            </a:r>
            <a:r>
              <a:rPr dirty="0" err="1"/>
              <a:t>inizializzare</a:t>
            </a:r>
            <a:r>
              <a:rPr dirty="0"/>
              <a:t> le </a:t>
            </a:r>
            <a:r>
              <a:rPr dirty="0" err="1"/>
              <a:t>strutture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, e sotto </a:t>
            </a:r>
            <a:r>
              <a:rPr dirty="0" err="1"/>
              <a:t>carico</a:t>
            </a:r>
            <a:r>
              <a:rPr dirty="0"/>
              <a:t> </a:t>
            </a:r>
            <a:r>
              <a:rPr dirty="0" err="1"/>
              <a:t>normale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assesta</a:t>
            </a:r>
            <a:r>
              <a:rPr dirty="0"/>
              <a:t> </a:t>
            </a:r>
            <a:r>
              <a:rPr dirty="0" err="1"/>
              <a:t>intorno</a:t>
            </a:r>
            <a:r>
              <a:rPr dirty="0"/>
              <a:t> all'1-2%. La memoria ha un baseline di circa 35 MB in </a:t>
            </a:r>
            <a:r>
              <a:rPr dirty="0" err="1"/>
              <a:t>stato</a:t>
            </a:r>
            <a:r>
              <a:rPr dirty="0"/>
              <a:t> stabile, con </a:t>
            </a:r>
            <a:r>
              <a:rPr dirty="0" err="1"/>
              <a:t>picchi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a 95 MB </a:t>
            </a:r>
            <a:r>
              <a:rPr dirty="0" err="1"/>
              <a:t>durante</a:t>
            </a:r>
            <a:r>
              <a:rPr dirty="0"/>
              <a:t> </a:t>
            </a:r>
            <a:r>
              <a:rPr dirty="0" err="1"/>
              <a:t>caricamenti</a:t>
            </a:r>
            <a:r>
              <a:rPr dirty="0"/>
              <a:t> di </a:t>
            </a:r>
            <a:r>
              <a:rPr dirty="0" err="1"/>
              <a:t>dati</a:t>
            </a:r>
            <a:r>
              <a:rPr dirty="0"/>
              <a:t> </a:t>
            </a:r>
            <a:r>
              <a:rPr dirty="0" err="1"/>
              <a:t>intensivi</a:t>
            </a:r>
            <a:r>
              <a:rPr dirty="0"/>
              <a:t>. Non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vedono</a:t>
            </a:r>
            <a:r>
              <a:rPr dirty="0"/>
              <a:t> memory leak: la memoria </a:t>
            </a:r>
            <a:r>
              <a:rPr dirty="0" err="1"/>
              <a:t>rimane</a:t>
            </a:r>
            <a:r>
              <a:rPr dirty="0"/>
              <a:t> stabile per ore </a:t>
            </a:r>
            <a:r>
              <a:rPr dirty="0" err="1"/>
              <a:t>quando</a:t>
            </a:r>
            <a:r>
              <a:rPr dirty="0"/>
              <a:t> non </a:t>
            </a:r>
            <a:r>
              <a:rPr dirty="0" err="1"/>
              <a:t>c'è</a:t>
            </a:r>
            <a:r>
              <a:rPr dirty="0"/>
              <a:t> </a:t>
            </a:r>
            <a:r>
              <a:rPr dirty="0" err="1"/>
              <a:t>attività</a:t>
            </a:r>
            <a:r>
              <a:rPr dirty="0"/>
              <a:t>. La formula per la CPU divide </a:t>
            </a:r>
            <a:r>
              <a:rPr dirty="0" err="1"/>
              <a:t>l'usage</a:t>
            </a:r>
            <a:r>
              <a:rPr dirty="0"/>
              <a:t> del </a:t>
            </a:r>
            <a:r>
              <a:rPr dirty="0" err="1"/>
              <a:t>processo</a:t>
            </a:r>
            <a:r>
              <a:rPr dirty="0"/>
              <a:t> per il </a:t>
            </a:r>
            <a:r>
              <a:rPr dirty="0" err="1"/>
              <a:t>numero</a:t>
            </a:r>
            <a:r>
              <a:rPr dirty="0"/>
              <a:t> di core, </a:t>
            </a:r>
            <a:r>
              <a:rPr dirty="0" err="1"/>
              <a:t>quindi</a:t>
            </a:r>
            <a:r>
              <a:rPr dirty="0"/>
              <a:t> 1.33% </a:t>
            </a:r>
            <a:r>
              <a:rPr dirty="0" err="1"/>
              <a:t>su</a:t>
            </a:r>
            <a:r>
              <a:rPr dirty="0"/>
              <a:t> un </a:t>
            </a:r>
            <a:r>
              <a:rPr dirty="0" err="1"/>
              <a:t>sistema</a:t>
            </a:r>
            <a:r>
              <a:rPr dirty="0"/>
              <a:t> a 8 core equivale a circa 10% di </a:t>
            </a:r>
            <a:r>
              <a:rPr dirty="0" err="1"/>
              <a:t>utilizzo</a:t>
            </a:r>
            <a:r>
              <a:rPr dirty="0"/>
              <a:t> di un </a:t>
            </a:r>
            <a:r>
              <a:rPr dirty="0" err="1"/>
              <a:t>singolo</a:t>
            </a:r>
            <a:r>
              <a:rPr dirty="0"/>
              <a:t> core.</a:t>
            </a:r>
          </a:p>
        </p:txBody>
      </p:sp>
      <p:pic>
        <p:nvPicPr>
          <p:cNvPr id="19" name="Immagine 18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74A4F16A-1EF7-541B-1801-19DC3D81E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90" y="1410789"/>
            <a:ext cx="3231516" cy="25110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70437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 1: Message Broadcast Write Storm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4667250" y="2290911"/>
            <a:ext cx="4095750" cy="531316"/>
          </a:xfrm>
          <a:prstGeom prst="roundRect">
            <a:avLst>
              <a:gd name="adj" fmla="val 10756"/>
            </a:avLst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  <a:defRPr sz="1600" b="1">
                <a:solidFill>
                  <a:srgbClr val="0070C0"/>
                </a:solidFill>
              </a:defRPr>
            </a:pPr>
            <a:r>
              <a:rPr dirty="0"/>
              <a:t>Batch Threshold + Dynamic VALUES</a:t>
            </a:r>
            <a:endParaRPr lang="en-US" dirty="0"/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Quando un </a:t>
            </a:r>
            <a:r>
              <a:rPr dirty="0" err="1"/>
              <a:t>messaggio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inviato</a:t>
            </a:r>
            <a:r>
              <a:rPr dirty="0"/>
              <a:t> a 1000 </a:t>
            </a:r>
            <a:r>
              <a:rPr dirty="0" err="1"/>
              <a:t>utenti</a:t>
            </a:r>
            <a:r>
              <a:rPr dirty="0"/>
              <a:t>, </a:t>
            </a:r>
            <a:r>
              <a:rPr dirty="0" err="1"/>
              <a:t>l'approccio</a:t>
            </a:r>
            <a:r>
              <a:rPr dirty="0"/>
              <a:t> naif </a:t>
            </a:r>
            <a:r>
              <a:rPr dirty="0" err="1"/>
              <a:t>farebbe</a:t>
            </a:r>
            <a:r>
              <a:rPr dirty="0"/>
              <a:t> 1 INSERT per il </a:t>
            </a:r>
            <a:r>
              <a:rPr dirty="0" err="1"/>
              <a:t>messaggio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1000 INSERT in </a:t>
            </a:r>
            <a:r>
              <a:rPr dirty="0" err="1"/>
              <a:t>user_events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1000 UPDATE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user_sequences</a:t>
            </a:r>
            <a:r>
              <a:rPr dirty="0"/>
              <a:t>: </a:t>
            </a:r>
            <a:r>
              <a:rPr dirty="0" err="1"/>
              <a:t>oltre</a:t>
            </a:r>
            <a:r>
              <a:rPr dirty="0"/>
              <a:t> 2000 </a:t>
            </a:r>
            <a:r>
              <a:rPr dirty="0" err="1"/>
              <a:t>operazioni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causano</a:t>
            </a:r>
            <a:r>
              <a:rPr dirty="0"/>
              <a:t> timeout. La </a:t>
            </a:r>
            <a:r>
              <a:rPr dirty="0" err="1"/>
              <a:t>soluzione</a:t>
            </a:r>
            <a:r>
              <a:rPr dirty="0"/>
              <a:t> </a:t>
            </a:r>
            <a:r>
              <a:rPr dirty="0" err="1"/>
              <a:t>usa</a:t>
            </a:r>
            <a:r>
              <a:rPr dirty="0"/>
              <a:t> un threshold </a:t>
            </a:r>
            <a:r>
              <a:rPr dirty="0" err="1"/>
              <a:t>intelligente</a:t>
            </a:r>
            <a:r>
              <a:rPr dirty="0"/>
              <a:t>: sotto 10 </a:t>
            </a:r>
            <a:r>
              <a:rPr dirty="0" err="1"/>
              <a:t>utenti</a:t>
            </a:r>
            <a:r>
              <a:rPr dirty="0"/>
              <a:t> </a:t>
            </a:r>
            <a:r>
              <a:rPr dirty="0" err="1"/>
              <a:t>conviene</a:t>
            </a:r>
            <a:r>
              <a:rPr dirty="0"/>
              <a:t> fare un loop </a:t>
            </a:r>
            <a:r>
              <a:rPr dirty="0" err="1"/>
              <a:t>perché</a:t>
            </a:r>
            <a:r>
              <a:rPr dirty="0"/>
              <a:t> </a:t>
            </a:r>
            <a:r>
              <a:rPr dirty="0" err="1"/>
              <a:t>l'overhead</a:t>
            </a:r>
            <a:r>
              <a:rPr dirty="0"/>
              <a:t> del batch non è </a:t>
            </a:r>
            <a:r>
              <a:rPr dirty="0" err="1"/>
              <a:t>giustificato</a:t>
            </a:r>
            <a:r>
              <a:rPr dirty="0"/>
              <a:t>, sopra 10 il batch </a:t>
            </a:r>
            <a:r>
              <a:rPr dirty="0" err="1"/>
              <a:t>diventa</a:t>
            </a:r>
            <a:r>
              <a:rPr dirty="0"/>
              <a:t> </a:t>
            </a:r>
            <a:r>
              <a:rPr dirty="0" err="1"/>
              <a:t>fondamentale</a:t>
            </a:r>
            <a:r>
              <a:rPr dirty="0"/>
              <a:t>. Il batch </a:t>
            </a:r>
            <a:r>
              <a:rPr dirty="0" err="1"/>
              <a:t>costruisce</a:t>
            </a:r>
            <a:r>
              <a:rPr dirty="0"/>
              <a:t> </a:t>
            </a:r>
            <a:r>
              <a:rPr dirty="0" err="1"/>
              <a:t>dinamicamente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query con VALUES </a:t>
            </a:r>
            <a:r>
              <a:rPr dirty="0" err="1"/>
              <a:t>multipli</a:t>
            </a:r>
            <a:r>
              <a:rPr dirty="0"/>
              <a:t> </a:t>
            </a:r>
            <a:r>
              <a:rPr dirty="0" err="1"/>
              <a:t>concatenati</a:t>
            </a:r>
            <a:r>
              <a:rPr dirty="0"/>
              <a:t>, </a:t>
            </a:r>
            <a:r>
              <a:rPr dirty="0" err="1"/>
              <a:t>trasformando</a:t>
            </a:r>
            <a:r>
              <a:rPr dirty="0"/>
              <a:t> 1000 INSERT in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singola</a:t>
            </a:r>
            <a:r>
              <a:rPr dirty="0"/>
              <a:t> query. I test </a:t>
            </a:r>
            <a:r>
              <a:rPr dirty="0" err="1"/>
              <a:t>mostrano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con 1000 </a:t>
            </a:r>
            <a:r>
              <a:rPr dirty="0" err="1"/>
              <a:t>utenti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passa</a:t>
            </a:r>
            <a:r>
              <a:rPr dirty="0"/>
              <a:t> da 1-2 secondi a circa 20 </a:t>
            </a:r>
            <a:r>
              <a:rPr dirty="0" err="1"/>
              <a:t>millisecondi</a:t>
            </a:r>
            <a:r>
              <a:rPr dirty="0"/>
              <a:t>.</a:t>
            </a:r>
          </a:p>
        </p:txBody>
      </p:sp>
      <p:pic>
        <p:nvPicPr>
          <p:cNvPr id="31" name="Immagine 30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DA92D600-4BEB-F7AE-F4C4-BE2CEC3C3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33" y="807626"/>
            <a:ext cx="2627562" cy="38045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9077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CE42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 2: Initial State Loading Bottleneck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81000" y="714226"/>
            <a:ext cx="85496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con 100+ Conversazioni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1168482"/>
            <a:ext cx="4915989" cy="1413272"/>
          </a:xfrm>
          <a:prstGeom prst="roundRect">
            <a:avLst>
              <a:gd name="adj" fmla="val 421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262807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Problema: Caricamento Completo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4350" y="1487537"/>
            <a:ext cx="8277606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Utente con 100+ conversazioni → Login/Reconnect carica </a:t>
            </a:r>
            <a:r>
              <a:rPr lang="en-US" sz="975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TUTTE</a:t>
            </a: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 conversazioni:</a:t>
            </a:r>
            <a:endParaRPr lang="en-US" sz="975" dirty="0"/>
          </a:p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100+ SELECT conversations</a:t>
            </a:r>
            <a:endParaRPr lang="en-US" sz="975" dirty="0"/>
          </a:p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100+ JOIN participants</a:t>
            </a:r>
            <a:endParaRPr lang="en-US" sz="975" dirty="0"/>
          </a:p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Setup 100+ broadcast subscriptions</a:t>
            </a:r>
            <a:endParaRPr lang="en-US" sz="975" dirty="0"/>
          </a:p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75" b="1" dirty="0" err="1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Risultato</a:t>
            </a:r>
            <a:r>
              <a:rPr lang="en-US" sz="975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Login time &gt;500ms (inaccettabile), DB queries insostenibili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689313"/>
            <a:ext cx="4915989" cy="1191379"/>
          </a:xfrm>
          <a:prstGeom prst="roundRect">
            <a:avLst>
              <a:gd name="adj" fmla="val 565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772817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Soluzione: Lazy Loading (Top 20)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4350" y="2997547"/>
            <a:ext cx="8277606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Carica solo le </a:t>
            </a:r>
            <a:r>
              <a:rPr lang="en-US" sz="975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conversazioni più recenti</a:t>
            </a: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(ORDER BY created_at DESC LIMIT 20).</a:t>
            </a:r>
            <a:endParaRPr lang="en-US" sz="975" dirty="0"/>
          </a:p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Resto caricato </a:t>
            </a:r>
            <a:endParaRPr lang="en-US" sz="975" dirty="0"/>
          </a:p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on-demand</a:t>
            </a: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quando utente scrolla → Pagination.</a:t>
            </a:r>
            <a:endParaRPr lang="en-US" sz="975" dirty="0"/>
          </a:p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UI responsive immediatamente, carico DB ridotto drasticamente.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1000" y="4006936"/>
            <a:ext cx="4915989" cy="844675"/>
          </a:xfrm>
          <a:prstGeom prst="roundRect">
            <a:avLst>
              <a:gd name="adj" fmla="val 477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872" y="4092628"/>
            <a:ext cx="8277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Impact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14350" y="4317504"/>
            <a:ext cx="8277606" cy="47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time:</a:t>
            </a: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500ms → 50ms (10x più veloce)</a:t>
            </a:r>
            <a:endParaRPr lang="en-US" sz="975" dirty="0"/>
          </a:p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queries:</a:t>
            </a: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100+ → 20 (5x </a:t>
            </a:r>
            <a:r>
              <a:rPr lang="en-US" sz="975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riduzione</a:t>
            </a: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975" dirty="0"/>
          </a:p>
        </p:txBody>
      </p:sp>
      <p:sp>
        <p:nvSpPr>
          <p:cNvPr id="13" name="TextBox 12"/>
          <p:cNvSpPr txBox="1"/>
          <p:nvPr/>
        </p:nvSpPr>
        <p:spPr>
          <a:xfrm>
            <a:off x="5507641" y="1145522"/>
            <a:ext cx="356215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rPr dirty="0"/>
              <a:t>Lazy Loading (Top 20)</a:t>
            </a:r>
          </a:p>
          <a:p>
            <a:pPr>
              <a:lnSpc>
                <a:spcPct val="130000"/>
              </a:lnSpc>
              <a:defRPr sz="1300">
                <a:solidFill>
                  <a:srgbClr val="404040"/>
                </a:solidFill>
              </a:defRPr>
            </a:pPr>
            <a:r>
              <a:rPr dirty="0"/>
              <a:t>Quando un </a:t>
            </a:r>
            <a:r>
              <a:rPr dirty="0" err="1"/>
              <a:t>utente</a:t>
            </a:r>
            <a:r>
              <a:rPr dirty="0"/>
              <a:t> con </a:t>
            </a:r>
            <a:r>
              <a:rPr dirty="0" err="1"/>
              <a:t>centinaia</a:t>
            </a:r>
            <a:r>
              <a:rPr dirty="0"/>
              <a:t> di </a:t>
            </a:r>
            <a:r>
              <a:rPr dirty="0" err="1"/>
              <a:t>conversazioni</a:t>
            </a:r>
            <a:r>
              <a:rPr dirty="0"/>
              <a:t> fa login, </a:t>
            </a:r>
            <a:r>
              <a:rPr dirty="0" err="1"/>
              <a:t>caricarle</a:t>
            </a:r>
            <a:r>
              <a:rPr dirty="0"/>
              <a:t> tutte </a:t>
            </a:r>
            <a:r>
              <a:rPr dirty="0" err="1"/>
              <a:t>causerebbe</a:t>
            </a:r>
            <a:r>
              <a:rPr dirty="0"/>
              <a:t> timeout e UI </a:t>
            </a:r>
            <a:r>
              <a:rPr dirty="0" err="1"/>
              <a:t>bloccata</a:t>
            </a:r>
            <a:r>
              <a:rPr dirty="0"/>
              <a:t>. La </a:t>
            </a:r>
            <a:r>
              <a:rPr dirty="0" err="1"/>
              <a:t>soluzione</a:t>
            </a:r>
            <a:r>
              <a:rPr dirty="0"/>
              <a:t> è </a:t>
            </a:r>
            <a:r>
              <a:rPr dirty="0" err="1"/>
              <a:t>caricare</a:t>
            </a:r>
            <a:r>
              <a:rPr dirty="0"/>
              <a:t> solo le 20 </a:t>
            </a:r>
            <a:r>
              <a:rPr dirty="0" err="1"/>
              <a:t>conversazioni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recenti</a:t>
            </a:r>
            <a:r>
              <a:rPr dirty="0"/>
              <a:t> ordinate per ultima </a:t>
            </a:r>
            <a:r>
              <a:rPr dirty="0" err="1"/>
              <a:t>attività</a:t>
            </a:r>
            <a:r>
              <a:rPr dirty="0"/>
              <a:t>. La query </a:t>
            </a:r>
            <a:r>
              <a:rPr dirty="0" err="1"/>
              <a:t>ottimizzata</a:t>
            </a:r>
            <a:r>
              <a:rPr dirty="0"/>
              <a:t> </a:t>
            </a:r>
            <a:r>
              <a:rPr dirty="0" err="1"/>
              <a:t>usa</a:t>
            </a:r>
            <a:r>
              <a:rPr dirty="0"/>
              <a:t> JOIN </a:t>
            </a:r>
            <a:r>
              <a:rPr dirty="0" err="1"/>
              <a:t>invece</a:t>
            </a:r>
            <a:r>
              <a:rPr dirty="0"/>
              <a:t> di subquery, </a:t>
            </a:r>
            <a:r>
              <a:rPr dirty="0" err="1"/>
              <a:t>recuperando</a:t>
            </a:r>
            <a:r>
              <a:rPr dirty="0"/>
              <a:t> in un </a:t>
            </a:r>
            <a:r>
              <a:rPr dirty="0" err="1"/>
              <a:t>colpo</a:t>
            </a:r>
            <a:r>
              <a:rPr dirty="0"/>
              <a:t> solo conversazione, ultimo </a:t>
            </a:r>
            <a:r>
              <a:rPr dirty="0" err="1"/>
              <a:t>messaggio</a:t>
            </a:r>
            <a:r>
              <a:rPr dirty="0"/>
              <a:t> e </a:t>
            </a:r>
            <a:r>
              <a:rPr dirty="0" err="1"/>
              <a:t>membri</a:t>
            </a:r>
            <a:r>
              <a:rPr dirty="0"/>
              <a:t>. Il resto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caricato</a:t>
            </a:r>
            <a:r>
              <a:rPr dirty="0"/>
              <a:t> on-demand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l'utente</a:t>
            </a:r>
            <a:r>
              <a:rPr dirty="0"/>
              <a:t> </a:t>
            </a:r>
            <a:r>
              <a:rPr dirty="0" err="1"/>
              <a:t>scrolla</a:t>
            </a:r>
            <a:r>
              <a:rPr dirty="0"/>
              <a:t>, </a:t>
            </a:r>
            <a:r>
              <a:rPr dirty="0" err="1"/>
              <a:t>implementando</a:t>
            </a:r>
            <a:r>
              <a:rPr dirty="0"/>
              <a:t> pagination </a:t>
            </a:r>
            <a:r>
              <a:rPr dirty="0" err="1"/>
              <a:t>efficace</a:t>
            </a:r>
            <a:r>
              <a:rPr dirty="0"/>
              <a:t>. Il </a:t>
            </a:r>
            <a:r>
              <a:rPr dirty="0" err="1"/>
              <a:t>risultato</a:t>
            </a:r>
            <a:r>
              <a:rPr dirty="0"/>
              <a:t> è </a:t>
            </a:r>
            <a:r>
              <a:rPr dirty="0" err="1"/>
              <a:t>che</a:t>
            </a:r>
            <a:r>
              <a:rPr dirty="0"/>
              <a:t> il login time </a:t>
            </a:r>
            <a:r>
              <a:rPr dirty="0" err="1"/>
              <a:t>passa</a:t>
            </a:r>
            <a:r>
              <a:rPr dirty="0"/>
              <a:t> da </a:t>
            </a:r>
            <a:r>
              <a:rPr dirty="0" err="1"/>
              <a:t>oltre</a:t>
            </a:r>
            <a:r>
              <a:rPr dirty="0"/>
              <a:t> 500ms a circa 10-30ms, con un </a:t>
            </a:r>
            <a:r>
              <a:rPr dirty="0" err="1"/>
              <a:t>numero</a:t>
            </a:r>
            <a:r>
              <a:rPr dirty="0"/>
              <a:t> di query ridotto di 5 volte.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E4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2687" y="1960364"/>
            <a:ext cx="2138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Grazie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136231" y="2665214"/>
            <a:ext cx="28715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136231" y="3152775"/>
            <a:ext cx="28715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Politecnico di Torino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2740</Words>
  <Application>Microsoft Office PowerPoint</Application>
  <PresentationFormat>Presentazione su schermo (16:9)</PresentationFormat>
  <Paragraphs>158</Paragraphs>
  <Slides>25</Slides>
  <Notes>25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28" baseType="lpstr">
      <vt:lpstr>Arial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Pedalino  Alberto</cp:lastModifiedBy>
  <cp:revision>11</cp:revision>
  <dcterms:created xsi:type="dcterms:W3CDTF">2025-12-24T00:59:56Z</dcterms:created>
  <dcterms:modified xsi:type="dcterms:W3CDTF">2026-01-07T17:30:58Z</dcterms:modified>
</cp:coreProperties>
</file>