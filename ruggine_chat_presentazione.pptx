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2" r:id="rId3"/>
    <p:sldId id="283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6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731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0630" y="1211759"/>
            <a:ext cx="36625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Rust Ruggine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567178" y="1916609"/>
            <a:ext cx="6009644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Applicazione di Messaggistica Real-Time</a:t>
            </a:r>
            <a:endParaRPr lang="en-US" sz="2550" dirty="0"/>
          </a:p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Architettura Client-Server in Rust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1567178" y="3387030"/>
            <a:ext cx="60096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87bc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880392"/>
            <a:ext cx="428238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403771" y="971772"/>
            <a:ext cx="4049542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HTTP</a:t>
            </a:r>
            <a:endParaRPr lang="en-US" sz="1140" dirty="0"/>
          </a:p>
        </p:txBody>
      </p:sp>
      <p:sp>
        <p:nvSpPr>
          <p:cNvPr id="4" name="Text 1"/>
          <p:cNvSpPr/>
          <p:nvPr/>
        </p:nvSpPr>
        <p:spPr>
          <a:xfrm>
            <a:off x="403771" y="1220167"/>
            <a:ext cx="404954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Router + Middleware | REST endpoints</a:t>
            </a:r>
            <a:endParaRPr lang="en-US" sz="900" dirty="0"/>
          </a:p>
        </p:txBody>
      </p:sp>
      <p:pic>
        <p:nvPicPr>
          <p:cNvPr id="5" name="Image 1" descr="/tmp/rasterized-gradient-f77cc0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871" y="880392"/>
            <a:ext cx="4282529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808041" y="971772"/>
            <a:ext cx="4049694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WebSocket</a:t>
            </a:r>
            <a:endParaRPr lang="en-US" sz="1140" dirty="0"/>
          </a:p>
        </p:txBody>
      </p:sp>
      <p:sp>
        <p:nvSpPr>
          <p:cNvPr id="7" name="Text 3"/>
          <p:cNvSpPr/>
          <p:nvPr/>
        </p:nvSpPr>
        <p:spPr>
          <a:xfrm>
            <a:off x="4808041" y="1220167"/>
            <a:ext cx="404969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Upgrade Path | Actor Pattern (Reader/Writer/Receiver)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41732" y="1509488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9" name="Image 2" descr="/tmp/rasterized-gradient-067069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692249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403771" y="1783630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Controllers (HTTP/WS)</a:t>
            </a:r>
            <a:endParaRPr lang="en-US" sz="1140" dirty="0"/>
          </a:p>
        </p:txBody>
      </p:sp>
      <p:sp>
        <p:nvSpPr>
          <p:cNvPr id="11" name="Text 6"/>
          <p:cNvSpPr/>
          <p:nvPr/>
        </p:nvSpPr>
        <p:spPr>
          <a:xfrm>
            <a:off x="403771" y="2032024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 UserController, MessageController, ConversationController | WebSocket: ws_entrypoint, ConnectionActor, handlers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41732" y="2321346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3" name="Image 3" descr="/tmp/rasterized-gradient-6f7eca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504107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4" name="Text 8"/>
          <p:cNvSpPr/>
          <p:nvPr/>
        </p:nvSpPr>
        <p:spPr>
          <a:xfrm>
            <a:off x="403771" y="2595487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Services (Business Logic) - CONDIVISI</a:t>
            </a:r>
            <a:endParaRPr lang="en-US" sz="1140" dirty="0"/>
          </a:p>
        </p:txBody>
      </p:sp>
      <p:sp>
        <p:nvSpPr>
          <p:cNvPr id="15" name="Text 9"/>
          <p:cNvSpPr/>
          <p:nvPr/>
        </p:nvSpPr>
        <p:spPr>
          <a:xfrm>
            <a:off x="403771" y="2843881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MessageService, ConversationService, UserService, ParticipantService | Orchestrazione repository, validazione business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41732" y="3133203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7" name="Image 4" descr="/tmp/rasterized-gradient-a12e6ab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315964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8" name="Text 11"/>
          <p:cNvSpPr/>
          <p:nvPr/>
        </p:nvSpPr>
        <p:spPr>
          <a:xfrm>
            <a:off x="403771" y="3407345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Repositories (Data Access) - CONDIVISI</a:t>
            </a:r>
            <a:endParaRPr lang="en-US" sz="1140" dirty="0"/>
          </a:p>
        </p:txBody>
      </p:sp>
      <p:sp>
        <p:nvSpPr>
          <p:cNvPr id="19" name="Text 12"/>
          <p:cNvSpPr/>
          <p:nvPr/>
        </p:nvSpPr>
        <p:spPr>
          <a:xfrm>
            <a:off x="403771" y="3655739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MessageRepo, ConversationRepo, UserRepo, ParticipantRepo | Query SQL, mapping row → struct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41732" y="3945061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21" name="Image 5" descr="/tmp/rasterized-gradient-4c3cae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127822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22" name="Text 14"/>
          <p:cNvSpPr/>
          <p:nvPr/>
        </p:nvSpPr>
        <p:spPr>
          <a:xfrm>
            <a:off x="403771" y="4219202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Database (SQLite + WAL)</a:t>
            </a:r>
            <a:endParaRPr lang="en-US" sz="1140" dirty="0"/>
          </a:p>
        </p:txBody>
      </p:sp>
      <p:sp>
        <p:nvSpPr>
          <p:cNvPr id="23" name="Text 15"/>
          <p:cNvSpPr/>
          <p:nvPr/>
        </p:nvSpPr>
        <p:spPr>
          <a:xfrm>
            <a:off x="403771" y="4467596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| conversations | participants | messages | message_sequences | user_events | user_sequences</a:t>
            </a:r>
            <a:endParaRPr lang="en-US" sz="9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757AD6E2-6DDC-621F-DE35-CB61D31766F3}"/>
              </a:ext>
            </a:extLst>
          </p:cNvPr>
          <p:cNvSpPr/>
          <p:nvPr/>
        </p:nvSpPr>
        <p:spPr>
          <a:xfrm>
            <a:off x="381000" y="228600"/>
            <a:ext cx="494519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Pattern Architetturale</a:t>
            </a:r>
            <a:endParaRPr lang="en-US" sz="2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28600"/>
            <a:ext cx="4439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720"/>
              </a:spcAft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Pattern Architetturale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28600" y="548580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242888" y="548580"/>
            <a:ext cx="0" cy="459730"/>
          </a:xfrm>
          <a:prstGeom prst="line">
            <a:avLst/>
          </a:prstGeom>
          <a:noFill/>
          <a:ln w="2857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63736" y="617041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Layer</a:t>
            </a:r>
            <a:endParaRPr lang="en-US" sz="960" dirty="0"/>
          </a:p>
        </p:txBody>
      </p:sp>
      <p:sp>
        <p:nvSpPr>
          <p:cNvPr id="6" name="Text 4"/>
          <p:cNvSpPr/>
          <p:nvPr/>
        </p:nvSpPr>
        <p:spPr>
          <a:xfrm>
            <a:off x="363736" y="810369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(Immediate Mode GUI) | Render functions (~60Hz)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85928" y="1061591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228600" y="1175742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42888" y="1175742"/>
            <a:ext cx="0" cy="459730"/>
          </a:xfrm>
          <a:prstGeom prst="line">
            <a:avLst/>
          </a:prstGeom>
          <a:noFill/>
          <a:ln w="2857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3736" y="1244203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 (Router)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63736" y="1437531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 → Route handlers</a:t>
            </a:r>
            <a:endParaRPr lang="en-US" sz="816" dirty="0"/>
          </a:p>
        </p:txBody>
      </p:sp>
      <p:sp>
        <p:nvSpPr>
          <p:cNvPr id="12" name="Text 10"/>
          <p:cNvSpPr/>
          <p:nvPr/>
        </p:nvSpPr>
        <p:spPr>
          <a:xfrm>
            <a:off x="185928" y="1688753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228600" y="1802904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42888" y="1802904"/>
            <a:ext cx="0" cy="459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63736" y="1871365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Handlers (Business)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363736" y="2064693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Mutano AppState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85928" y="2315914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228600" y="2430066"/>
            <a:ext cx="4267200" cy="673298"/>
          </a:xfrm>
          <a:prstGeom prst="roundRect">
            <a:avLst>
              <a:gd name="adj" fmla="val 5659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42888" y="2430066"/>
            <a:ext cx="0" cy="673298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25636" y="2498527"/>
            <a:ext cx="2020342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1326" y="2544217"/>
            <a:ext cx="1967541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AppState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(Single Truth)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371326" y="2856905"/>
            <a:ext cx="1967541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centralizzato</a:t>
            </a:r>
            <a:endParaRPr lang="en-US" sz="744" dirty="0"/>
          </a:p>
        </p:txBody>
      </p:sp>
      <p:sp>
        <p:nvSpPr>
          <p:cNvPr id="23" name="Text 21"/>
          <p:cNvSpPr/>
          <p:nvPr/>
        </p:nvSpPr>
        <p:spPr>
          <a:xfrm>
            <a:off x="2406848" y="2498527"/>
            <a:ext cx="2020491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52539" y="2544217"/>
            <a:ext cx="1967692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ui_to_net_tx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(UI → Network)</a:t>
            </a:r>
            <a:endParaRPr lang="en-US" sz="816" dirty="0"/>
          </a:p>
        </p:txBody>
      </p:sp>
      <p:sp>
        <p:nvSpPr>
          <p:cNvPr id="25" name="Text 23"/>
          <p:cNvSpPr/>
          <p:nvPr/>
        </p:nvSpPr>
        <p:spPr>
          <a:xfrm>
            <a:off x="2452539" y="2856905"/>
            <a:ext cx="1967692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al backend</a:t>
            </a:r>
            <a:endParaRPr lang="en-US" sz="744" dirty="0"/>
          </a:p>
        </p:txBody>
      </p:sp>
      <p:sp>
        <p:nvSpPr>
          <p:cNvPr id="26" name="Text 24"/>
          <p:cNvSpPr/>
          <p:nvPr/>
        </p:nvSpPr>
        <p:spPr>
          <a:xfrm>
            <a:off x="185928" y="3156645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228600" y="3270796"/>
            <a:ext cx="4267200" cy="589211"/>
          </a:xfrm>
          <a:prstGeom prst="roundRect">
            <a:avLst>
              <a:gd name="adj" fmla="val 646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42888" y="3270796"/>
            <a:ext cx="0" cy="589211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63736" y="3339257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 (Networking)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63736" y="3532584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Riceve WS dal backend | Spacchetta messaggi | Invia UiEvent via ui_tx | Lifecycle + health</a:t>
            </a:r>
            <a:endParaRPr lang="en-US" sz="816" dirty="0"/>
          </a:p>
        </p:txBody>
      </p:sp>
      <p:sp>
        <p:nvSpPr>
          <p:cNvPr id="31" name="Text 29"/>
          <p:cNvSpPr/>
          <p:nvPr/>
        </p:nvSpPr>
        <p:spPr>
          <a:xfrm>
            <a:off x="185928" y="3913287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pic>
        <p:nvPicPr>
          <p:cNvPr id="32" name="Image 0" descr="/tmp/rasterized-gradient-96f056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27438"/>
            <a:ext cx="4267200" cy="589211"/>
          </a:xfrm>
          <a:prstGeom prst="rect">
            <a:avLst/>
          </a:prstGeom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33" name="Text 30"/>
          <p:cNvSpPr/>
          <p:nvPr/>
        </p:nvSpPr>
        <p:spPr>
          <a:xfrm>
            <a:off x="363736" y="4095899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 (reqwest async)</a:t>
            </a:r>
            <a:endParaRPr lang="en-US" sz="960" dirty="0"/>
          </a:p>
        </p:txBody>
      </p:sp>
      <p:sp>
        <p:nvSpPr>
          <p:cNvPr id="34" name="Text 31"/>
          <p:cNvSpPr/>
          <p:nvPr/>
        </p:nvSpPr>
        <p:spPr>
          <a:xfrm>
            <a:off x="363736" y="4289227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Register, Logout | Fetch conversations &amp; messages (pagination) | Request/Response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4648200" y="548580"/>
            <a:ext cx="4352544" cy="234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8"/>
              </a:lnSpc>
              <a:spcAft>
                <a:spcPts val="360"/>
              </a:spcAft>
              <a:buNone/>
            </a:pPr>
            <a:r>
              <a:rPr lang="en-US" sz="132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Architecture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4648200" y="905024"/>
            <a:ext cx="4352544" cy="31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event-driven con WebSocketManager (real-time persistente) e HTTP API (async request/response).</a:t>
            </a:r>
            <a:endParaRPr lang="en-US" sz="960" dirty="0"/>
          </a:p>
        </p:txBody>
      </p:sp>
      <p:sp>
        <p:nvSpPr>
          <p:cNvPr id="37" name="Text 34"/>
          <p:cNvSpPr/>
          <p:nvPr/>
        </p:nvSpPr>
        <p:spPr>
          <a:xfrm>
            <a:off x="4648200" y="1374130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5"/>
          <p:cNvSpPr/>
          <p:nvPr/>
        </p:nvSpPr>
        <p:spPr>
          <a:xfrm>
            <a:off x="4662488" y="1374130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6"/>
          <p:cNvSpPr/>
          <p:nvPr/>
        </p:nvSpPr>
        <p:spPr>
          <a:xfrm>
            <a:off x="4752975" y="1450330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WebSocketManager: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2975" y="1640681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networking real-time. Riceve dati backend via WS, deserializza JSON, invia UiEvent via ui_tx. Gestisce lifecycle + health.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4648200" y="2062163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62488" y="2062163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0"/>
          <p:cNvSpPr/>
          <p:nvPr/>
        </p:nvSpPr>
        <p:spPr>
          <a:xfrm>
            <a:off x="4752975" y="2138363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API: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752975" y="2328714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async request/response: auth (login, register, logout), fetch conversations paginate, fetch messages. Usa reqwest async.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4648200" y="2750195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4662488" y="2750195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4"/>
          <p:cNvSpPr/>
          <p:nvPr/>
        </p:nvSpPr>
        <p:spPr>
          <a:xfrm>
            <a:off x="4752975" y="2826395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EventDispatcher: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4752975" y="3016746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ui_rx, route a handler specializzato.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4648200" y="3303687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7"/>
          <p:cNvSpPr/>
          <p:nvPr/>
        </p:nvSpPr>
        <p:spPr>
          <a:xfrm>
            <a:off x="4662488" y="3303687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8"/>
          <p:cNvSpPr/>
          <p:nvPr/>
        </p:nvSpPr>
        <p:spPr>
          <a:xfrm>
            <a:off x="4752975" y="3379887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4752975" y="3570238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mutano AppState, inviano comandi a ui_to_net_tx.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7411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Axum: Web Framework Async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1572964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Framework Web Built on Tokio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Axum 0.7 è il framework web che gestisce tutte le comunicazioni HTTP del backend. Definisce gli endpoint REST per login e registrazione degli utenti, oltre alla gestione delle conversazioni. Il router è organizzato a layer: ogni richiesta passa attraverso middleware per l'autenticazione JWT, la gestione CORS e il logging. Quando arriva una richiesta WebSocket, il middleware WebSocketUpgrade converte la connessione HTTP in un canale bidirezionale persistente.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561F439-6CC6-FBB2-EE10-AF00B2AAF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56" y="1317587"/>
            <a:ext cx="2922220" cy="2810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835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Tokio + Tungstenite: Async Runtime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4667250" y="1372939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Multi-threaded Async Runtime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Tokio è il motore asincrono che fa girare tutto il sistema, sia </a:t>
            </a:r>
            <a:r>
              <a:rPr lang="it-IT" sz="1300" dirty="0" err="1"/>
              <a:t>backend</a:t>
            </a:r>
            <a:r>
              <a:rPr lang="it-IT" sz="1300" dirty="0"/>
              <a:t> che </a:t>
            </a:r>
            <a:r>
              <a:rPr lang="it-IT" sz="1300" dirty="0" err="1"/>
              <a:t>frontend</a:t>
            </a:r>
            <a:r>
              <a:rPr lang="it-IT" sz="1300" dirty="0"/>
              <a:t>. Nel </a:t>
            </a:r>
            <a:r>
              <a:rPr lang="it-IT" sz="1300" dirty="0" err="1"/>
              <a:t>backend</a:t>
            </a:r>
            <a:r>
              <a:rPr lang="it-IT" sz="1300" dirty="0"/>
              <a:t>, ogni nuova connessione </a:t>
            </a:r>
            <a:r>
              <a:rPr lang="it-IT" sz="1300" dirty="0" err="1"/>
              <a:t>WebSocket</a:t>
            </a:r>
            <a:r>
              <a:rPr lang="it-IT" sz="1300" dirty="0"/>
              <a:t> crea tre task concorrenti che lavorano in parallelo: uno per scrivere messaggi al client, uno per leggere i suoi input, e uno per gestire le notifiche broadcast. Il </a:t>
            </a:r>
            <a:r>
              <a:rPr lang="it-IT" sz="1300" dirty="0" err="1"/>
              <a:t>Receiver</a:t>
            </a:r>
            <a:r>
              <a:rPr lang="it-IT" sz="1300" dirty="0"/>
              <a:t> </a:t>
            </a:r>
            <a:r>
              <a:rPr lang="it-IT" sz="1300" dirty="0" err="1"/>
              <a:t>spawna</a:t>
            </a:r>
            <a:r>
              <a:rPr lang="it-IT" sz="1300" dirty="0"/>
              <a:t> un task per ogni conversazione attiva dell'utente. Nel </a:t>
            </a:r>
            <a:r>
              <a:rPr lang="it-IT" sz="1300" dirty="0" err="1"/>
              <a:t>frontend</a:t>
            </a:r>
            <a:r>
              <a:rPr lang="it-IT" sz="1300" dirty="0"/>
              <a:t>, Tokio gestisce la connessione client verso il server usando </a:t>
            </a:r>
            <a:r>
              <a:rPr lang="it-IT" sz="1300" dirty="0" err="1"/>
              <a:t>tokio-tungstenite</a:t>
            </a:r>
            <a:r>
              <a:rPr lang="it-IT" sz="1300" dirty="0"/>
              <a:t>. Il sistema usa </a:t>
            </a:r>
            <a:r>
              <a:rPr lang="it-IT" sz="1300" dirty="0" err="1"/>
              <a:t>primitives</a:t>
            </a:r>
            <a:r>
              <a:rPr lang="it-IT" sz="1300" dirty="0"/>
              <a:t> come </a:t>
            </a:r>
            <a:r>
              <a:rPr lang="it-IT" sz="1300" dirty="0" err="1"/>
              <a:t>select</a:t>
            </a:r>
            <a:r>
              <a:rPr lang="it-IT" sz="1300" dirty="0"/>
              <a:t>! per gestire eventi multipli simultaneamente e </a:t>
            </a:r>
            <a:r>
              <a:rPr lang="it-IT" sz="1300" dirty="0" err="1"/>
              <a:t>interval</a:t>
            </a:r>
            <a:r>
              <a:rPr lang="it-IT" sz="1300" dirty="0"/>
              <a:t> per operazioni periodiche come gli </a:t>
            </a:r>
            <a:r>
              <a:rPr lang="it-IT" sz="1300" dirty="0" err="1"/>
              <a:t>heartbeat</a:t>
            </a:r>
            <a:r>
              <a:rPr lang="it-IT" sz="1300" dirty="0"/>
              <a:t>.</a:t>
            </a:r>
            <a:endParaRPr dirty="0"/>
          </a:p>
        </p:txBody>
      </p:sp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2BA32ED-D9FF-5E7E-EB05-C9ADA3FB5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9" y="976616"/>
            <a:ext cx="3020758" cy="3570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5281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WebSocket Actor Pattern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2" y="1069066"/>
            <a:ext cx="4095750" cy="3845834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3 Task </a:t>
            </a:r>
            <a:r>
              <a:rPr dirty="0" err="1"/>
              <a:t>Concorrenti</a:t>
            </a:r>
            <a:r>
              <a:rPr dirty="0"/>
              <a:t> per </a:t>
            </a:r>
            <a:r>
              <a:rPr dirty="0" err="1"/>
              <a:t>Connessione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Ogni </a:t>
            </a:r>
            <a:r>
              <a:rPr dirty="0" err="1"/>
              <a:t>connessione</a:t>
            </a:r>
            <a:r>
              <a:rPr dirty="0"/>
              <a:t> WebSocket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gestita</a:t>
            </a:r>
            <a:r>
              <a:rPr dirty="0"/>
              <a:t> da un Actor Pattern con </a:t>
            </a:r>
            <a:r>
              <a:rPr dirty="0" err="1"/>
              <a:t>tre</a:t>
            </a:r>
            <a:r>
              <a:rPr dirty="0"/>
              <a:t> task </a:t>
            </a:r>
            <a:r>
              <a:rPr dirty="0" err="1"/>
              <a:t>separati</a:t>
            </a:r>
            <a:r>
              <a:rPr dirty="0"/>
              <a:t>. Quando un client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connette</a:t>
            </a:r>
            <a:r>
              <a:rPr dirty="0"/>
              <a:t>, il 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in due </a:t>
            </a:r>
            <a:r>
              <a:rPr dirty="0" err="1"/>
              <a:t>metà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scrivere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leggere</a:t>
            </a:r>
            <a:r>
              <a:rPr dirty="0"/>
              <a:t>. Il Writer Task è </a:t>
            </a:r>
            <a:r>
              <a:rPr dirty="0" err="1"/>
              <a:t>l'unico</a:t>
            </a:r>
            <a:r>
              <a:rPr dirty="0"/>
              <a:t> </a:t>
            </a:r>
            <a:r>
              <a:rPr dirty="0" err="1"/>
              <a:t>proprietario</a:t>
            </a:r>
            <a:r>
              <a:rPr dirty="0"/>
              <a:t> della </a:t>
            </a:r>
            <a:r>
              <a:rPr dirty="0" err="1"/>
              <a:t>metà</a:t>
            </a:r>
            <a:r>
              <a:rPr dirty="0"/>
              <a:t> di </a:t>
            </a:r>
            <a:r>
              <a:rPr dirty="0" err="1"/>
              <a:t>scrittura</a:t>
            </a:r>
            <a:r>
              <a:rPr dirty="0"/>
              <a:t> e </a:t>
            </a:r>
            <a:r>
              <a:rPr dirty="0" err="1"/>
              <a:t>invia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al client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</a:t>
            </a:r>
            <a:r>
              <a:rPr dirty="0" err="1"/>
              <a:t>qualcosa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out_rx</a:t>
            </a:r>
            <a:r>
              <a:rPr dirty="0"/>
              <a:t>, </a:t>
            </a:r>
            <a:r>
              <a:rPr dirty="0" err="1"/>
              <a:t>inoltre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ping ogni 30 secondi con </a:t>
            </a:r>
            <a:r>
              <a:rPr dirty="0" err="1"/>
              <a:t>ritardo</a:t>
            </a:r>
            <a:r>
              <a:rPr dirty="0"/>
              <a:t> </a:t>
            </a:r>
            <a:r>
              <a:rPr dirty="0" err="1"/>
              <a:t>casuale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picchi</a:t>
            </a:r>
            <a:r>
              <a:rPr dirty="0"/>
              <a:t> di </a:t>
            </a:r>
            <a:r>
              <a:rPr dirty="0" err="1"/>
              <a:t>traffico</a:t>
            </a:r>
            <a:r>
              <a:rPr dirty="0"/>
              <a:t>. Il Reader Task </a:t>
            </a:r>
            <a:r>
              <a:rPr dirty="0" err="1"/>
              <a:t>legge</a:t>
            </a:r>
            <a:r>
              <a:rPr lang="it-IT" dirty="0"/>
              <a:t> </a:t>
            </a:r>
            <a:r>
              <a:rPr dirty="0" err="1"/>
              <a:t>continuamente</a:t>
            </a:r>
            <a:r>
              <a:rPr dirty="0"/>
              <a:t> dal socket,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in </a:t>
            </a:r>
            <a:r>
              <a:rPr dirty="0" err="1"/>
              <a:t>arrivo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rate limiting di 60 </a:t>
            </a:r>
            <a:r>
              <a:rPr dirty="0" err="1"/>
              <a:t>messaggi</a:t>
            </a:r>
            <a:r>
              <a:rPr dirty="0"/>
              <a:t> al </a:t>
            </a:r>
            <a:r>
              <a:rPr dirty="0" err="1"/>
              <a:t>minuto</a:t>
            </a:r>
            <a:r>
              <a:rPr dirty="0"/>
              <a:t>. Il Receiver Task fa da </a:t>
            </a:r>
            <a:r>
              <a:rPr dirty="0" err="1"/>
              <a:t>ponte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broadcast channels e il Writer, </a:t>
            </a:r>
            <a:r>
              <a:rPr dirty="0" err="1"/>
              <a:t>unendo</a:t>
            </a:r>
            <a:r>
              <a:rPr dirty="0"/>
              <a:t>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personali</a:t>
            </a:r>
            <a:r>
              <a:rPr dirty="0"/>
              <a:t> </a:t>
            </a:r>
            <a:r>
              <a:rPr dirty="0" err="1"/>
              <a:t>dell'utente</a:t>
            </a:r>
            <a:r>
              <a:rPr dirty="0"/>
              <a:t> e </a:t>
            </a:r>
            <a:r>
              <a:rPr dirty="0" err="1"/>
              <a:t>messaggi</a:t>
            </a:r>
            <a:r>
              <a:rPr dirty="0"/>
              <a:t> delle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F1D5F40-B780-C886-50DF-5FF699E53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6" y="1436915"/>
            <a:ext cx="2799798" cy="28561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509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AppState - Strutture Dati Canali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855617"/>
            <a:ext cx="4095750" cy="4199709"/>
          </a:xfrm>
          <a:prstGeom prst="roundRect">
            <a:avLst>
              <a:gd name="adj" fmla="val 5292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Storage Backend Broadcast Channels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backend </a:t>
            </a:r>
            <a:r>
              <a:rPr dirty="0" err="1"/>
              <a:t>mantiene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condiviso</a:t>
            </a:r>
            <a:r>
              <a:rPr dirty="0"/>
              <a:t> in </a:t>
            </a:r>
            <a:r>
              <a:rPr dirty="0" err="1"/>
              <a:t>AppState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struttura</a:t>
            </a:r>
            <a:r>
              <a:rPr dirty="0"/>
              <a:t> thread-safe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tutte le </a:t>
            </a:r>
            <a:r>
              <a:rPr dirty="0" err="1"/>
              <a:t>informazioni</a:t>
            </a:r>
            <a:r>
              <a:rPr dirty="0"/>
              <a:t> </a:t>
            </a:r>
            <a:r>
              <a:rPr dirty="0" err="1"/>
              <a:t>sulle</a:t>
            </a:r>
            <a:r>
              <a:rPr dirty="0"/>
              <a:t>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 I broadcast channels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organizzati</a:t>
            </a:r>
            <a:r>
              <a:rPr dirty="0"/>
              <a:t> in due HashMap: uno per le </a:t>
            </a:r>
            <a:r>
              <a:rPr dirty="0" err="1"/>
              <a:t>notifiche</a:t>
            </a:r>
            <a:r>
              <a:rPr lang="it-IT" dirty="0"/>
              <a:t> </a:t>
            </a:r>
            <a:r>
              <a:rPr dirty="0" err="1"/>
              <a:t>personali</a:t>
            </a:r>
            <a:r>
              <a:rPr dirty="0"/>
              <a:t> di ogni </a:t>
            </a:r>
            <a:r>
              <a:rPr dirty="0" err="1"/>
              <a:t>utente</a:t>
            </a:r>
            <a:r>
              <a:rPr dirty="0"/>
              <a:t> e uno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di ogni conversazione. </a:t>
            </a:r>
            <a:r>
              <a:rPr dirty="0" err="1"/>
              <a:t>Questi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 e </a:t>
            </a:r>
            <a:r>
              <a:rPr dirty="0" err="1"/>
              <a:t>permettono</a:t>
            </a:r>
            <a:r>
              <a:rPr dirty="0"/>
              <a:t> di </a:t>
            </a:r>
            <a:r>
              <a:rPr dirty="0" err="1"/>
              <a:t>inviare</a:t>
            </a:r>
            <a:r>
              <a:rPr dirty="0"/>
              <a:t> aggiornamenti in tempo </a:t>
            </a:r>
            <a:r>
              <a:rPr dirty="0" err="1"/>
              <a:t>reale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partecipanti</a:t>
            </a:r>
            <a:r>
              <a:rPr dirty="0"/>
              <a:t>. Ogni </a:t>
            </a:r>
            <a:r>
              <a:rPr dirty="0" err="1"/>
              <a:t>connessione</a:t>
            </a:r>
            <a:r>
              <a:rPr dirty="0"/>
              <a:t> è </a:t>
            </a:r>
            <a:r>
              <a:rPr dirty="0" err="1"/>
              <a:t>tracciata</a:t>
            </a:r>
            <a:r>
              <a:rPr dirty="0"/>
              <a:t> con un </a:t>
            </a:r>
            <a:r>
              <a:rPr lang="it-IT" dirty="0" err="1"/>
              <a:t>ActiveConnection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di </a:t>
            </a:r>
            <a:r>
              <a:rPr dirty="0" err="1"/>
              <a:t>sessione</a:t>
            </a:r>
            <a:r>
              <a:rPr dirty="0"/>
              <a:t> per </a:t>
            </a:r>
            <a:r>
              <a:rPr lang="it-IT" dirty="0"/>
              <a:t>gestire</a:t>
            </a:r>
            <a:r>
              <a:rPr dirty="0"/>
              <a:t> login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dallo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account, 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per </a:t>
            </a:r>
            <a:r>
              <a:rPr dirty="0" err="1"/>
              <a:t>comunicare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con il Writer Task.</a:t>
            </a:r>
          </a:p>
        </p:txBody>
      </p:sp>
      <p:pic>
        <p:nvPicPr>
          <p:cNvPr id="24" name="Immagine 2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309264-3967-8414-843A-919C3649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37" y="1287743"/>
            <a:ext cx="3310429" cy="30425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3553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Broadcast Channels - Creazione &amp; Delivery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4804410" y="752475"/>
            <a:ext cx="4095750" cy="3695700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Lazy Creation + O(1) Delivery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broadcast channels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in modo lazy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, </a:t>
            </a:r>
            <a:r>
              <a:rPr dirty="0" err="1"/>
              <a:t>usando</a:t>
            </a:r>
            <a:r>
              <a:rPr dirty="0"/>
              <a:t> un pattern di double-check locking per </a:t>
            </a:r>
            <a:r>
              <a:rPr dirty="0" err="1"/>
              <a:t>ottimizzare</a:t>
            </a:r>
            <a:r>
              <a:rPr dirty="0"/>
              <a:t> le performance. Quando serve un </a:t>
            </a:r>
            <a:r>
              <a:rPr dirty="0" err="1"/>
              <a:t>canale</a:t>
            </a:r>
            <a:r>
              <a:rPr dirty="0"/>
              <a:t>, il s</a:t>
            </a:r>
            <a:r>
              <a:rPr lang="it-IT" dirty="0"/>
              <a:t>i</a:t>
            </a:r>
            <a:r>
              <a:rPr dirty="0" err="1"/>
              <a:t>stema</a:t>
            </a:r>
            <a:r>
              <a:rPr dirty="0"/>
              <a:t> prima </a:t>
            </a:r>
            <a:r>
              <a:rPr dirty="0" err="1"/>
              <a:t>controlla</a:t>
            </a:r>
            <a:r>
              <a:rPr dirty="0"/>
              <a:t> se </a:t>
            </a:r>
            <a:r>
              <a:rPr dirty="0" err="1"/>
              <a:t>esiste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con un lock di </a:t>
            </a:r>
            <a:r>
              <a:rPr dirty="0" err="1"/>
              <a:t>lettura</a:t>
            </a:r>
            <a:r>
              <a:rPr dirty="0"/>
              <a:t> veloce. Se non </a:t>
            </a:r>
            <a:r>
              <a:rPr dirty="0" err="1"/>
              <a:t>c'è</a:t>
            </a:r>
            <a:r>
              <a:rPr dirty="0"/>
              <a:t>, </a:t>
            </a:r>
            <a:r>
              <a:rPr dirty="0" err="1"/>
              <a:t>acquisisce</a:t>
            </a:r>
            <a:r>
              <a:rPr dirty="0"/>
              <a:t> un lock di </a:t>
            </a:r>
            <a:r>
              <a:rPr dirty="0" err="1"/>
              <a:t>scrittura</a:t>
            </a:r>
            <a:r>
              <a:rPr dirty="0"/>
              <a:t> e lo </a:t>
            </a:r>
            <a:r>
              <a:rPr dirty="0" err="1"/>
              <a:t>crea</a:t>
            </a:r>
            <a:r>
              <a:rPr dirty="0"/>
              <a:t>. Ogni channel ha un buffer </a:t>
            </a:r>
            <a:r>
              <a:rPr dirty="0" err="1"/>
              <a:t>circolare</a:t>
            </a:r>
            <a:r>
              <a:rPr dirty="0"/>
              <a:t> di 1024</a:t>
            </a:r>
            <a:r>
              <a:rPr lang="it-IT" dirty="0"/>
              <a:t> </a:t>
            </a:r>
            <a:r>
              <a:rPr dirty="0" err="1"/>
              <a:t>messaggi</a:t>
            </a:r>
            <a:r>
              <a:rPr dirty="0"/>
              <a:t> e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clonato</a:t>
            </a:r>
            <a:r>
              <a:rPr dirty="0"/>
              <a:t> a basso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grazie</a:t>
            </a:r>
            <a:r>
              <a:rPr dirty="0"/>
              <a:t> a Arc </a:t>
            </a:r>
            <a:r>
              <a:rPr dirty="0" err="1"/>
              <a:t>interno</a:t>
            </a:r>
            <a:r>
              <a:rPr dirty="0"/>
              <a:t>. Il broadcast verso </a:t>
            </a:r>
            <a:r>
              <a:rPr dirty="0" err="1"/>
              <a:t>una</a:t>
            </a:r>
            <a:r>
              <a:rPr dirty="0"/>
              <a:t> conversazione è O(1): un </a:t>
            </a:r>
            <a:r>
              <a:rPr dirty="0" err="1"/>
              <a:t>singolo</a:t>
            </a:r>
            <a:r>
              <a:rPr dirty="0"/>
              <a:t> send() </a:t>
            </a:r>
            <a:r>
              <a:rPr dirty="0" err="1"/>
              <a:t>distribuisce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receiver </a:t>
            </a:r>
            <a:r>
              <a:rPr dirty="0" err="1"/>
              <a:t>attivi</a:t>
            </a:r>
            <a:r>
              <a:rPr dirty="0"/>
              <a:t>, </a:t>
            </a:r>
            <a:r>
              <a:rPr dirty="0" err="1"/>
              <a:t>indipendentemente</a:t>
            </a:r>
            <a:r>
              <a:rPr dirty="0"/>
              <a:t> dal loro </a:t>
            </a:r>
            <a:r>
              <a:rPr dirty="0" err="1"/>
              <a:t>numero</a:t>
            </a:r>
            <a:r>
              <a:rPr dirty="0"/>
              <a:t>.</a:t>
            </a:r>
          </a:p>
        </p:txBody>
      </p:sp>
      <p:pic>
        <p:nvPicPr>
          <p:cNvPr id="30" name="Immagine 29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89DECB8-D029-C942-8BE4-E80F77C6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27" y="982003"/>
            <a:ext cx="2997356" cy="36621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951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Dual Sequencing - Implementation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4778284" y="813163"/>
            <a:ext cx="4095750" cy="4101737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Due Livelli di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Atomiche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due </a:t>
            </a:r>
            <a:r>
              <a:rPr dirty="0" err="1"/>
              <a:t>livelli</a:t>
            </a:r>
            <a:r>
              <a:rPr dirty="0"/>
              <a:t> di </a:t>
            </a:r>
            <a:r>
              <a:rPr dirty="0" err="1"/>
              <a:t>sequenze</a:t>
            </a:r>
            <a:r>
              <a:rPr dirty="0"/>
              <a:t> per </a:t>
            </a:r>
            <a:r>
              <a:rPr dirty="0" err="1"/>
              <a:t>garantire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. Ogni </a:t>
            </a:r>
            <a:r>
              <a:rPr dirty="0" err="1"/>
              <a:t>messaggio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conversazione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 di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incrementale</a:t>
            </a:r>
            <a:r>
              <a:rPr dirty="0"/>
              <a:t>, </a:t>
            </a:r>
            <a:r>
              <a:rPr dirty="0" err="1"/>
              <a:t>usato</a:t>
            </a:r>
            <a:r>
              <a:rPr dirty="0"/>
              <a:t> per </a:t>
            </a:r>
            <a:r>
              <a:rPr dirty="0" err="1"/>
              <a:t>rilevare</a:t>
            </a:r>
            <a:r>
              <a:rPr dirty="0"/>
              <a:t> gap e </a:t>
            </a:r>
            <a:r>
              <a:rPr dirty="0" err="1"/>
              <a:t>implementare</a:t>
            </a:r>
            <a:r>
              <a:rPr dirty="0"/>
              <a:t> il mark-as-read.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cross-conversazione come </a:t>
            </a:r>
            <a:r>
              <a:rPr dirty="0" err="1"/>
              <a:t>conferme</a:t>
            </a:r>
            <a:r>
              <a:rPr dirty="0"/>
              <a:t> e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ricevono</a:t>
            </a:r>
            <a:r>
              <a:rPr dirty="0"/>
              <a:t> </a:t>
            </a:r>
            <a:r>
              <a:rPr dirty="0" err="1"/>
              <a:t>invece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globale</a:t>
            </a:r>
            <a:r>
              <a:rPr dirty="0"/>
              <a:t> per </a:t>
            </a:r>
            <a:r>
              <a:rPr dirty="0" err="1"/>
              <a:t>utente</a:t>
            </a:r>
            <a:r>
              <a:rPr dirty="0"/>
              <a:t>. Le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generate </a:t>
            </a:r>
            <a:r>
              <a:rPr dirty="0" err="1"/>
              <a:t>atomicamente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subquery SQL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COALESCE per </a:t>
            </a:r>
            <a:r>
              <a:rPr dirty="0" err="1"/>
              <a:t>gestire</a:t>
            </a:r>
            <a:r>
              <a:rPr dirty="0"/>
              <a:t> il primo </a:t>
            </a:r>
            <a:r>
              <a:rPr dirty="0" err="1"/>
              <a:t>inserimento</a:t>
            </a:r>
            <a:r>
              <a:rPr dirty="0"/>
              <a:t>.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</a:t>
            </a:r>
            <a:r>
              <a:rPr dirty="0" err="1"/>
              <a:t>sfrutta</a:t>
            </a:r>
            <a:r>
              <a:rPr dirty="0"/>
              <a:t> la </a:t>
            </a:r>
            <a:r>
              <a:rPr dirty="0" err="1"/>
              <a:t>serializzabilità</a:t>
            </a:r>
            <a:r>
              <a:rPr dirty="0"/>
              <a:t> delle </a:t>
            </a:r>
            <a:r>
              <a:rPr dirty="0" err="1"/>
              <a:t>transazioni</a:t>
            </a:r>
            <a:r>
              <a:rPr dirty="0"/>
              <a:t> SQLite per </a:t>
            </a:r>
            <a:r>
              <a:rPr dirty="0" err="1"/>
              <a:t>evitare</a:t>
            </a:r>
            <a:r>
              <a:rPr dirty="0"/>
              <a:t> race condition.</a:t>
            </a:r>
          </a:p>
        </p:txBody>
      </p:sp>
      <p:pic>
        <p:nvPicPr>
          <p:cNvPr id="25" name="Immagine 2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EAACDDA-5E61-47A0-6B66-3B25D5171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05" y="1209925"/>
            <a:ext cx="2976346" cy="31755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932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Security - Argon2id + JWT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778600"/>
            <a:ext cx="4095750" cy="3738699"/>
          </a:xfrm>
          <a:prstGeom prst="roundRect">
            <a:avLst>
              <a:gd name="adj" fmla="val 7637"/>
            </a:avLst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Production-Grade Authentication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L'autenticazione è production-grade con Argon2id per </a:t>
            </a:r>
            <a:r>
              <a:rPr dirty="0" err="1"/>
              <a:t>l'hashing</a:t>
            </a:r>
            <a:r>
              <a:rPr dirty="0"/>
              <a:t> delle password e JWT per le </a:t>
            </a:r>
            <a:r>
              <a:rPr dirty="0" err="1"/>
              <a:t>sessioni</a:t>
            </a:r>
            <a:r>
              <a:rPr dirty="0"/>
              <a:t>. Argon2id è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ibrido</a:t>
            </a:r>
            <a:r>
              <a:rPr dirty="0"/>
              <a:t> </a:t>
            </a:r>
            <a:r>
              <a:rPr dirty="0" err="1"/>
              <a:t>resistente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agli</a:t>
            </a:r>
            <a:r>
              <a:rPr dirty="0"/>
              <a:t> </a:t>
            </a:r>
            <a:r>
              <a:rPr dirty="0" err="1"/>
              <a:t>attacchi</a:t>
            </a:r>
            <a:r>
              <a:rPr dirty="0"/>
              <a:t> side-channel </a:t>
            </a:r>
            <a:r>
              <a:rPr dirty="0" err="1"/>
              <a:t>che</a:t>
            </a:r>
            <a:r>
              <a:rPr dirty="0"/>
              <a:t> a </a:t>
            </a:r>
            <a:r>
              <a:rPr dirty="0" err="1"/>
              <a:t>quelli</a:t>
            </a:r>
            <a:r>
              <a:rPr dirty="0"/>
              <a:t> GPU-based. Ogni password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hashata</a:t>
            </a:r>
            <a:r>
              <a:rPr dirty="0"/>
              <a:t> con un salt </a:t>
            </a:r>
            <a:r>
              <a:rPr dirty="0" err="1"/>
              <a:t>crittograficamente</a:t>
            </a:r>
            <a:r>
              <a:rPr dirty="0"/>
              <a:t> </a:t>
            </a:r>
            <a:r>
              <a:rPr dirty="0" err="1"/>
              <a:t>sicuro</a:t>
            </a:r>
            <a:r>
              <a:rPr dirty="0"/>
              <a:t> prima di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salvata</a:t>
            </a:r>
            <a:r>
              <a:rPr dirty="0"/>
              <a:t>. I JWT token </a:t>
            </a:r>
            <a:r>
              <a:rPr dirty="0" err="1"/>
              <a:t>contengono</a:t>
            </a:r>
            <a:r>
              <a:rPr dirty="0"/>
              <a:t> </a:t>
            </a:r>
            <a:r>
              <a:rPr dirty="0" err="1"/>
              <a:t>user_id</a:t>
            </a:r>
            <a:r>
              <a:rPr dirty="0"/>
              <a:t>, username e </a:t>
            </a:r>
            <a:r>
              <a:rPr dirty="0" err="1"/>
              <a:t>scadenza</a:t>
            </a:r>
            <a:r>
              <a:rPr dirty="0"/>
              <a:t> a 24 ore, </a:t>
            </a:r>
            <a:r>
              <a:rPr dirty="0" err="1"/>
              <a:t>firmati</a:t>
            </a:r>
            <a:r>
              <a:rPr dirty="0"/>
              <a:t> con HMAC-SHA256. Un middleware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automaticamente</a:t>
            </a:r>
            <a:r>
              <a:rPr dirty="0"/>
              <a:t> il token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protetta</a:t>
            </a:r>
            <a:r>
              <a:rPr dirty="0"/>
              <a:t>, </a:t>
            </a:r>
            <a:r>
              <a:rPr dirty="0" err="1"/>
              <a:t>estraendo</a:t>
            </a:r>
            <a:r>
              <a:rPr dirty="0"/>
              <a:t> le </a:t>
            </a:r>
            <a:r>
              <a:rPr dirty="0" err="1"/>
              <a:t>credenziali</a:t>
            </a:r>
            <a:r>
              <a:rPr dirty="0"/>
              <a:t> e </a:t>
            </a:r>
            <a:r>
              <a:rPr dirty="0" err="1"/>
              <a:t>verificando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scaduto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87370BB-3C30-5052-56E7-693EE4295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88" y="1189689"/>
            <a:ext cx="3401966" cy="29811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1625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Database Schema (SQLite WAL)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855617"/>
            <a:ext cx="4095750" cy="3325857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SQLite WAL Mode + 7 Tabelle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Il database SQLite è configurato in modalità WAL (Write-Ahead Logging) che permette letture concorrenti anche durante le scritture. Lo schema è composto da 7 tabelle con foreign keys abilitate per garantire l'integrità referenziale. Le tabelle principali sono users, conversations, messages e participants, affiancate da message_sequences e user_sequences per il dual sequencing. Gli indici critici su (conversation_id, sequence_num) e user_id velocizzano le query più frequenti.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44D6FD1-AF9A-BC2E-A9FA-01E3BB58B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33" y="834390"/>
            <a:ext cx="2546596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0520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Reliability Guarantees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572000" y="2210721"/>
            <a:ext cx="4095750" cy="919907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Strong Ordering + No Message Loss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garantisce</a:t>
            </a:r>
            <a:r>
              <a:rPr dirty="0"/>
              <a:t> </a:t>
            </a:r>
            <a:r>
              <a:rPr dirty="0" err="1"/>
              <a:t>ordinamento</a:t>
            </a:r>
            <a:r>
              <a:rPr dirty="0"/>
              <a:t> </a:t>
            </a:r>
            <a:r>
              <a:rPr dirty="0" err="1"/>
              <a:t>totale</a:t>
            </a:r>
            <a:r>
              <a:rPr dirty="0"/>
              <a:t> e zero </a:t>
            </a:r>
            <a:r>
              <a:rPr dirty="0" err="1"/>
              <a:t>perdita</a:t>
            </a:r>
            <a:r>
              <a:rPr dirty="0"/>
              <a:t> di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attraverso</a:t>
            </a:r>
            <a:r>
              <a:rPr dirty="0"/>
              <a:t> gap detection </a:t>
            </a:r>
            <a:r>
              <a:rPr dirty="0" err="1"/>
              <a:t>automatico</a:t>
            </a:r>
            <a:r>
              <a:rPr dirty="0"/>
              <a:t>. Il client </a:t>
            </a:r>
            <a:r>
              <a:rPr dirty="0" err="1"/>
              <a:t>traccia</a:t>
            </a:r>
            <a:r>
              <a:rPr dirty="0"/>
              <a:t>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 per ogni conversazione. Se </a:t>
            </a:r>
            <a:r>
              <a:rPr dirty="0" err="1"/>
              <a:t>arriva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 con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superiore</a:t>
            </a:r>
            <a:r>
              <a:rPr dirty="0"/>
              <a:t>,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ne </a:t>
            </a:r>
            <a:r>
              <a:rPr dirty="0" err="1"/>
              <a:t>mancano</a:t>
            </a:r>
            <a:r>
              <a:rPr dirty="0"/>
              <a:t> </a:t>
            </a:r>
            <a:r>
              <a:rPr dirty="0" err="1"/>
              <a:t>alcuni</a:t>
            </a:r>
            <a:r>
              <a:rPr dirty="0"/>
              <a:t>: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futuro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bufferizzato</a:t>
            </a:r>
            <a:r>
              <a:rPr dirty="0"/>
              <a:t> in un </a:t>
            </a:r>
            <a:r>
              <a:rPr dirty="0" err="1"/>
              <a:t>BTreeMap</a:t>
            </a:r>
            <a:r>
              <a:rPr dirty="0"/>
              <a:t> </a:t>
            </a:r>
            <a:r>
              <a:rPr dirty="0" err="1"/>
              <a:t>ordinato</a:t>
            </a:r>
            <a:r>
              <a:rPr dirty="0"/>
              <a:t> e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richiesto</a:t>
            </a:r>
            <a:r>
              <a:rPr dirty="0"/>
              <a:t> al server il </a:t>
            </a:r>
            <a:r>
              <a:rPr dirty="0" err="1"/>
              <a:t>recupero</a:t>
            </a:r>
            <a:r>
              <a:rPr dirty="0"/>
              <a:t> di </a:t>
            </a:r>
            <a:r>
              <a:rPr dirty="0" err="1"/>
              <a:t>quelli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. Il server </a:t>
            </a:r>
            <a:r>
              <a:rPr dirty="0" err="1"/>
              <a:t>risponde</a:t>
            </a:r>
            <a:r>
              <a:rPr dirty="0"/>
              <a:t> con </a:t>
            </a:r>
            <a:r>
              <a:rPr dirty="0" err="1"/>
              <a:t>una</a:t>
            </a:r>
            <a:r>
              <a:rPr dirty="0"/>
              <a:t> query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estrae</a:t>
            </a:r>
            <a:r>
              <a:rPr dirty="0"/>
              <a:t>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dal punto di </a:t>
            </a:r>
            <a:r>
              <a:rPr dirty="0" err="1"/>
              <a:t>interruzione</a:t>
            </a:r>
            <a:r>
              <a:rPr dirty="0"/>
              <a:t> in poi. Quando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 </a:t>
            </a:r>
            <a:r>
              <a:rPr dirty="0" err="1"/>
              <a:t>arrivano</a:t>
            </a:r>
            <a:r>
              <a:rPr dirty="0"/>
              <a:t>, il buffer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svuotato</a:t>
            </a:r>
            <a:r>
              <a:rPr dirty="0"/>
              <a:t> in </a:t>
            </a:r>
            <a:r>
              <a:rPr dirty="0" err="1"/>
              <a:t>ordine</a:t>
            </a:r>
            <a:r>
              <a:rPr dirty="0"/>
              <a:t>, </a:t>
            </a:r>
            <a:r>
              <a:rPr dirty="0" err="1"/>
              <a:t>garantendo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tutti </a:t>
            </a:r>
            <a:r>
              <a:rPr dirty="0" err="1"/>
              <a:t>i</a:t>
            </a:r>
            <a:r>
              <a:rPr dirty="0"/>
              <a:t> client </a:t>
            </a:r>
            <a:r>
              <a:rPr dirty="0" err="1"/>
              <a:t>convergano</a:t>
            </a:r>
            <a:r>
              <a:rPr dirty="0"/>
              <a:t> </a:t>
            </a:r>
            <a:r>
              <a:rPr dirty="0" err="1"/>
              <a:t>allo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in </a:t>
            </a:r>
            <a:r>
              <a:rPr dirty="0" err="1"/>
              <a:t>presenza</a:t>
            </a:r>
            <a:r>
              <a:rPr dirty="0"/>
              <a:t> di </a:t>
            </a:r>
            <a:r>
              <a:rPr dirty="0" err="1"/>
              <a:t>problemi</a:t>
            </a:r>
            <a:r>
              <a:rPr dirty="0"/>
              <a:t> di rete.</a:t>
            </a:r>
          </a:p>
        </p:txBody>
      </p:sp>
      <p:pic>
        <p:nvPicPr>
          <p:cNvPr id="24" name="Immagine 2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08427E4-C58F-E234-69AD-2E1E6D699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14" y="926210"/>
            <a:ext cx="2844820" cy="34889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96671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Architecture - Message Flow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Flusso</a:t>
            </a:r>
            <a:r>
              <a:rPr dirty="0"/>
              <a:t> WebSocket → Business → State → UI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flusso</a:t>
            </a:r>
            <a:r>
              <a:rPr dirty="0"/>
              <a:t> di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attraversa</a:t>
            </a:r>
            <a:r>
              <a:rPr dirty="0"/>
              <a:t> </a:t>
            </a:r>
            <a:r>
              <a:rPr dirty="0" err="1"/>
              <a:t>l'intera</a:t>
            </a:r>
            <a:r>
              <a:rPr dirty="0"/>
              <a:t> </a:t>
            </a:r>
            <a:r>
              <a:rPr dirty="0" err="1"/>
              <a:t>architettura</a:t>
            </a:r>
            <a:r>
              <a:rPr dirty="0"/>
              <a:t> frontend in modo event-driven. Quando </a:t>
            </a:r>
            <a:r>
              <a:rPr dirty="0" err="1"/>
              <a:t>arriva</a:t>
            </a:r>
            <a:r>
              <a:rPr dirty="0"/>
              <a:t> un frame dal WebSocket, il Reader Task lo </a:t>
            </a:r>
            <a:r>
              <a:rPr dirty="0" err="1"/>
              <a:t>deserializza</a:t>
            </a:r>
            <a:r>
              <a:rPr dirty="0"/>
              <a:t> in JSON e lo </a:t>
            </a:r>
            <a:r>
              <a:rPr dirty="0" err="1"/>
              <a:t>invia</a:t>
            </a:r>
            <a:r>
              <a:rPr dirty="0"/>
              <a:t> al thread </a:t>
            </a:r>
            <a:r>
              <a:rPr dirty="0" err="1"/>
              <a:t>principale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dell'UI</a:t>
            </a:r>
            <a:r>
              <a:rPr dirty="0"/>
              <a:t> loop, </a:t>
            </a:r>
            <a:r>
              <a:rPr dirty="0" err="1"/>
              <a:t>l'EventDispatcher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e routes </a:t>
            </a:r>
            <a:r>
              <a:rPr dirty="0" err="1"/>
              <a:t>l'evento</a:t>
            </a:r>
            <a:r>
              <a:rPr dirty="0"/>
              <a:t> </a:t>
            </a:r>
            <a:r>
              <a:rPr dirty="0" err="1"/>
              <a:t>all'handler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modifica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lista</a:t>
            </a:r>
            <a:r>
              <a:rPr dirty="0"/>
              <a:t> della conversazione e </a:t>
            </a:r>
            <a:r>
              <a:rPr dirty="0" err="1"/>
              <a:t>aggiornando</a:t>
            </a:r>
            <a:r>
              <a:rPr dirty="0"/>
              <a:t>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tracciata</a:t>
            </a:r>
            <a:r>
              <a:rPr dirty="0"/>
              <a:t>. </a:t>
            </a:r>
            <a:r>
              <a:rPr dirty="0" err="1"/>
              <a:t>Infine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sveglia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 UI per </a:t>
            </a:r>
            <a:r>
              <a:rPr dirty="0" err="1"/>
              <a:t>triggerare</a:t>
            </a:r>
            <a:r>
              <a:rPr dirty="0"/>
              <a:t> un repaint con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nuovi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1E3C1BF-5B00-9911-B65B-E4DCBFAC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664" y="979714"/>
            <a:ext cx="2292903" cy="34361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85012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Task - Bidirectional Handler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Reader + Writer Loops </a:t>
            </a:r>
            <a:r>
              <a:rPr dirty="0" err="1"/>
              <a:t>Concorrenti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WebSocket client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comunicazione</a:t>
            </a:r>
            <a:r>
              <a:rPr dirty="0"/>
              <a:t> </a:t>
            </a:r>
            <a:r>
              <a:rPr dirty="0" err="1"/>
              <a:t>bidirezionale</a:t>
            </a:r>
            <a:r>
              <a:rPr dirty="0"/>
              <a:t> con un </a:t>
            </a:r>
            <a:r>
              <a:rPr dirty="0" err="1"/>
              <a:t>singolo</a:t>
            </a:r>
            <a:r>
              <a:rPr dirty="0"/>
              <a:t> task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tokio</a:t>
            </a:r>
            <a:r>
              <a:rPr dirty="0"/>
              <a:t>::select!. Il task divide il socket in due </a:t>
            </a:r>
            <a:r>
              <a:rPr dirty="0" err="1"/>
              <a:t>metà</a:t>
            </a:r>
            <a:r>
              <a:rPr dirty="0"/>
              <a:t> </a:t>
            </a:r>
            <a:r>
              <a:rPr dirty="0" err="1"/>
              <a:t>indipendenti</a:t>
            </a:r>
            <a:r>
              <a:rPr dirty="0"/>
              <a:t>: </a:t>
            </a:r>
            <a:r>
              <a:rPr dirty="0" err="1"/>
              <a:t>ws_rx</a:t>
            </a:r>
            <a:r>
              <a:rPr dirty="0"/>
              <a:t> per </a:t>
            </a:r>
            <a:r>
              <a:rPr dirty="0" err="1"/>
              <a:t>ricevere</a:t>
            </a:r>
            <a:r>
              <a:rPr dirty="0"/>
              <a:t> e </a:t>
            </a:r>
            <a:r>
              <a:rPr dirty="0" err="1"/>
              <a:t>ws_tx</a:t>
            </a:r>
            <a:r>
              <a:rPr dirty="0"/>
              <a:t> per </a:t>
            </a:r>
            <a:r>
              <a:rPr dirty="0" err="1"/>
              <a:t>inviare</a:t>
            </a:r>
            <a:r>
              <a:rPr dirty="0"/>
              <a:t>. Il branch reader </a:t>
            </a:r>
            <a:r>
              <a:rPr dirty="0" err="1"/>
              <a:t>aspetta</a:t>
            </a:r>
            <a:r>
              <a:rPr dirty="0"/>
              <a:t> frame dal server, li </a:t>
            </a:r>
            <a:r>
              <a:rPr dirty="0" err="1"/>
              <a:t>deserializza</a:t>
            </a:r>
            <a:r>
              <a:rPr dirty="0"/>
              <a:t> e li </a:t>
            </a:r>
            <a:r>
              <a:rPr dirty="0" err="1"/>
              <a:t>inoltra</a:t>
            </a:r>
            <a:r>
              <a:rPr dirty="0"/>
              <a:t> al main thread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Il branch writer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comandi</a:t>
            </a:r>
            <a:r>
              <a:rPr dirty="0"/>
              <a:t> </a:t>
            </a:r>
            <a:r>
              <a:rPr dirty="0" err="1"/>
              <a:t>dall'UI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ui_to_net_rx</a:t>
            </a:r>
            <a:r>
              <a:rPr dirty="0"/>
              <a:t>, li </a:t>
            </a:r>
            <a:r>
              <a:rPr dirty="0" err="1"/>
              <a:t>serializza</a:t>
            </a:r>
            <a:r>
              <a:rPr dirty="0"/>
              <a:t> in JSON e li </a:t>
            </a:r>
            <a:r>
              <a:rPr dirty="0" err="1"/>
              <a:t>invia</a:t>
            </a:r>
            <a:r>
              <a:rPr dirty="0"/>
              <a:t> al server. La macro select!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gestire</a:t>
            </a:r>
            <a:r>
              <a:rPr dirty="0"/>
              <a:t> </a:t>
            </a:r>
            <a:r>
              <a:rPr dirty="0" err="1"/>
              <a:t>entrambi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flussi</a:t>
            </a:r>
            <a:r>
              <a:rPr dirty="0"/>
              <a:t> </a:t>
            </a:r>
            <a:r>
              <a:rPr dirty="0" err="1"/>
              <a:t>concorrentemente</a:t>
            </a:r>
            <a:r>
              <a:rPr dirty="0"/>
              <a:t>, </a:t>
            </a:r>
            <a:r>
              <a:rPr dirty="0" err="1"/>
              <a:t>eseguendo</a:t>
            </a:r>
            <a:r>
              <a:rPr dirty="0"/>
              <a:t> il primo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risveglia</a:t>
            </a:r>
            <a:r>
              <a:rPr dirty="0"/>
              <a:t>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47F6531-3240-8F77-8A7E-B74CFFA3B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48" y="1114512"/>
            <a:ext cx="3215837" cy="3421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82999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EventDispatcher - Central Router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2163514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Poll </a:t>
            </a:r>
            <a:r>
              <a:rPr dirty="0" err="1"/>
              <a:t>ui_rx</a:t>
            </a:r>
            <a:r>
              <a:rPr dirty="0"/>
              <a:t> → Route → Trigger Repaint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 err="1"/>
              <a:t>L'EventDispatcher</a:t>
            </a:r>
            <a:r>
              <a:rPr dirty="0"/>
              <a:t> è il router centrale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collega</a:t>
            </a:r>
            <a:r>
              <a:rPr dirty="0"/>
              <a:t> networking e business logic.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chiamato</a:t>
            </a:r>
            <a:r>
              <a:rPr dirty="0"/>
              <a:t> ogni frame (~60Hz) e </a:t>
            </a:r>
            <a:r>
              <a:rPr dirty="0" err="1"/>
              <a:t>drena</a:t>
            </a:r>
            <a:r>
              <a:rPr dirty="0"/>
              <a:t>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</a:t>
            </a:r>
            <a:r>
              <a:rPr dirty="0" err="1"/>
              <a:t>disponibili</a:t>
            </a:r>
            <a:r>
              <a:rPr dirty="0"/>
              <a:t> dal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ui_rx</a:t>
            </a:r>
            <a:r>
              <a:rPr dirty="0"/>
              <a:t> </a:t>
            </a:r>
            <a:r>
              <a:rPr dirty="0" err="1"/>
              <a:t>usando</a:t>
            </a:r>
            <a:r>
              <a:rPr dirty="0"/>
              <a:t> </a:t>
            </a:r>
            <a:r>
              <a:rPr dirty="0" err="1"/>
              <a:t>try_recv</a:t>
            </a:r>
            <a:r>
              <a:rPr dirty="0"/>
              <a:t>() non-blocking. Per ogni </a:t>
            </a:r>
            <a:r>
              <a:rPr dirty="0" err="1"/>
              <a:t>evento</a:t>
            </a:r>
            <a:r>
              <a:rPr dirty="0"/>
              <a:t> fa pattern matching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e </a:t>
            </a:r>
            <a:r>
              <a:rPr dirty="0" err="1"/>
              <a:t>chiama</a:t>
            </a:r>
            <a:r>
              <a:rPr dirty="0"/>
              <a:t>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specializzato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handler non </a:t>
            </a:r>
            <a:r>
              <a:rPr dirty="0" err="1"/>
              <a:t>conoscono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dettagli</a:t>
            </a:r>
            <a:r>
              <a:rPr dirty="0"/>
              <a:t> del networking: </a:t>
            </a:r>
            <a:r>
              <a:rPr dirty="0" err="1"/>
              <a:t>ricevono</a:t>
            </a:r>
            <a:r>
              <a:rPr dirty="0"/>
              <a:t> solo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</a:t>
            </a:r>
            <a:r>
              <a:rPr dirty="0" err="1"/>
              <a:t>allo</a:t>
            </a:r>
            <a:r>
              <a:rPr dirty="0"/>
              <a:t> </a:t>
            </a:r>
            <a:r>
              <a:rPr dirty="0" err="1"/>
              <a:t>stato</a:t>
            </a:r>
            <a:r>
              <a:rPr dirty="0"/>
              <a:t> e </a:t>
            </a:r>
            <a:r>
              <a:rPr dirty="0" err="1"/>
              <a:t>applicano</a:t>
            </a:r>
            <a:r>
              <a:rPr dirty="0"/>
              <a:t> le </a:t>
            </a:r>
            <a:r>
              <a:rPr dirty="0" err="1"/>
              <a:t>modifiche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. Alla fine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garantisce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l'UI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aggiorni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prossimo</a:t>
            </a:r>
            <a:r>
              <a:rPr dirty="0"/>
              <a:t> frame.</a:t>
            </a:r>
          </a:p>
        </p:txBody>
      </p:sp>
      <p:pic>
        <p:nvPicPr>
          <p:cNvPr id="24" name="Immagine 2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71605C2-92A4-0899-36C9-3A8F3B15C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92" y="1112919"/>
            <a:ext cx="3151877" cy="291766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 Handlers - Business Logic Layer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7 Handler </a:t>
            </a:r>
            <a:r>
              <a:rPr dirty="0" err="1"/>
              <a:t>Specializzati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è </a:t>
            </a:r>
            <a:r>
              <a:rPr dirty="0" err="1"/>
              <a:t>organizzato</a:t>
            </a:r>
            <a:r>
              <a:rPr dirty="0"/>
              <a:t> in 7 handler </a:t>
            </a:r>
            <a:r>
              <a:rPr dirty="0" err="1"/>
              <a:t>specializzati</a:t>
            </a:r>
            <a:r>
              <a:rPr dirty="0"/>
              <a:t>, </a:t>
            </a:r>
            <a:r>
              <a:rPr dirty="0" err="1"/>
              <a:t>ognuno</a:t>
            </a:r>
            <a:r>
              <a:rPr dirty="0"/>
              <a:t> </a:t>
            </a:r>
            <a:r>
              <a:rPr dirty="0" err="1"/>
              <a:t>responsabile</a:t>
            </a:r>
            <a:r>
              <a:rPr dirty="0"/>
              <a:t> di un </a:t>
            </a:r>
            <a:r>
              <a:rPr dirty="0" err="1"/>
              <a:t>aspetto</a:t>
            </a:r>
            <a:r>
              <a:rPr dirty="0"/>
              <a:t> </a:t>
            </a:r>
            <a:r>
              <a:rPr dirty="0" err="1"/>
              <a:t>specifico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. </a:t>
            </a:r>
            <a:r>
              <a:rPr dirty="0" err="1"/>
              <a:t>AuthHandler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login e logout, </a:t>
            </a:r>
            <a:r>
              <a:rPr dirty="0" err="1"/>
              <a:t>MessageHandler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 lifecycle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dall'invio</a:t>
            </a:r>
            <a:r>
              <a:rPr dirty="0"/>
              <a:t> alla </a:t>
            </a:r>
            <a:r>
              <a:rPr dirty="0" err="1"/>
              <a:t>conferma</a:t>
            </a:r>
            <a:r>
              <a:rPr dirty="0"/>
              <a:t>, </a:t>
            </a:r>
            <a:r>
              <a:rPr dirty="0" err="1"/>
              <a:t>SequenceHandler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gap detection e recovery, </a:t>
            </a:r>
            <a:r>
              <a:rPr dirty="0" err="1"/>
              <a:t>BufferHandler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il </a:t>
            </a:r>
            <a:r>
              <a:rPr dirty="0" err="1"/>
              <a:t>riordinamento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fuori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. Ogni handler </a:t>
            </a:r>
            <a:r>
              <a:rPr dirty="0" err="1"/>
              <a:t>riceve</a:t>
            </a:r>
            <a:r>
              <a:rPr dirty="0"/>
              <a:t>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ad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le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 </a:t>
            </a:r>
            <a:r>
              <a:rPr dirty="0" err="1"/>
              <a:t>mantenendo</a:t>
            </a:r>
            <a:r>
              <a:rPr dirty="0"/>
              <a:t> la </a:t>
            </a:r>
            <a:r>
              <a:rPr dirty="0" err="1"/>
              <a:t>separazione</a:t>
            </a:r>
            <a:r>
              <a:rPr dirty="0"/>
              <a:t> delle </a:t>
            </a:r>
            <a:r>
              <a:rPr dirty="0" err="1"/>
              <a:t>responsabilità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21CEB49-B322-9B4D-1822-D607DCAC9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91" y="904058"/>
            <a:ext cx="2399374" cy="3764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7814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AppState Mutations → UI Update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Single Source of Truth + </a:t>
            </a:r>
            <a:r>
              <a:rPr dirty="0" err="1"/>
              <a:t>egui_waker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pattern di update è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single source of truth. Quando un handler </a:t>
            </a:r>
            <a:r>
              <a:rPr dirty="0" err="1"/>
              <a:t>modifica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, per </a:t>
            </a:r>
            <a:r>
              <a:rPr dirty="0" err="1"/>
              <a:t>esempio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conversation_messages</a:t>
            </a:r>
            <a:r>
              <a:rPr dirty="0"/>
              <a:t> HashMap e </a:t>
            </a:r>
            <a:r>
              <a:rPr dirty="0" err="1"/>
              <a:t>aggiornando</a:t>
            </a:r>
            <a:r>
              <a:rPr dirty="0"/>
              <a:t> </a:t>
            </a:r>
            <a:r>
              <a:rPr dirty="0" err="1"/>
              <a:t>conversation_sequences</a:t>
            </a:r>
            <a:r>
              <a:rPr dirty="0"/>
              <a:t>, </a:t>
            </a:r>
            <a:r>
              <a:rPr dirty="0" err="1"/>
              <a:t>chiama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per </a:t>
            </a:r>
            <a:r>
              <a:rPr dirty="0" err="1"/>
              <a:t>svegliare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l'UI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ricostruita</a:t>
            </a:r>
            <a:r>
              <a:rPr dirty="0"/>
              <a:t>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leggendo</a:t>
            </a:r>
            <a:r>
              <a:rPr dirty="0"/>
              <a:t> il nuovo </a:t>
            </a:r>
            <a:r>
              <a:rPr dirty="0" err="1"/>
              <a:t>stato</a:t>
            </a:r>
            <a:r>
              <a:rPr dirty="0"/>
              <a:t>: </a:t>
            </a:r>
            <a:r>
              <a:rPr dirty="0" err="1"/>
              <a:t>egui</a:t>
            </a:r>
            <a:r>
              <a:rPr dirty="0"/>
              <a:t> in immediate mode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ogni frame le </a:t>
            </a:r>
            <a:r>
              <a:rPr dirty="0" err="1"/>
              <a:t>funzioni</a:t>
            </a:r>
            <a:r>
              <a:rPr dirty="0"/>
              <a:t> di rendering </a:t>
            </a:r>
            <a:r>
              <a:rPr dirty="0" err="1"/>
              <a:t>leggono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disegnano</a:t>
            </a:r>
            <a:r>
              <a:rPr dirty="0"/>
              <a:t> </a:t>
            </a:r>
            <a:r>
              <a:rPr dirty="0" err="1"/>
              <a:t>l'interfaccia</a:t>
            </a:r>
            <a:r>
              <a:rPr dirty="0"/>
              <a:t> da zero. Non </a:t>
            </a:r>
            <a:r>
              <a:rPr dirty="0" err="1"/>
              <a:t>c'è</a:t>
            </a:r>
            <a:r>
              <a:rPr dirty="0"/>
              <a:t> DOM da </a:t>
            </a:r>
            <a:r>
              <a:rPr dirty="0" err="1"/>
              <a:t>aggiornare</a:t>
            </a:r>
            <a:r>
              <a:rPr dirty="0"/>
              <a:t>, </a:t>
            </a:r>
            <a:r>
              <a:rPr dirty="0" err="1"/>
              <a:t>tutto</a:t>
            </a:r>
            <a:r>
              <a:rPr dirty="0"/>
              <a:t> è data-driven.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A972A9E4-62C4-78E6-A833-EACDC0F6D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769" y="1110342"/>
            <a:ext cx="2530492" cy="348451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2597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Gap Detection &amp; Reorder Buffer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BTreeMap</a:t>
            </a:r>
            <a:r>
              <a:rPr dirty="0"/>
              <a:t> Buffer + Auto Recovery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gap detection è </a:t>
            </a:r>
            <a:r>
              <a:rPr dirty="0" err="1"/>
              <a:t>automatico</a:t>
            </a:r>
            <a:r>
              <a:rPr dirty="0"/>
              <a:t> e </a:t>
            </a:r>
            <a:r>
              <a:rPr dirty="0" err="1"/>
              <a:t>trasparente</a:t>
            </a:r>
            <a:r>
              <a:rPr dirty="0"/>
              <a:t>.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il client </a:t>
            </a:r>
            <a:r>
              <a:rPr dirty="0" err="1"/>
              <a:t>controlla</a:t>
            </a:r>
            <a:r>
              <a:rPr dirty="0"/>
              <a:t> se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corrisponde</a:t>
            </a:r>
            <a:r>
              <a:rPr dirty="0"/>
              <a:t> a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 Se </a:t>
            </a:r>
            <a:r>
              <a:rPr dirty="0" err="1"/>
              <a:t>perfetta</a:t>
            </a:r>
            <a:r>
              <a:rPr dirty="0"/>
              <a:t>,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consegnato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e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tenta</a:t>
            </a:r>
            <a:r>
              <a:rPr dirty="0"/>
              <a:t> di </a:t>
            </a:r>
            <a:r>
              <a:rPr dirty="0" err="1"/>
              <a:t>svuotare</a:t>
            </a:r>
            <a:r>
              <a:rPr dirty="0"/>
              <a:t> il buffer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futuri</a:t>
            </a:r>
            <a:r>
              <a:rPr dirty="0"/>
              <a:t>. Se la </a:t>
            </a:r>
            <a:r>
              <a:rPr dirty="0" err="1"/>
              <a:t>sequenza</a:t>
            </a:r>
            <a:r>
              <a:rPr dirty="0"/>
              <a:t> è </a:t>
            </a:r>
            <a:r>
              <a:rPr dirty="0" err="1"/>
              <a:t>superiore</a:t>
            </a:r>
            <a:r>
              <a:rPr dirty="0"/>
              <a:t> </a:t>
            </a:r>
            <a:r>
              <a:rPr dirty="0" err="1"/>
              <a:t>all'attesa</a:t>
            </a:r>
            <a:r>
              <a:rPr dirty="0"/>
              <a:t>,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c'è</a:t>
            </a:r>
            <a:r>
              <a:rPr dirty="0"/>
              <a:t> un gap: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bufferizzato</a:t>
            </a:r>
            <a:r>
              <a:rPr dirty="0"/>
              <a:t> in un </a:t>
            </a:r>
            <a:r>
              <a:rPr dirty="0" err="1"/>
              <a:t>BTreeMap</a:t>
            </a:r>
            <a:r>
              <a:rPr dirty="0"/>
              <a:t> </a:t>
            </a:r>
            <a:r>
              <a:rPr dirty="0" err="1"/>
              <a:t>ordinato</a:t>
            </a:r>
            <a:r>
              <a:rPr dirty="0"/>
              <a:t> per </a:t>
            </a:r>
            <a:r>
              <a:rPr dirty="0" err="1"/>
              <a:t>sequenza</a:t>
            </a:r>
            <a:r>
              <a:rPr dirty="0"/>
              <a:t> e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 al server per </a:t>
            </a:r>
            <a:r>
              <a:rPr dirty="0" err="1"/>
              <a:t>recuperare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. Quando </a:t>
            </a:r>
            <a:r>
              <a:rPr dirty="0" err="1"/>
              <a:t>arrivano</a:t>
            </a:r>
            <a:r>
              <a:rPr dirty="0"/>
              <a:t>, </a:t>
            </a:r>
            <a:r>
              <a:rPr dirty="0" err="1"/>
              <a:t>flush_consecutive</a:t>
            </a:r>
            <a:r>
              <a:rPr dirty="0"/>
              <a:t> </a:t>
            </a:r>
            <a:r>
              <a:rPr dirty="0" err="1"/>
              <a:t>estrae</a:t>
            </a:r>
            <a:r>
              <a:rPr dirty="0"/>
              <a:t> dal buffer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consecutivi</a:t>
            </a:r>
            <a:r>
              <a:rPr dirty="0"/>
              <a:t> </a:t>
            </a:r>
            <a:r>
              <a:rPr dirty="0" err="1"/>
              <a:t>partendo</a:t>
            </a:r>
            <a:r>
              <a:rPr dirty="0"/>
              <a:t> </a:t>
            </a:r>
            <a:r>
              <a:rPr dirty="0" err="1"/>
              <a:t>dall'expected</a:t>
            </a:r>
            <a:r>
              <a:rPr dirty="0"/>
              <a:t>, </a:t>
            </a:r>
            <a:r>
              <a:rPr dirty="0" err="1"/>
              <a:t>garantendo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.</a:t>
            </a:r>
          </a:p>
        </p:txBody>
      </p:sp>
      <p:pic>
        <p:nvPicPr>
          <p:cNvPr id="27" name="Immagine 2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41CB90A-F8B2-88AA-0B11-95735C660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71" y="996671"/>
            <a:ext cx="2770838" cy="33186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842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Optimistic UI con Confirmations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Immediate UI + Deduplication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L'UI è </a:t>
            </a:r>
            <a:r>
              <a:rPr dirty="0" err="1"/>
              <a:t>ottimistica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</a:t>
            </a:r>
            <a:r>
              <a:rPr dirty="0" err="1"/>
              <a:t>appare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</a:t>
            </a:r>
            <a:r>
              <a:rPr dirty="0" err="1"/>
              <a:t>nell'interfaccia</a:t>
            </a:r>
            <a:r>
              <a:rPr dirty="0"/>
              <a:t> con </a:t>
            </a:r>
            <a:r>
              <a:rPr dirty="0" err="1"/>
              <a:t>stato</a:t>
            </a:r>
            <a:r>
              <a:rPr dirty="0"/>
              <a:t> "Pending" prima </a:t>
            </a:r>
            <a:r>
              <a:rPr dirty="0" err="1"/>
              <a:t>ancora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server </a:t>
            </a:r>
            <a:r>
              <a:rPr dirty="0" err="1"/>
              <a:t>risponda</a:t>
            </a:r>
            <a:r>
              <a:rPr dirty="0"/>
              <a:t>.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client_msg_id</a:t>
            </a:r>
            <a:r>
              <a:rPr dirty="0"/>
              <a:t> </a:t>
            </a:r>
            <a:r>
              <a:rPr dirty="0" err="1"/>
              <a:t>temporaneo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 </a:t>
            </a:r>
            <a:r>
              <a:rPr dirty="0" err="1"/>
              <a:t>localmente</a:t>
            </a:r>
            <a:r>
              <a:rPr dirty="0"/>
              <a:t> e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tracciato</a:t>
            </a:r>
            <a:r>
              <a:rPr dirty="0"/>
              <a:t> in </a:t>
            </a:r>
            <a:r>
              <a:rPr dirty="0" err="1"/>
              <a:t>pending_confirmations</a:t>
            </a:r>
            <a:r>
              <a:rPr dirty="0"/>
              <a:t>. Quando </a:t>
            </a:r>
            <a:r>
              <a:rPr dirty="0" err="1"/>
              <a:t>arriva</a:t>
            </a:r>
            <a:r>
              <a:rPr dirty="0"/>
              <a:t> la </a:t>
            </a:r>
            <a:r>
              <a:rPr dirty="0" err="1"/>
              <a:t>conferma</a:t>
            </a:r>
            <a:r>
              <a:rPr dirty="0"/>
              <a:t> dal server, il </a:t>
            </a:r>
            <a:r>
              <a:rPr dirty="0" err="1"/>
              <a:t>sistema</a:t>
            </a:r>
            <a:r>
              <a:rPr dirty="0"/>
              <a:t> fa lookup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client_msg_id</a:t>
            </a:r>
            <a:r>
              <a:rPr dirty="0"/>
              <a:t>, </a:t>
            </a:r>
            <a:r>
              <a:rPr dirty="0" err="1"/>
              <a:t>aggiorna</a:t>
            </a:r>
            <a:r>
              <a:rPr dirty="0"/>
              <a:t> lo status a "Confirmed" e </a:t>
            </a:r>
            <a:r>
              <a:rPr dirty="0" err="1"/>
              <a:t>associa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server. Se lo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poi via broadcast (</a:t>
            </a:r>
            <a:r>
              <a:rPr dirty="0" err="1"/>
              <a:t>perché</a:t>
            </a:r>
            <a:r>
              <a:rPr dirty="0"/>
              <a:t> il sender è </a:t>
            </a:r>
            <a:r>
              <a:rPr dirty="0" err="1"/>
              <a:t>anche</a:t>
            </a:r>
            <a:r>
              <a:rPr dirty="0"/>
              <a:t> receiver), </a:t>
            </a:r>
            <a:r>
              <a:rPr dirty="0" err="1"/>
              <a:t>viene</a:t>
            </a:r>
            <a:r>
              <a:rPr dirty="0"/>
              <a:t> deduplicate </a:t>
            </a:r>
            <a:r>
              <a:rPr dirty="0" err="1"/>
              <a:t>controllando</a:t>
            </a:r>
            <a:r>
              <a:rPr dirty="0"/>
              <a:t> il </a:t>
            </a:r>
            <a:r>
              <a:rPr dirty="0" err="1"/>
              <a:t>client_msg_id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duplicati</a:t>
            </a:r>
            <a:r>
              <a:rPr dirty="0"/>
              <a:t> in UI.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38C3FED-8820-EA6C-D99D-3BA34B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79" y="953588"/>
            <a:ext cx="2950567" cy="35709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1513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ConnectionManager - Lifecycle &amp; Backoff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State Machine + Exponential Backoff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La </a:t>
            </a:r>
            <a:r>
              <a:rPr dirty="0" err="1"/>
              <a:t>gestione</a:t>
            </a:r>
            <a:r>
              <a:rPr dirty="0"/>
              <a:t> delle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state machine con backoff </a:t>
            </a:r>
            <a:r>
              <a:rPr dirty="0" err="1"/>
              <a:t>esponenziale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Disconnected, Connecting e Connected. Quando la </a:t>
            </a:r>
            <a:r>
              <a:rPr dirty="0" err="1"/>
              <a:t>connessione</a:t>
            </a:r>
            <a:r>
              <a:rPr dirty="0"/>
              <a:t> </a:t>
            </a:r>
            <a:r>
              <a:rPr dirty="0" err="1"/>
              <a:t>fallisce</a:t>
            </a:r>
            <a:r>
              <a:rPr dirty="0"/>
              <a:t>,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progressivamente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tempo prima di </a:t>
            </a:r>
            <a:r>
              <a:rPr dirty="0" err="1"/>
              <a:t>riprovare</a:t>
            </a:r>
            <a:r>
              <a:rPr dirty="0"/>
              <a:t>: 1 secondo, poi 2, 5, 10 e 15 secondi. Al </a:t>
            </a:r>
            <a:r>
              <a:rPr dirty="0" err="1"/>
              <a:t>sesto</a:t>
            </a:r>
            <a:r>
              <a:rPr dirty="0"/>
              <a:t> </a:t>
            </a:r>
            <a:r>
              <a:rPr dirty="0" err="1"/>
              <a:t>tentativo</a:t>
            </a:r>
            <a:r>
              <a:rPr dirty="0"/>
              <a:t> </a:t>
            </a:r>
            <a:r>
              <a:rPr dirty="0" err="1"/>
              <a:t>consecutivo</a:t>
            </a:r>
            <a:r>
              <a:rPr dirty="0"/>
              <a:t> </a:t>
            </a:r>
            <a:r>
              <a:rPr dirty="0" err="1"/>
              <a:t>fallito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forzato</a:t>
            </a:r>
            <a:r>
              <a:rPr dirty="0"/>
              <a:t> il logout per </a:t>
            </a:r>
            <a:r>
              <a:rPr dirty="0" err="1"/>
              <a:t>evitare</a:t>
            </a:r>
            <a:r>
              <a:rPr dirty="0"/>
              <a:t> loop </a:t>
            </a:r>
            <a:r>
              <a:rPr dirty="0" err="1"/>
              <a:t>infiniti</a:t>
            </a:r>
            <a:r>
              <a:rPr dirty="0"/>
              <a:t>. Il flag </a:t>
            </a:r>
            <a:r>
              <a:rPr dirty="0" err="1"/>
              <a:t>is_connecting_in_progress</a:t>
            </a:r>
            <a:r>
              <a:rPr dirty="0"/>
              <a:t> </a:t>
            </a:r>
            <a:r>
              <a:rPr dirty="0" err="1"/>
              <a:t>previene</a:t>
            </a:r>
            <a:r>
              <a:rPr dirty="0"/>
              <a:t> </a:t>
            </a:r>
            <a:r>
              <a:rPr dirty="0" err="1"/>
              <a:t>tentativi</a:t>
            </a:r>
            <a:r>
              <a:rPr dirty="0"/>
              <a:t>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simultanei</a:t>
            </a:r>
            <a:r>
              <a:rPr dirty="0"/>
              <a:t>, </a:t>
            </a:r>
            <a:r>
              <a:rPr dirty="0" err="1"/>
              <a:t>mentre</a:t>
            </a:r>
            <a:r>
              <a:rPr dirty="0"/>
              <a:t> </a:t>
            </a:r>
            <a:r>
              <a:rPr dirty="0" err="1"/>
              <a:t>connection_attempt_start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un timeout di 30 secondi </a:t>
            </a:r>
            <a:r>
              <a:rPr dirty="0" err="1"/>
              <a:t>sulla</a:t>
            </a:r>
            <a:r>
              <a:rPr dirty="0"/>
              <a:t> </a:t>
            </a:r>
            <a:r>
              <a:rPr dirty="0" err="1"/>
              <a:t>fase</a:t>
            </a:r>
            <a:r>
              <a:rPr dirty="0"/>
              <a:t> di connecting.</a:t>
            </a:r>
          </a:p>
        </p:txBody>
      </p:sp>
      <p:pic>
        <p:nvPicPr>
          <p:cNvPr id="28" name="Immagine 2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CA47F67-1480-1718-97F2-00E2956F7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" y="768202"/>
            <a:ext cx="3176728" cy="39327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9750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Architettura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Background Task - 120s Interval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CPU logger è un task background Tokio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monitora</a:t>
            </a:r>
            <a:r>
              <a:rPr dirty="0"/>
              <a:t> le </a:t>
            </a:r>
            <a:r>
              <a:rPr dirty="0" err="1"/>
              <a:t>risorse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server ogni 2 </a:t>
            </a:r>
            <a:r>
              <a:rPr dirty="0" err="1"/>
              <a:t>minuti</a:t>
            </a:r>
            <a:r>
              <a:rPr dirty="0"/>
              <a:t>. Usa la crate </a:t>
            </a:r>
            <a:r>
              <a:rPr dirty="0" err="1"/>
              <a:t>sysinfo</a:t>
            </a:r>
            <a:r>
              <a:rPr dirty="0"/>
              <a:t> per </a:t>
            </a:r>
            <a:r>
              <a:rPr dirty="0" err="1"/>
              <a:t>interrogare</a:t>
            </a:r>
            <a:r>
              <a:rPr dirty="0"/>
              <a:t>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operativo</a:t>
            </a:r>
            <a:r>
              <a:rPr dirty="0"/>
              <a:t> e </a:t>
            </a:r>
            <a:r>
              <a:rPr dirty="0" err="1"/>
              <a:t>ottenere</a:t>
            </a:r>
            <a:r>
              <a:rPr dirty="0"/>
              <a:t> CPU usage e memoria </a:t>
            </a:r>
            <a:r>
              <a:rPr dirty="0" err="1"/>
              <a:t>residente</a:t>
            </a:r>
            <a:r>
              <a:rPr dirty="0"/>
              <a:t>. La CPU </a:t>
            </a:r>
            <a:r>
              <a:rPr dirty="0" err="1"/>
              <a:t>viene</a:t>
            </a:r>
            <a:r>
              <a:rPr lang="it-IT" dirty="0"/>
              <a:t> </a:t>
            </a:r>
            <a:r>
              <a:rPr dirty="0" err="1"/>
              <a:t>normalizzata</a:t>
            </a:r>
            <a:r>
              <a:rPr dirty="0"/>
              <a:t> </a:t>
            </a:r>
            <a:r>
              <a:rPr dirty="0" err="1"/>
              <a:t>dividendo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 </a:t>
            </a:r>
            <a:r>
              <a:rPr dirty="0" err="1"/>
              <a:t>disponibili</a:t>
            </a:r>
            <a:r>
              <a:rPr dirty="0"/>
              <a:t>, </a:t>
            </a:r>
            <a:r>
              <a:rPr dirty="0" err="1"/>
              <a:t>così</a:t>
            </a:r>
            <a:r>
              <a:rPr dirty="0"/>
              <a:t> la </a:t>
            </a:r>
            <a:r>
              <a:rPr dirty="0" err="1"/>
              <a:t>percentuale</a:t>
            </a:r>
            <a:r>
              <a:rPr dirty="0"/>
              <a:t> è </a:t>
            </a:r>
            <a:r>
              <a:rPr dirty="0" err="1"/>
              <a:t>comparabile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sistemi</a:t>
            </a:r>
            <a:r>
              <a:rPr dirty="0"/>
              <a:t> </a:t>
            </a:r>
            <a:r>
              <a:rPr dirty="0" err="1"/>
              <a:t>diversi</a:t>
            </a:r>
            <a:r>
              <a:rPr dirty="0"/>
              <a:t>. La memoria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convertita</a:t>
            </a:r>
            <a:r>
              <a:rPr dirty="0"/>
              <a:t> da bytes a megabytes per </a:t>
            </a:r>
            <a:r>
              <a:rPr dirty="0" err="1"/>
              <a:t>leggibilità</a:t>
            </a:r>
            <a:r>
              <a:rPr dirty="0"/>
              <a:t>. 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scritti</a:t>
            </a:r>
            <a:r>
              <a:rPr dirty="0"/>
              <a:t> in append </a:t>
            </a:r>
            <a:r>
              <a:rPr dirty="0" err="1"/>
              <a:t>su</a:t>
            </a:r>
            <a:r>
              <a:rPr dirty="0"/>
              <a:t> server_cpu.log con timestamp UTC, </a:t>
            </a:r>
            <a:r>
              <a:rPr dirty="0" err="1"/>
              <a:t>permettendo</a:t>
            </a:r>
            <a:r>
              <a:rPr dirty="0"/>
              <a:t> di </a:t>
            </a:r>
            <a:r>
              <a:rPr dirty="0" err="1"/>
              <a:t>tracciare</a:t>
            </a:r>
            <a:r>
              <a:rPr dirty="0"/>
              <a:t> </a:t>
            </a:r>
            <a:r>
              <a:rPr dirty="0" err="1"/>
              <a:t>l'andamento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tempo.</a:t>
            </a:r>
          </a:p>
        </p:txBody>
      </p:sp>
      <p:pic>
        <p:nvPicPr>
          <p:cNvPr id="27" name="Immagine 2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578BD53-7F86-F136-F544-F61025C84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84" y="1244292"/>
            <a:ext cx="2778136" cy="28746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465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Metriche Raccolte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CPU + Memory con Timestamp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log </a:t>
            </a:r>
            <a:r>
              <a:rPr dirty="0" err="1"/>
              <a:t>mostrano</a:t>
            </a:r>
            <a:r>
              <a:rPr dirty="0"/>
              <a:t> pattern </a:t>
            </a:r>
            <a:r>
              <a:rPr dirty="0" err="1"/>
              <a:t>interessanti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il server è idle la CPU è </a:t>
            </a:r>
            <a:r>
              <a:rPr dirty="0" err="1"/>
              <a:t>praticamente</a:t>
            </a:r>
            <a:r>
              <a:rPr dirty="0"/>
              <a:t> zero, </a:t>
            </a:r>
            <a:r>
              <a:rPr dirty="0" err="1"/>
              <a:t>durante</a:t>
            </a:r>
            <a:r>
              <a:rPr dirty="0"/>
              <a:t> lo startup sale al 3-12% per </a:t>
            </a:r>
            <a:r>
              <a:rPr dirty="0" err="1"/>
              <a:t>inizializzare</a:t>
            </a:r>
            <a:r>
              <a:rPr dirty="0"/>
              <a:t> le </a:t>
            </a:r>
            <a:r>
              <a:rPr dirty="0" err="1"/>
              <a:t>strutture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, e sotto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assesta</a:t>
            </a:r>
            <a:r>
              <a:rPr dirty="0"/>
              <a:t> </a:t>
            </a:r>
            <a:r>
              <a:rPr dirty="0" err="1"/>
              <a:t>intorno</a:t>
            </a:r>
            <a:r>
              <a:rPr dirty="0"/>
              <a:t> all'1-2%. La memoria ha un baseline di circa 35 MB in </a:t>
            </a:r>
            <a:r>
              <a:rPr dirty="0" err="1"/>
              <a:t>stato</a:t>
            </a:r>
            <a:r>
              <a:rPr dirty="0"/>
              <a:t> stabile, con </a:t>
            </a:r>
            <a:r>
              <a:rPr dirty="0" err="1"/>
              <a:t>picchi</a:t>
            </a:r>
            <a:r>
              <a:rPr dirty="0"/>
              <a:t> </a:t>
            </a:r>
            <a:r>
              <a:rPr dirty="0" err="1"/>
              <a:t>fino</a:t>
            </a:r>
            <a:r>
              <a:rPr dirty="0"/>
              <a:t> a 95 MB </a:t>
            </a:r>
            <a:r>
              <a:rPr dirty="0" err="1"/>
              <a:t>durante</a:t>
            </a:r>
            <a:r>
              <a:rPr dirty="0"/>
              <a:t> </a:t>
            </a:r>
            <a:r>
              <a:rPr dirty="0" err="1"/>
              <a:t>caricamenti</a:t>
            </a:r>
            <a:r>
              <a:rPr dirty="0"/>
              <a:t> di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intensivi</a:t>
            </a:r>
            <a:r>
              <a:rPr dirty="0"/>
              <a:t>. Non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vedono</a:t>
            </a:r>
            <a:r>
              <a:rPr dirty="0"/>
              <a:t> memory leak: la memoria </a:t>
            </a:r>
            <a:r>
              <a:rPr dirty="0" err="1"/>
              <a:t>rimane</a:t>
            </a:r>
            <a:r>
              <a:rPr dirty="0"/>
              <a:t> stabile per ore </a:t>
            </a:r>
            <a:r>
              <a:rPr dirty="0" err="1"/>
              <a:t>quando</a:t>
            </a:r>
            <a:r>
              <a:rPr dirty="0"/>
              <a:t> non </a:t>
            </a:r>
            <a:r>
              <a:rPr dirty="0" err="1"/>
              <a:t>c'è</a:t>
            </a:r>
            <a:r>
              <a:rPr dirty="0"/>
              <a:t> </a:t>
            </a:r>
            <a:r>
              <a:rPr dirty="0" err="1"/>
              <a:t>attività</a:t>
            </a:r>
            <a:r>
              <a:rPr dirty="0"/>
              <a:t>. La formula per la CPU divide </a:t>
            </a:r>
            <a:r>
              <a:rPr dirty="0" err="1"/>
              <a:t>l'usage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core, </a:t>
            </a:r>
            <a:r>
              <a:rPr dirty="0" err="1"/>
              <a:t>quindi</a:t>
            </a:r>
            <a:r>
              <a:rPr dirty="0"/>
              <a:t> 1.33%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sistema</a:t>
            </a:r>
            <a:r>
              <a:rPr dirty="0"/>
              <a:t> a 8 core equivale a circa 10% di </a:t>
            </a:r>
            <a:r>
              <a:rPr dirty="0" err="1"/>
              <a:t>utilizzo</a:t>
            </a:r>
            <a:r>
              <a:rPr dirty="0"/>
              <a:t> di un </a:t>
            </a:r>
            <a:r>
              <a:rPr dirty="0" err="1"/>
              <a:t>singolo</a:t>
            </a:r>
            <a:r>
              <a:rPr dirty="0"/>
              <a:t> core.</a:t>
            </a:r>
          </a:p>
        </p:txBody>
      </p:sp>
      <p:pic>
        <p:nvPicPr>
          <p:cNvPr id="19" name="Immagine 1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4A4F16A-1EF7-541B-1801-19DC3D81E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90" y="1410789"/>
            <a:ext cx="3231516" cy="25110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0437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1: Message Broadcast Write Storm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90911"/>
            <a:ext cx="4095750" cy="531316"/>
          </a:xfrm>
          <a:prstGeom prst="roundRect">
            <a:avLst>
              <a:gd name="adj" fmla="val 10756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Batch Threshold + Dynamic VALUES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inviato</a:t>
            </a:r>
            <a:r>
              <a:rPr dirty="0"/>
              <a:t> a 1000 </a:t>
            </a:r>
            <a:r>
              <a:rPr dirty="0" err="1"/>
              <a:t>utenti</a:t>
            </a:r>
            <a:r>
              <a:rPr dirty="0"/>
              <a:t>, </a:t>
            </a:r>
            <a:r>
              <a:rPr dirty="0" err="1"/>
              <a:t>l'approccio</a:t>
            </a:r>
            <a:r>
              <a:rPr dirty="0"/>
              <a:t> naif </a:t>
            </a:r>
            <a:r>
              <a:rPr dirty="0" err="1"/>
              <a:t>farebbe</a:t>
            </a:r>
            <a:r>
              <a:rPr dirty="0"/>
              <a:t> 1 INSERT per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INSERT in </a:t>
            </a:r>
            <a:r>
              <a:rPr dirty="0" err="1"/>
              <a:t>user_events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UPDATE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user_sequences</a:t>
            </a:r>
            <a:r>
              <a:rPr dirty="0"/>
              <a:t>: </a:t>
            </a:r>
            <a:r>
              <a:rPr dirty="0" err="1"/>
              <a:t>oltre</a:t>
            </a:r>
            <a:r>
              <a:rPr dirty="0"/>
              <a:t> 2000 </a:t>
            </a:r>
            <a:r>
              <a:rPr dirty="0" err="1"/>
              <a:t>operazioni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causano</a:t>
            </a:r>
            <a:r>
              <a:rPr dirty="0"/>
              <a:t> timeout. 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un threshold </a:t>
            </a:r>
            <a:r>
              <a:rPr dirty="0" err="1"/>
              <a:t>intelligente</a:t>
            </a:r>
            <a:r>
              <a:rPr dirty="0"/>
              <a:t>: sotto 10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conviene</a:t>
            </a:r>
            <a:r>
              <a:rPr dirty="0"/>
              <a:t> fare un loop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l'overhead</a:t>
            </a:r>
            <a:r>
              <a:rPr dirty="0"/>
              <a:t> del batch non è </a:t>
            </a:r>
            <a:r>
              <a:rPr dirty="0" err="1"/>
              <a:t>giustificato</a:t>
            </a:r>
            <a:r>
              <a:rPr dirty="0"/>
              <a:t>, sopra 10 il batch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fondamentale</a:t>
            </a:r>
            <a:r>
              <a:rPr dirty="0"/>
              <a:t>. Il batch </a:t>
            </a:r>
            <a:r>
              <a:rPr dirty="0" err="1"/>
              <a:t>costruisce</a:t>
            </a:r>
            <a:r>
              <a:rPr dirty="0"/>
              <a:t> </a:t>
            </a:r>
            <a:r>
              <a:rPr dirty="0" err="1"/>
              <a:t>dinamicamente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query con VALUES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concatenati</a:t>
            </a:r>
            <a:r>
              <a:rPr dirty="0"/>
              <a:t>, </a:t>
            </a:r>
            <a:r>
              <a:rPr dirty="0" err="1"/>
              <a:t>trasformando</a:t>
            </a:r>
            <a:r>
              <a:rPr dirty="0"/>
              <a:t> 1000 INSERT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singola</a:t>
            </a:r>
            <a:r>
              <a:rPr dirty="0"/>
              <a:t> query. I test </a:t>
            </a:r>
            <a:r>
              <a:rPr dirty="0" err="1"/>
              <a:t>mostrano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con 1000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da 1-2 secondi a circa 20 </a:t>
            </a:r>
            <a:r>
              <a:rPr dirty="0" err="1"/>
              <a:t>millisecondi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A92D600-4BEB-F7AE-F4C4-BE2CEC3C3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33" y="807626"/>
            <a:ext cx="2627562" cy="380455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077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2: Initial State Loading Bottleneck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381000" y="714226"/>
            <a:ext cx="8549640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con 100+ Conversazioni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81000" y="1168482"/>
            <a:ext cx="4915989" cy="1413272"/>
          </a:xfrm>
          <a:prstGeom prst="roundRect">
            <a:avLst>
              <a:gd name="adj" fmla="val 4210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126280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Problema: Caricamento Completo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14350" y="1487537"/>
            <a:ext cx="8277606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Utente con 100+ conversazioni → Login/Reconnect carica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conversazioni: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SELECT conversations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JOIN participants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Setup 100+ broadcast subscriptions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75" b="1" dirty="0" err="1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Risultato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Login time &gt;500ms (inaccettabile), DB queries insostenibili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381000" y="2689313"/>
            <a:ext cx="4915989" cy="1191379"/>
          </a:xfrm>
          <a:prstGeom prst="roundRect">
            <a:avLst>
              <a:gd name="adj" fmla="val 5652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4350" y="277281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Soluzione: Lazy Loading (Top 20)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4350" y="2997547"/>
            <a:ext cx="8277606" cy="51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Carica solo le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conversazioni più recenti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(ORDER BY created_at DESC LIMIT 20).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Resto caricato 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on-demand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quando utente scrolla → Pagination.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UI responsive immediatamente, carico DB ridotto drasticamente.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381000" y="4006936"/>
            <a:ext cx="4915989" cy="844675"/>
          </a:xfrm>
          <a:prstGeom prst="roundRect">
            <a:avLst>
              <a:gd name="adj" fmla="val 4771"/>
            </a:avLst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9872" y="4092628"/>
            <a:ext cx="82776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Impact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14350" y="4317504"/>
            <a:ext cx="8277606" cy="47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time: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500ms → 50ms (10x più veloce)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100+ → 20 (5x </a:t>
            </a:r>
            <a:r>
              <a:rPr lang="en-US" sz="975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riduzione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975" dirty="0"/>
          </a:p>
        </p:txBody>
      </p:sp>
      <p:sp>
        <p:nvSpPr>
          <p:cNvPr id="13" name="TextBox 12"/>
          <p:cNvSpPr txBox="1"/>
          <p:nvPr/>
        </p:nvSpPr>
        <p:spPr>
          <a:xfrm>
            <a:off x="5507641" y="1145522"/>
            <a:ext cx="35621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0070C0"/>
                </a:solidFill>
                <a:latin typeface="Calibri"/>
              </a:defRPr>
            </a:pPr>
            <a:r>
              <a:rPr dirty="0"/>
              <a:t>Lazy Loading (Top 20)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utente</a:t>
            </a:r>
            <a:r>
              <a:rPr dirty="0"/>
              <a:t> con </a:t>
            </a:r>
            <a:r>
              <a:rPr dirty="0" err="1"/>
              <a:t>centinaia</a:t>
            </a:r>
            <a:r>
              <a:rPr dirty="0"/>
              <a:t> di </a:t>
            </a:r>
            <a:r>
              <a:rPr dirty="0" err="1"/>
              <a:t>conversazioni</a:t>
            </a:r>
            <a:r>
              <a:rPr dirty="0"/>
              <a:t> fa login, </a:t>
            </a:r>
            <a:r>
              <a:rPr dirty="0" err="1"/>
              <a:t>caricarle</a:t>
            </a:r>
            <a:r>
              <a:rPr dirty="0"/>
              <a:t> tutte </a:t>
            </a:r>
            <a:r>
              <a:rPr dirty="0" err="1"/>
              <a:t>causerebbe</a:t>
            </a:r>
            <a:r>
              <a:rPr dirty="0"/>
              <a:t> timeout e UI </a:t>
            </a:r>
            <a:r>
              <a:rPr dirty="0" err="1"/>
              <a:t>bloccata</a:t>
            </a:r>
            <a:r>
              <a:rPr dirty="0"/>
              <a:t>. La </a:t>
            </a:r>
            <a:r>
              <a:rPr dirty="0" err="1"/>
              <a:t>soluzione</a:t>
            </a:r>
            <a:r>
              <a:rPr dirty="0"/>
              <a:t> è </a:t>
            </a:r>
            <a:r>
              <a:rPr dirty="0" err="1"/>
              <a:t>caricare</a:t>
            </a:r>
            <a:r>
              <a:rPr dirty="0"/>
              <a:t> solo le 20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 ordinate per ultima </a:t>
            </a:r>
            <a:r>
              <a:rPr dirty="0" err="1"/>
              <a:t>attività</a:t>
            </a:r>
            <a:r>
              <a:rPr dirty="0"/>
              <a:t>. La query </a:t>
            </a:r>
            <a:r>
              <a:rPr dirty="0" err="1"/>
              <a:t>ottimizzata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JOIN </a:t>
            </a:r>
            <a:r>
              <a:rPr dirty="0" err="1"/>
              <a:t>invece</a:t>
            </a:r>
            <a:r>
              <a:rPr dirty="0"/>
              <a:t> di subquery, </a:t>
            </a:r>
            <a:r>
              <a:rPr dirty="0" err="1"/>
              <a:t>recuperando</a:t>
            </a:r>
            <a:r>
              <a:rPr dirty="0"/>
              <a:t> in un </a:t>
            </a:r>
            <a:r>
              <a:rPr dirty="0" err="1"/>
              <a:t>colpo</a:t>
            </a:r>
            <a:r>
              <a:rPr dirty="0"/>
              <a:t> solo conversazione, ultimo </a:t>
            </a:r>
            <a:r>
              <a:rPr dirty="0" err="1"/>
              <a:t>messaggio</a:t>
            </a:r>
            <a:r>
              <a:rPr dirty="0"/>
              <a:t> e </a:t>
            </a:r>
            <a:r>
              <a:rPr dirty="0" err="1"/>
              <a:t>membri</a:t>
            </a:r>
            <a:r>
              <a:rPr dirty="0"/>
              <a:t>. Il resto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caricato</a:t>
            </a:r>
            <a:r>
              <a:rPr dirty="0"/>
              <a:t> on-demand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scrolla</a:t>
            </a:r>
            <a:r>
              <a:rPr dirty="0"/>
              <a:t>, </a:t>
            </a:r>
            <a:r>
              <a:rPr dirty="0" err="1"/>
              <a:t>implementando</a:t>
            </a:r>
            <a:r>
              <a:rPr dirty="0"/>
              <a:t> pagination </a:t>
            </a:r>
            <a:r>
              <a:rPr dirty="0" err="1"/>
              <a:t>efficace</a:t>
            </a:r>
            <a:r>
              <a:rPr dirty="0"/>
              <a:t>. Il </a:t>
            </a:r>
            <a:r>
              <a:rPr dirty="0" err="1"/>
              <a:t>risultato</a:t>
            </a:r>
            <a:r>
              <a:rPr dirty="0"/>
              <a:t> è </a:t>
            </a:r>
            <a:r>
              <a:rPr dirty="0" err="1"/>
              <a:t>che</a:t>
            </a:r>
            <a:r>
              <a:rPr dirty="0"/>
              <a:t> il login time </a:t>
            </a:r>
            <a:r>
              <a:rPr dirty="0" err="1"/>
              <a:t>passa</a:t>
            </a:r>
            <a:r>
              <a:rPr dirty="0"/>
              <a:t> da </a:t>
            </a:r>
            <a:r>
              <a:rPr dirty="0" err="1"/>
              <a:t>oltre</a:t>
            </a:r>
            <a:r>
              <a:rPr dirty="0"/>
              <a:t> 500ms a circa 10-30ms, con un </a:t>
            </a:r>
            <a:r>
              <a:rPr dirty="0" err="1"/>
              <a:t>numero</a:t>
            </a:r>
            <a:r>
              <a:rPr dirty="0"/>
              <a:t> di query ridotto di 5 volte.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02687" y="1960364"/>
            <a:ext cx="2138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36231" y="2665214"/>
            <a:ext cx="287153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136231" y="3152775"/>
            <a:ext cx="28715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900"/>
              </a:spcBef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2751</Words>
  <Application>Microsoft Office PowerPoint</Application>
  <PresentationFormat>Presentazione su schermo (16:9)</PresentationFormat>
  <Paragraphs>158</Paragraphs>
  <Slides>25</Slides>
  <Notes>25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28" baseType="lpstr">
      <vt:lpstr>Arial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Pedalino  Alberto</cp:lastModifiedBy>
  <cp:revision>12</cp:revision>
  <dcterms:created xsi:type="dcterms:W3CDTF">2025-12-24T00:59:56Z</dcterms:created>
  <dcterms:modified xsi:type="dcterms:W3CDTF">2026-02-28T16:08:06Z</dcterms:modified>
</cp:coreProperties>
</file>