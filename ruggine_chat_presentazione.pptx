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82" r:id="rId3"/>
    <p:sldId id="283" r:id="rId4"/>
    <p:sldId id="259" r:id="rId5"/>
    <p:sldId id="262" r:id="rId6"/>
    <p:sldId id="260" r:id="rId7"/>
    <p:sldId id="261" r:id="rId8"/>
    <p:sldId id="263" r:id="rId9"/>
    <p:sldId id="265" r:id="rId10"/>
    <p:sldId id="264" r:id="rId11"/>
    <p:sldId id="266" r:id="rId12"/>
    <p:sldId id="284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1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498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731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0114E-CA04-17E5-F356-A6D87A082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EA418B-EC0A-15F3-F28B-497DD02BF9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C3A316-EACC-4BA2-17AB-8F4AC198FD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C34B3C-84FF-BA86-CA9A-C17A2A5FF3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7783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E42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0630" y="1211759"/>
            <a:ext cx="3662592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50"/>
              </a:lnSpc>
              <a:buNone/>
            </a:pPr>
            <a:r>
              <a:rPr lang="en-US" sz="4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Rust Ruggine</a:t>
            </a:r>
            <a:endParaRPr lang="en-US" sz="4350" dirty="0"/>
          </a:p>
        </p:txBody>
      </p:sp>
      <p:sp>
        <p:nvSpPr>
          <p:cNvPr id="3" name="Text 1"/>
          <p:cNvSpPr/>
          <p:nvPr/>
        </p:nvSpPr>
        <p:spPr>
          <a:xfrm>
            <a:off x="1567178" y="1916609"/>
            <a:ext cx="6009644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315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Applicazione di Messaggistica Real-Time</a:t>
            </a:r>
            <a:endParaRPr lang="en-US" sz="2550" dirty="0"/>
          </a:p>
          <a:p>
            <a:pPr marL="0" indent="0" algn="ctr">
              <a:lnSpc>
                <a:spcPts val="3315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Architettura Client-Server in Rust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1567178" y="3387030"/>
            <a:ext cx="600964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Politecnico di Torino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687bc8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880392"/>
            <a:ext cx="4282380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3" name="Text 0"/>
          <p:cNvSpPr/>
          <p:nvPr/>
        </p:nvSpPr>
        <p:spPr>
          <a:xfrm>
            <a:off x="403771" y="971772"/>
            <a:ext cx="4049542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📡 HTTP</a:t>
            </a:r>
            <a:endParaRPr lang="en-US" sz="1140" dirty="0"/>
          </a:p>
        </p:txBody>
      </p:sp>
      <p:sp>
        <p:nvSpPr>
          <p:cNvPr id="4" name="Text 1"/>
          <p:cNvSpPr/>
          <p:nvPr/>
        </p:nvSpPr>
        <p:spPr>
          <a:xfrm>
            <a:off x="403771" y="1220167"/>
            <a:ext cx="4049542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Axum Router + Middleware | REST endpoints</a:t>
            </a:r>
            <a:endParaRPr lang="en-US" sz="900" dirty="0"/>
          </a:p>
        </p:txBody>
      </p:sp>
      <p:pic>
        <p:nvPicPr>
          <p:cNvPr id="5" name="Image 1" descr="/tmp/rasterized-gradient-f77cc0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2871" y="880392"/>
            <a:ext cx="4282529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6" name="Text 2"/>
          <p:cNvSpPr/>
          <p:nvPr/>
        </p:nvSpPr>
        <p:spPr>
          <a:xfrm>
            <a:off x="4808041" y="971772"/>
            <a:ext cx="4049694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🔌 WebSocket</a:t>
            </a:r>
            <a:endParaRPr lang="en-US" sz="1140" dirty="0"/>
          </a:p>
        </p:txBody>
      </p:sp>
      <p:sp>
        <p:nvSpPr>
          <p:cNvPr id="7" name="Text 3"/>
          <p:cNvSpPr/>
          <p:nvPr/>
        </p:nvSpPr>
        <p:spPr>
          <a:xfrm>
            <a:off x="4808041" y="1220167"/>
            <a:ext cx="4049694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 Upgrade Path | Actor Pattern (Reader/Writer/Receiver)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41732" y="1509488"/>
            <a:ext cx="8860536" cy="121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6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pic>
        <p:nvPicPr>
          <p:cNvPr id="9" name="Image 2" descr="/tmp/rasterized-gradient-067069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1692249"/>
            <a:ext cx="8686800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10" name="Text 5"/>
          <p:cNvSpPr/>
          <p:nvPr/>
        </p:nvSpPr>
        <p:spPr>
          <a:xfrm>
            <a:off x="403771" y="1783630"/>
            <a:ext cx="8542050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🎮 Controllers (HTTP/WS)</a:t>
            </a:r>
            <a:endParaRPr lang="en-US" sz="1140" dirty="0"/>
          </a:p>
        </p:txBody>
      </p:sp>
      <p:sp>
        <p:nvSpPr>
          <p:cNvPr id="11" name="Text 6"/>
          <p:cNvSpPr/>
          <p:nvPr/>
        </p:nvSpPr>
        <p:spPr>
          <a:xfrm>
            <a:off x="403771" y="2032024"/>
            <a:ext cx="854205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 UserController, MessageController, ConversationController | WebSocket: ws_entrypoint, ConnectionActor, handlers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41732" y="2321346"/>
            <a:ext cx="8860536" cy="121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6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pic>
        <p:nvPicPr>
          <p:cNvPr id="13" name="Image 3" descr="/tmp/rasterized-gradient-6f7ecac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2504107"/>
            <a:ext cx="8686800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14" name="Text 8"/>
          <p:cNvSpPr/>
          <p:nvPr/>
        </p:nvSpPr>
        <p:spPr>
          <a:xfrm>
            <a:off x="403771" y="2595487"/>
            <a:ext cx="8542050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Services (Business Logic) - CONDIVISI</a:t>
            </a:r>
            <a:endParaRPr lang="en-US" sz="1140" dirty="0"/>
          </a:p>
        </p:txBody>
      </p:sp>
      <p:sp>
        <p:nvSpPr>
          <p:cNvPr id="15" name="Text 9"/>
          <p:cNvSpPr/>
          <p:nvPr/>
        </p:nvSpPr>
        <p:spPr>
          <a:xfrm>
            <a:off x="403771" y="2843881"/>
            <a:ext cx="854205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MessageService, ConversationService, UserService, ParticipantService | Orchestrazione repository, validazione business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141732" y="3133203"/>
            <a:ext cx="8860536" cy="121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6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pic>
        <p:nvPicPr>
          <p:cNvPr id="17" name="Image 4" descr="/tmp/rasterized-gradient-a12e6ab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3315964"/>
            <a:ext cx="8686800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18" name="Text 11"/>
          <p:cNvSpPr/>
          <p:nvPr/>
        </p:nvSpPr>
        <p:spPr>
          <a:xfrm>
            <a:off x="403771" y="3407345"/>
            <a:ext cx="8542050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💾 Repositories (Data Access) - CONDIVISI</a:t>
            </a:r>
            <a:endParaRPr lang="en-US" sz="1140" dirty="0"/>
          </a:p>
        </p:txBody>
      </p:sp>
      <p:sp>
        <p:nvSpPr>
          <p:cNvPr id="19" name="Text 12"/>
          <p:cNvSpPr/>
          <p:nvPr/>
        </p:nvSpPr>
        <p:spPr>
          <a:xfrm>
            <a:off x="403771" y="3655739"/>
            <a:ext cx="854205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MessageRepo, ConversationRepo, UserRepo, ParticipantRepo | Query SQL, mapping row → struct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141732" y="3945061"/>
            <a:ext cx="8860536" cy="121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6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pic>
        <p:nvPicPr>
          <p:cNvPr id="21" name="Image 5" descr="/tmp/rasterized-gradient-4c3cae5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600" y="4127822"/>
            <a:ext cx="8686800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22" name="Text 14"/>
          <p:cNvSpPr/>
          <p:nvPr/>
        </p:nvSpPr>
        <p:spPr>
          <a:xfrm>
            <a:off x="403771" y="4219202"/>
            <a:ext cx="8542050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🗄️ Database (SQLite + WAL)</a:t>
            </a:r>
            <a:endParaRPr lang="en-US" sz="1140" dirty="0"/>
          </a:p>
        </p:txBody>
      </p:sp>
      <p:sp>
        <p:nvSpPr>
          <p:cNvPr id="23" name="Text 15"/>
          <p:cNvSpPr/>
          <p:nvPr/>
        </p:nvSpPr>
        <p:spPr>
          <a:xfrm>
            <a:off x="403771" y="4467596"/>
            <a:ext cx="854205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| conversations | participants | messages | message_sequences | user_events | user_sequences</a:t>
            </a:r>
            <a:endParaRPr lang="en-US" sz="900" dirty="0"/>
          </a:p>
        </p:txBody>
      </p:sp>
      <p:sp>
        <p:nvSpPr>
          <p:cNvPr id="24" name="Text 0">
            <a:extLst>
              <a:ext uri="{FF2B5EF4-FFF2-40B4-BE49-F238E27FC236}">
                <a16:creationId xmlns:a16="http://schemas.microsoft.com/office/drawing/2014/main" id="{757AD6E2-6DDC-621F-DE35-CB61D31766F3}"/>
              </a:ext>
            </a:extLst>
          </p:cNvPr>
          <p:cNvSpPr/>
          <p:nvPr/>
        </p:nvSpPr>
        <p:spPr>
          <a:xfrm>
            <a:off x="381000" y="228600"/>
            <a:ext cx="494519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Pattern Architetturale</a:t>
            </a:r>
            <a:endParaRPr lang="en-US" sz="2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228600"/>
            <a:ext cx="4439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spcAft>
                <a:spcPts val="720"/>
              </a:spcAft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Frontend: Pattern Architetturale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28600" y="548580"/>
            <a:ext cx="4267200" cy="459730"/>
          </a:xfrm>
          <a:prstGeom prst="roundRect">
            <a:avLst>
              <a:gd name="adj" fmla="val 8287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242888" y="548580"/>
            <a:ext cx="0" cy="459730"/>
          </a:xfrm>
          <a:prstGeom prst="line">
            <a:avLst/>
          </a:prstGeom>
          <a:noFill/>
          <a:ln w="28575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363736" y="617041"/>
            <a:ext cx="4106013" cy="170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spcAft>
                <a:spcPts val="180"/>
              </a:spcAft>
              <a:buNone/>
            </a:pPr>
            <a:r>
              <a:rPr lang="en-US" sz="96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Layer</a:t>
            </a:r>
            <a:endParaRPr lang="en-US" sz="960" dirty="0"/>
          </a:p>
        </p:txBody>
      </p:sp>
      <p:sp>
        <p:nvSpPr>
          <p:cNvPr id="6" name="Text 4"/>
          <p:cNvSpPr/>
          <p:nvPr/>
        </p:nvSpPr>
        <p:spPr>
          <a:xfrm>
            <a:off x="363736" y="810369"/>
            <a:ext cx="4106013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egui (Immediate Mode GUI) | Render functions (~60Hz)</a:t>
            </a:r>
            <a:endParaRPr lang="en-US" sz="816" dirty="0"/>
          </a:p>
        </p:txBody>
      </p:sp>
      <p:sp>
        <p:nvSpPr>
          <p:cNvPr id="7" name="Text 5"/>
          <p:cNvSpPr/>
          <p:nvPr/>
        </p:nvSpPr>
        <p:spPr>
          <a:xfrm>
            <a:off x="185928" y="1061591"/>
            <a:ext cx="4352544" cy="6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80"/>
              </a:lnSpc>
              <a:buNone/>
            </a:pPr>
            <a:r>
              <a:rPr lang="en-US" sz="9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960" dirty="0"/>
          </a:p>
        </p:txBody>
      </p:sp>
      <p:sp>
        <p:nvSpPr>
          <p:cNvPr id="8" name="Text 6"/>
          <p:cNvSpPr/>
          <p:nvPr/>
        </p:nvSpPr>
        <p:spPr>
          <a:xfrm>
            <a:off x="228600" y="1175742"/>
            <a:ext cx="4267200" cy="459730"/>
          </a:xfrm>
          <a:prstGeom prst="roundRect">
            <a:avLst>
              <a:gd name="adj" fmla="val 8287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242888" y="1175742"/>
            <a:ext cx="0" cy="459730"/>
          </a:xfrm>
          <a:prstGeom prst="line">
            <a:avLst/>
          </a:prstGeom>
          <a:noFill/>
          <a:ln w="28575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363736" y="1244203"/>
            <a:ext cx="4106013" cy="170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spcAft>
                <a:spcPts val="180"/>
              </a:spcAft>
              <a:buNone/>
            </a:pPr>
            <a:r>
              <a:rPr lang="en-US" sz="96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EventDispatcher (Router)</a:t>
            </a:r>
            <a:endParaRPr lang="en-US" sz="960" dirty="0"/>
          </a:p>
        </p:txBody>
      </p:sp>
      <p:sp>
        <p:nvSpPr>
          <p:cNvPr id="11" name="Text 9"/>
          <p:cNvSpPr/>
          <p:nvPr/>
        </p:nvSpPr>
        <p:spPr>
          <a:xfrm>
            <a:off x="363736" y="1437531"/>
            <a:ext cx="4106013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 ui_rx → Route handlers</a:t>
            </a:r>
            <a:endParaRPr lang="en-US" sz="816" dirty="0"/>
          </a:p>
        </p:txBody>
      </p:sp>
      <p:sp>
        <p:nvSpPr>
          <p:cNvPr id="12" name="Text 10"/>
          <p:cNvSpPr/>
          <p:nvPr/>
        </p:nvSpPr>
        <p:spPr>
          <a:xfrm>
            <a:off x="185928" y="1688753"/>
            <a:ext cx="4352544" cy="6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80"/>
              </a:lnSpc>
              <a:buNone/>
            </a:pPr>
            <a:r>
              <a:rPr lang="en-US" sz="9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960" dirty="0"/>
          </a:p>
        </p:txBody>
      </p:sp>
      <p:sp>
        <p:nvSpPr>
          <p:cNvPr id="13" name="Text 11"/>
          <p:cNvSpPr/>
          <p:nvPr/>
        </p:nvSpPr>
        <p:spPr>
          <a:xfrm>
            <a:off x="228600" y="1802904"/>
            <a:ext cx="4267200" cy="459730"/>
          </a:xfrm>
          <a:prstGeom prst="roundRect">
            <a:avLst>
              <a:gd name="adj" fmla="val 8287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242888" y="1802904"/>
            <a:ext cx="0" cy="459730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363736" y="1871365"/>
            <a:ext cx="4106013" cy="170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spcAft>
                <a:spcPts val="180"/>
              </a:spcAft>
              <a:buNone/>
            </a:pPr>
            <a:r>
              <a:rPr lang="en-US" sz="96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Handlers (Business)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363736" y="2064693"/>
            <a:ext cx="4106013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Mutano AppState</a:t>
            </a:r>
            <a:endParaRPr lang="en-US" sz="816" dirty="0"/>
          </a:p>
        </p:txBody>
      </p:sp>
      <p:sp>
        <p:nvSpPr>
          <p:cNvPr id="17" name="Text 15"/>
          <p:cNvSpPr/>
          <p:nvPr/>
        </p:nvSpPr>
        <p:spPr>
          <a:xfrm>
            <a:off x="185928" y="2315914"/>
            <a:ext cx="4352544" cy="6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80"/>
              </a:lnSpc>
              <a:buNone/>
            </a:pPr>
            <a:r>
              <a:rPr lang="en-US" sz="9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960" dirty="0"/>
          </a:p>
        </p:txBody>
      </p:sp>
      <p:sp>
        <p:nvSpPr>
          <p:cNvPr id="18" name="Text 16"/>
          <p:cNvSpPr/>
          <p:nvPr/>
        </p:nvSpPr>
        <p:spPr>
          <a:xfrm>
            <a:off x="228600" y="2430066"/>
            <a:ext cx="4267200" cy="673298"/>
          </a:xfrm>
          <a:prstGeom prst="roundRect">
            <a:avLst>
              <a:gd name="adj" fmla="val 5659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42888" y="2430066"/>
            <a:ext cx="0" cy="673298"/>
          </a:xfrm>
          <a:prstGeom prst="line">
            <a:avLst/>
          </a:prstGeom>
          <a:noFill/>
          <a:ln w="2857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325636" y="2498527"/>
            <a:ext cx="2020342" cy="536377"/>
          </a:xfrm>
          <a:prstGeom prst="roundRect">
            <a:avLst>
              <a:gd name="adj" fmla="val 5327"/>
            </a:avLst>
          </a:prstGeom>
          <a:solidFill>
            <a:srgbClr val="F0FDF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71326" y="2544217"/>
            <a:ext cx="1967541" cy="289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spcAft>
                <a:spcPts val="180"/>
              </a:spcAft>
              <a:buNone/>
            </a:pPr>
            <a:r>
              <a:rPr lang="en-US" sz="816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AppState</a:t>
            </a:r>
            <a:endParaRPr lang="en-US" sz="816" dirty="0"/>
          </a:p>
          <a:p>
            <a:pPr marL="0" indent="0" algn="l">
              <a:lnSpc>
                <a:spcPts val="1142"/>
              </a:lnSpc>
              <a:spcAft>
                <a:spcPts val="180"/>
              </a:spcAft>
              <a:buNone/>
            </a:pPr>
            <a:r>
              <a:rPr lang="en-US" sz="816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(Single Truth)</a:t>
            </a:r>
            <a:endParaRPr lang="en-US" sz="816" dirty="0"/>
          </a:p>
        </p:txBody>
      </p:sp>
      <p:sp>
        <p:nvSpPr>
          <p:cNvPr id="22" name="Text 20"/>
          <p:cNvSpPr/>
          <p:nvPr/>
        </p:nvSpPr>
        <p:spPr>
          <a:xfrm>
            <a:off x="371326" y="2856905"/>
            <a:ext cx="1967541" cy="1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42"/>
              </a:lnSpc>
              <a:buNone/>
            </a:pPr>
            <a:r>
              <a:rPr lang="en-US" sz="744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Stato centralizzato</a:t>
            </a:r>
            <a:endParaRPr lang="en-US" sz="744" dirty="0"/>
          </a:p>
        </p:txBody>
      </p:sp>
      <p:sp>
        <p:nvSpPr>
          <p:cNvPr id="23" name="Text 21"/>
          <p:cNvSpPr/>
          <p:nvPr/>
        </p:nvSpPr>
        <p:spPr>
          <a:xfrm>
            <a:off x="2406848" y="2498527"/>
            <a:ext cx="2020491" cy="536377"/>
          </a:xfrm>
          <a:prstGeom prst="roundRect">
            <a:avLst>
              <a:gd name="adj" fmla="val 5327"/>
            </a:avLst>
          </a:prstGeom>
          <a:solidFill>
            <a:srgbClr val="F0FDF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452539" y="2544217"/>
            <a:ext cx="1967692" cy="289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spcAft>
                <a:spcPts val="180"/>
              </a:spcAft>
              <a:buNone/>
            </a:pPr>
            <a:r>
              <a:rPr lang="en-US" sz="816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ui_to_net_tx</a:t>
            </a:r>
            <a:endParaRPr lang="en-US" sz="816" dirty="0"/>
          </a:p>
          <a:p>
            <a:pPr marL="0" indent="0" algn="l">
              <a:lnSpc>
                <a:spcPts val="1142"/>
              </a:lnSpc>
              <a:spcAft>
                <a:spcPts val="180"/>
              </a:spcAft>
              <a:buNone/>
            </a:pPr>
            <a:r>
              <a:rPr lang="en-US" sz="816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(UI → Network)</a:t>
            </a:r>
            <a:endParaRPr lang="en-US" sz="816" dirty="0"/>
          </a:p>
        </p:txBody>
      </p:sp>
      <p:sp>
        <p:nvSpPr>
          <p:cNvPr id="25" name="Text 23"/>
          <p:cNvSpPr/>
          <p:nvPr/>
        </p:nvSpPr>
        <p:spPr>
          <a:xfrm>
            <a:off x="2452539" y="2856905"/>
            <a:ext cx="1967692" cy="1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42"/>
              </a:lnSpc>
              <a:buNone/>
            </a:pPr>
            <a:r>
              <a:rPr lang="en-US" sz="744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Comandi al backend</a:t>
            </a:r>
            <a:endParaRPr lang="en-US" sz="744" dirty="0"/>
          </a:p>
        </p:txBody>
      </p:sp>
      <p:sp>
        <p:nvSpPr>
          <p:cNvPr id="26" name="Text 24"/>
          <p:cNvSpPr/>
          <p:nvPr/>
        </p:nvSpPr>
        <p:spPr>
          <a:xfrm>
            <a:off x="185928" y="3156645"/>
            <a:ext cx="4352544" cy="6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80"/>
              </a:lnSpc>
              <a:buNone/>
            </a:pPr>
            <a:r>
              <a:rPr lang="en-US" sz="9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960" dirty="0"/>
          </a:p>
        </p:txBody>
      </p:sp>
      <p:sp>
        <p:nvSpPr>
          <p:cNvPr id="27" name="Text 25"/>
          <p:cNvSpPr/>
          <p:nvPr/>
        </p:nvSpPr>
        <p:spPr>
          <a:xfrm>
            <a:off x="228600" y="3270796"/>
            <a:ext cx="4267200" cy="589211"/>
          </a:xfrm>
          <a:prstGeom prst="roundRect">
            <a:avLst>
              <a:gd name="adj" fmla="val 6466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242888" y="3270796"/>
            <a:ext cx="0" cy="589211"/>
          </a:xfrm>
          <a:prstGeom prst="line">
            <a:avLst/>
          </a:prstGeom>
          <a:noFill/>
          <a:ln w="28575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363736" y="3339257"/>
            <a:ext cx="4106013" cy="170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spcAft>
                <a:spcPts val="180"/>
              </a:spcAft>
              <a:buNone/>
            </a:pPr>
            <a:r>
              <a:rPr lang="en-US" sz="96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WebSocketManager (Networking)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363736" y="3532584"/>
            <a:ext cx="4106013" cy="258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Riceve WS dal backend | Spacchetta messaggi | Invia UiEvent via ui_tx | Lifecycle + health</a:t>
            </a:r>
            <a:endParaRPr lang="en-US" sz="816" dirty="0"/>
          </a:p>
        </p:txBody>
      </p:sp>
      <p:sp>
        <p:nvSpPr>
          <p:cNvPr id="31" name="Text 29"/>
          <p:cNvSpPr/>
          <p:nvPr/>
        </p:nvSpPr>
        <p:spPr>
          <a:xfrm>
            <a:off x="185928" y="3913287"/>
            <a:ext cx="4352544" cy="6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80"/>
              </a:lnSpc>
              <a:buNone/>
            </a:pPr>
            <a:r>
              <a:rPr lang="en-US" sz="9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960" dirty="0"/>
          </a:p>
        </p:txBody>
      </p:sp>
      <p:pic>
        <p:nvPicPr>
          <p:cNvPr id="32" name="Image 0" descr="/tmp/rasterized-gradient-96f056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4027438"/>
            <a:ext cx="4267200" cy="589211"/>
          </a:xfrm>
          <a:prstGeom prst="rect">
            <a:avLst/>
          </a:prstGeom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</p:pic>
      <p:sp>
        <p:nvSpPr>
          <p:cNvPr id="33" name="Text 30"/>
          <p:cNvSpPr/>
          <p:nvPr/>
        </p:nvSpPr>
        <p:spPr>
          <a:xfrm>
            <a:off x="363736" y="4095899"/>
            <a:ext cx="4106013" cy="170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spcAft>
                <a:spcPts val="180"/>
              </a:spcAft>
              <a:buNone/>
            </a:pPr>
            <a:r>
              <a:rPr lang="en-US" sz="96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API (reqwest async)</a:t>
            </a:r>
            <a:endParaRPr lang="en-US" sz="960" dirty="0"/>
          </a:p>
        </p:txBody>
      </p:sp>
      <p:sp>
        <p:nvSpPr>
          <p:cNvPr id="34" name="Text 31"/>
          <p:cNvSpPr/>
          <p:nvPr/>
        </p:nvSpPr>
        <p:spPr>
          <a:xfrm>
            <a:off x="363736" y="4289227"/>
            <a:ext cx="4106013" cy="258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Login, Register, Logout | Fetch conversations &amp; messages (pagination) | Request/Response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4648200" y="548580"/>
            <a:ext cx="4352544" cy="234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48"/>
              </a:lnSpc>
              <a:spcAft>
                <a:spcPts val="360"/>
              </a:spcAft>
              <a:buNone/>
            </a:pPr>
            <a:r>
              <a:rPr lang="en-US" sz="132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Event-Driven Architecture</a:t>
            </a:r>
            <a:endParaRPr lang="en-US" sz="1320" dirty="0"/>
          </a:p>
        </p:txBody>
      </p:sp>
      <p:sp>
        <p:nvSpPr>
          <p:cNvPr id="36" name="Text 33"/>
          <p:cNvSpPr/>
          <p:nvPr/>
        </p:nvSpPr>
        <p:spPr>
          <a:xfrm>
            <a:off x="4648200" y="905024"/>
            <a:ext cx="4352544" cy="316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600"/>
              </a:spcAft>
              <a:buNone/>
            </a:pPr>
            <a:r>
              <a:rPr lang="en-US" sz="96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event-driven con WebSocketManager (real-time persistente) e HTTP API (async request/response).</a:t>
            </a:r>
            <a:endParaRPr lang="en-US" sz="960" dirty="0"/>
          </a:p>
        </p:txBody>
      </p:sp>
      <p:sp>
        <p:nvSpPr>
          <p:cNvPr id="37" name="Text 34"/>
          <p:cNvSpPr/>
          <p:nvPr/>
        </p:nvSpPr>
        <p:spPr>
          <a:xfrm>
            <a:off x="4648200" y="1374130"/>
            <a:ext cx="4267200" cy="611832"/>
          </a:xfrm>
          <a:prstGeom prst="roundRect">
            <a:avLst>
              <a:gd name="adj" fmla="val 6227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Shape 35"/>
          <p:cNvSpPr/>
          <p:nvPr/>
        </p:nvSpPr>
        <p:spPr>
          <a:xfrm>
            <a:off x="4662488" y="1374130"/>
            <a:ext cx="0" cy="611832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6"/>
          <p:cNvSpPr/>
          <p:nvPr/>
        </p:nvSpPr>
        <p:spPr>
          <a:xfrm>
            <a:off x="4752975" y="1450330"/>
            <a:ext cx="41679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240"/>
              </a:spcAft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WebSocketManager: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4752975" y="1640681"/>
            <a:ext cx="4167950" cy="269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1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networking real-time. Riceve dati backend via WS, deserializza JSON, invia UiEvent via ui_tx. Gestisce lifecycle + health.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4648200" y="2062163"/>
            <a:ext cx="4267200" cy="611832"/>
          </a:xfrm>
          <a:prstGeom prst="roundRect">
            <a:avLst>
              <a:gd name="adj" fmla="val 6227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Shape 39"/>
          <p:cNvSpPr/>
          <p:nvPr/>
        </p:nvSpPr>
        <p:spPr>
          <a:xfrm>
            <a:off x="4662488" y="2062163"/>
            <a:ext cx="0" cy="611832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3" name="Text 40"/>
          <p:cNvSpPr/>
          <p:nvPr/>
        </p:nvSpPr>
        <p:spPr>
          <a:xfrm>
            <a:off x="4752975" y="2138363"/>
            <a:ext cx="41679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240"/>
              </a:spcAft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API: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4752975" y="2328714"/>
            <a:ext cx="4167950" cy="269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1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Operazioni async request/response: auth (login, register, logout), fetch conversations paginate, fetch messages. Usa reqwest async.</a:t>
            </a:r>
            <a:endParaRPr lang="en-US" sz="816" dirty="0"/>
          </a:p>
        </p:txBody>
      </p:sp>
      <p:sp>
        <p:nvSpPr>
          <p:cNvPr id="45" name="Text 42"/>
          <p:cNvSpPr/>
          <p:nvPr/>
        </p:nvSpPr>
        <p:spPr>
          <a:xfrm>
            <a:off x="4648200" y="2750195"/>
            <a:ext cx="4267200" cy="477292"/>
          </a:xfrm>
          <a:prstGeom prst="roundRect">
            <a:avLst>
              <a:gd name="adj" fmla="val 7983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Shape 43"/>
          <p:cNvSpPr/>
          <p:nvPr/>
        </p:nvSpPr>
        <p:spPr>
          <a:xfrm>
            <a:off x="4662488" y="2750195"/>
            <a:ext cx="0" cy="477292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7" name="Text 44"/>
          <p:cNvSpPr/>
          <p:nvPr/>
        </p:nvSpPr>
        <p:spPr>
          <a:xfrm>
            <a:off x="4752975" y="2826395"/>
            <a:ext cx="41679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240"/>
              </a:spcAft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EventDispatcher: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4752975" y="3016746"/>
            <a:ext cx="4167950" cy="134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1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 ui_rx, route a handler specializzato.</a:t>
            </a:r>
            <a:endParaRPr lang="en-US" sz="816" dirty="0"/>
          </a:p>
        </p:txBody>
      </p:sp>
      <p:sp>
        <p:nvSpPr>
          <p:cNvPr id="49" name="Text 46"/>
          <p:cNvSpPr/>
          <p:nvPr/>
        </p:nvSpPr>
        <p:spPr>
          <a:xfrm>
            <a:off x="4648200" y="3303687"/>
            <a:ext cx="4267200" cy="477292"/>
          </a:xfrm>
          <a:prstGeom prst="roundRect">
            <a:avLst>
              <a:gd name="adj" fmla="val 7983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Shape 47"/>
          <p:cNvSpPr/>
          <p:nvPr/>
        </p:nvSpPr>
        <p:spPr>
          <a:xfrm>
            <a:off x="4662488" y="3303687"/>
            <a:ext cx="0" cy="477292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1" name="Text 48"/>
          <p:cNvSpPr/>
          <p:nvPr/>
        </p:nvSpPr>
        <p:spPr>
          <a:xfrm>
            <a:off x="4752975" y="3379887"/>
            <a:ext cx="41679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240"/>
              </a:spcAft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Handlers: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4752975" y="3570238"/>
            <a:ext cx="4167950" cy="134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1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logic, mutano AppState, inviano comandi a ui_to_net_tx.</a:t>
            </a:r>
            <a:endParaRPr lang="en-US" sz="81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47411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Axum: Web Framework Async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4667250" y="1572964"/>
            <a:ext cx="417766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t>Framework Web Built on Tokio</a:t>
            </a:r>
            <a:endParaRPr lang="en-US" sz="1050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t>Axum 0.7 è il framework web che gestisce tutte le comunicazioni HTTP del backend. Definisce gli endpoint REST per login e registrazione degli utenti, oltre alla gestione delle conversazioni. Il router è organizzato a layer: ogni richiesta passa attraverso middleware per l'autenticazione JWT, la gestione CORS e il logging. Quando arriva una richiesta WebSocket, il middleware WebSocketUpgrade converte la connessione HTTP in un canale bidirezionale persistente.</a:t>
            </a:r>
          </a:p>
        </p:txBody>
      </p:sp>
      <p:pic>
        <p:nvPicPr>
          <p:cNvPr id="26" name="Immagine 25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E561F439-6CC6-FBB2-EE10-AF00B2AAF0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56" y="1317587"/>
            <a:ext cx="2922220" cy="28107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5093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AppState - Strutture Dati Canali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4667250" y="855617"/>
            <a:ext cx="4095750" cy="4199709"/>
          </a:xfrm>
          <a:prstGeom prst="roundRect">
            <a:avLst>
              <a:gd name="adj" fmla="val 5292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Storage Backend Broadcast Channels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backend </a:t>
            </a:r>
            <a:r>
              <a:rPr dirty="0" err="1"/>
              <a:t>mantiene</a:t>
            </a:r>
            <a:r>
              <a:rPr dirty="0"/>
              <a:t> lo </a:t>
            </a:r>
            <a:r>
              <a:rPr dirty="0" err="1"/>
              <a:t>stato</a:t>
            </a:r>
            <a:r>
              <a:rPr dirty="0"/>
              <a:t> </a:t>
            </a:r>
            <a:r>
              <a:rPr dirty="0" err="1"/>
              <a:t>condiviso</a:t>
            </a:r>
            <a:r>
              <a:rPr dirty="0"/>
              <a:t> in </a:t>
            </a:r>
            <a:r>
              <a:rPr dirty="0" err="1"/>
              <a:t>AppState</a:t>
            </a:r>
            <a:r>
              <a:rPr dirty="0"/>
              <a:t>,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struttura</a:t>
            </a:r>
            <a:r>
              <a:rPr dirty="0"/>
              <a:t> thread-safe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contiene</a:t>
            </a:r>
            <a:r>
              <a:rPr dirty="0"/>
              <a:t> tutte le </a:t>
            </a:r>
            <a:r>
              <a:rPr dirty="0" err="1"/>
              <a:t>informazioni</a:t>
            </a:r>
            <a:r>
              <a:rPr dirty="0"/>
              <a:t> </a:t>
            </a:r>
            <a:r>
              <a:rPr dirty="0" err="1"/>
              <a:t>sulle</a:t>
            </a:r>
            <a:r>
              <a:rPr dirty="0"/>
              <a:t> </a:t>
            </a:r>
            <a:r>
              <a:rPr dirty="0" err="1"/>
              <a:t>connessioni</a:t>
            </a:r>
            <a:r>
              <a:rPr dirty="0"/>
              <a:t> </a:t>
            </a:r>
            <a:r>
              <a:rPr dirty="0" err="1"/>
              <a:t>attive</a:t>
            </a:r>
            <a:r>
              <a:rPr dirty="0"/>
              <a:t>. I broadcast channels </a:t>
            </a:r>
            <a:r>
              <a:rPr dirty="0" err="1"/>
              <a:t>sono</a:t>
            </a:r>
            <a:r>
              <a:rPr dirty="0"/>
              <a:t> </a:t>
            </a:r>
            <a:r>
              <a:rPr dirty="0" err="1"/>
              <a:t>organizzati</a:t>
            </a:r>
            <a:r>
              <a:rPr dirty="0"/>
              <a:t> in due HashMap: uno per le </a:t>
            </a:r>
            <a:r>
              <a:rPr dirty="0" err="1"/>
              <a:t>notifiche</a:t>
            </a:r>
            <a:r>
              <a:rPr lang="it-IT" dirty="0"/>
              <a:t> </a:t>
            </a:r>
            <a:r>
              <a:rPr dirty="0" err="1"/>
              <a:t>personali</a:t>
            </a:r>
            <a:r>
              <a:rPr dirty="0"/>
              <a:t> di ogni </a:t>
            </a:r>
            <a:r>
              <a:rPr dirty="0" err="1"/>
              <a:t>utente</a:t>
            </a:r>
            <a:r>
              <a:rPr dirty="0"/>
              <a:t> e uno per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di ogni conversazione. </a:t>
            </a:r>
            <a:r>
              <a:rPr dirty="0" err="1"/>
              <a:t>Questi</a:t>
            </a:r>
            <a:r>
              <a:rPr dirty="0"/>
              <a:t> </a:t>
            </a:r>
            <a:r>
              <a:rPr dirty="0" err="1"/>
              <a:t>canali</a:t>
            </a:r>
            <a:r>
              <a:rPr dirty="0"/>
              <a:t> </a:t>
            </a:r>
            <a:r>
              <a:rPr dirty="0" err="1"/>
              <a:t>vengono</a:t>
            </a:r>
            <a:r>
              <a:rPr dirty="0"/>
              <a:t> </a:t>
            </a:r>
            <a:r>
              <a:rPr dirty="0" err="1"/>
              <a:t>creati</a:t>
            </a:r>
            <a:r>
              <a:rPr dirty="0"/>
              <a:t>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servono</a:t>
            </a:r>
            <a:r>
              <a:rPr dirty="0"/>
              <a:t> e </a:t>
            </a:r>
            <a:r>
              <a:rPr dirty="0" err="1"/>
              <a:t>permettono</a:t>
            </a:r>
            <a:r>
              <a:rPr dirty="0"/>
              <a:t> di </a:t>
            </a:r>
            <a:r>
              <a:rPr dirty="0" err="1"/>
              <a:t>inviare</a:t>
            </a:r>
            <a:r>
              <a:rPr dirty="0"/>
              <a:t> aggiornamenti in tempo </a:t>
            </a:r>
            <a:r>
              <a:rPr dirty="0" err="1"/>
              <a:t>reale</a:t>
            </a:r>
            <a:r>
              <a:rPr dirty="0"/>
              <a:t> a tutti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partecipanti</a:t>
            </a:r>
            <a:r>
              <a:rPr dirty="0"/>
              <a:t>. Ogni </a:t>
            </a:r>
            <a:r>
              <a:rPr dirty="0" err="1"/>
              <a:t>connessione</a:t>
            </a:r>
            <a:r>
              <a:rPr dirty="0"/>
              <a:t> è </a:t>
            </a:r>
            <a:r>
              <a:rPr dirty="0" err="1"/>
              <a:t>tracciata</a:t>
            </a:r>
            <a:r>
              <a:rPr dirty="0"/>
              <a:t> con un </a:t>
            </a:r>
            <a:r>
              <a:rPr lang="it-IT" dirty="0" err="1"/>
              <a:t>ActiveConnection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contiene</a:t>
            </a:r>
            <a:r>
              <a:rPr dirty="0"/>
              <a:t> </a:t>
            </a:r>
            <a:r>
              <a:rPr dirty="0" err="1"/>
              <a:t>l'ID</a:t>
            </a:r>
            <a:r>
              <a:rPr dirty="0"/>
              <a:t> di </a:t>
            </a:r>
            <a:r>
              <a:rPr dirty="0" err="1"/>
              <a:t>sessione</a:t>
            </a:r>
            <a:r>
              <a:rPr dirty="0"/>
              <a:t> per </a:t>
            </a:r>
            <a:r>
              <a:rPr lang="it-IT" dirty="0"/>
              <a:t>gestire</a:t>
            </a:r>
            <a:r>
              <a:rPr dirty="0"/>
              <a:t> login </a:t>
            </a:r>
            <a:r>
              <a:rPr dirty="0" err="1"/>
              <a:t>multipli</a:t>
            </a:r>
            <a:r>
              <a:rPr dirty="0"/>
              <a:t> </a:t>
            </a:r>
            <a:r>
              <a:rPr dirty="0" err="1"/>
              <a:t>dallo</a:t>
            </a:r>
            <a:r>
              <a:rPr dirty="0"/>
              <a:t> </a:t>
            </a:r>
            <a:r>
              <a:rPr dirty="0" err="1"/>
              <a:t>stesso</a:t>
            </a:r>
            <a:r>
              <a:rPr dirty="0"/>
              <a:t> account, e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canali</a:t>
            </a:r>
            <a:r>
              <a:rPr dirty="0"/>
              <a:t> per </a:t>
            </a:r>
            <a:r>
              <a:rPr dirty="0" err="1"/>
              <a:t>comunicare</a:t>
            </a:r>
            <a:r>
              <a:rPr dirty="0"/>
              <a:t> </a:t>
            </a:r>
            <a:r>
              <a:rPr dirty="0" err="1"/>
              <a:t>direttamente</a:t>
            </a:r>
            <a:r>
              <a:rPr dirty="0"/>
              <a:t> con il Writer Task.</a:t>
            </a:r>
          </a:p>
        </p:txBody>
      </p:sp>
      <p:pic>
        <p:nvPicPr>
          <p:cNvPr id="24" name="Immagine 2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28309264-3967-8414-843A-919C36496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337" y="1287743"/>
            <a:ext cx="3310429" cy="30425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568356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Tokio + Tungstenite: Async Runtime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4667250" y="1372939"/>
            <a:ext cx="417766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Multi-threaded Async Runtime</a:t>
            </a:r>
            <a:endParaRPr lang="en-US" sz="1050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lang="it-IT" sz="1300" dirty="0"/>
              <a:t>Tokio è il motore asincrono che fa girare tutto il sistema, sia </a:t>
            </a:r>
            <a:r>
              <a:rPr lang="it-IT" sz="1300" dirty="0" err="1"/>
              <a:t>backend</a:t>
            </a:r>
            <a:r>
              <a:rPr lang="it-IT" sz="1300" dirty="0"/>
              <a:t> che </a:t>
            </a:r>
            <a:r>
              <a:rPr lang="it-IT" sz="1300" dirty="0" err="1"/>
              <a:t>frontend</a:t>
            </a:r>
            <a:r>
              <a:rPr lang="it-IT" sz="1300" dirty="0"/>
              <a:t>. Nel </a:t>
            </a:r>
            <a:r>
              <a:rPr lang="it-IT" sz="1300" dirty="0" err="1"/>
              <a:t>backend</a:t>
            </a:r>
            <a:r>
              <a:rPr lang="it-IT" sz="1300" dirty="0"/>
              <a:t>, ogni nuova connessione </a:t>
            </a:r>
            <a:r>
              <a:rPr lang="it-IT" sz="1300" dirty="0" err="1"/>
              <a:t>WebSocket</a:t>
            </a:r>
            <a:r>
              <a:rPr lang="it-IT" sz="1300" dirty="0"/>
              <a:t> crea tre task concorrenti che lavorano in parallelo: uno per scrivere messaggi al client, uno per leggere i suoi input, e uno per gestire le notifiche broadcast. Il </a:t>
            </a:r>
            <a:r>
              <a:rPr lang="it-IT" sz="1300" dirty="0" err="1"/>
              <a:t>Receiver</a:t>
            </a:r>
            <a:r>
              <a:rPr lang="it-IT" sz="1300" dirty="0"/>
              <a:t> </a:t>
            </a:r>
            <a:r>
              <a:rPr lang="it-IT" sz="1300" dirty="0" err="1"/>
              <a:t>spawna</a:t>
            </a:r>
            <a:r>
              <a:rPr lang="it-IT" sz="1300" dirty="0"/>
              <a:t> un task per ogni conversazione attiva dell'utente. Nel </a:t>
            </a:r>
            <a:r>
              <a:rPr lang="it-IT" sz="1300" dirty="0" err="1"/>
              <a:t>frontend</a:t>
            </a:r>
            <a:r>
              <a:rPr lang="it-IT" sz="1300" dirty="0"/>
              <a:t>, Tokio gestisce la connessione client verso il server usando </a:t>
            </a:r>
            <a:r>
              <a:rPr lang="it-IT" sz="1300" dirty="0" err="1"/>
              <a:t>tokio-tungstenite</a:t>
            </a:r>
            <a:r>
              <a:rPr lang="it-IT" sz="1300" dirty="0"/>
              <a:t>. Il sistema usa </a:t>
            </a:r>
            <a:r>
              <a:rPr lang="it-IT" sz="1300" dirty="0" err="1"/>
              <a:t>primitives</a:t>
            </a:r>
            <a:r>
              <a:rPr lang="it-IT" sz="1300" dirty="0"/>
              <a:t> come </a:t>
            </a:r>
            <a:r>
              <a:rPr lang="it-IT" sz="1300" dirty="0" err="1"/>
              <a:t>select</a:t>
            </a:r>
            <a:r>
              <a:rPr lang="it-IT" sz="1300" dirty="0"/>
              <a:t>! per gestire eventi multipli simultaneamente e </a:t>
            </a:r>
            <a:r>
              <a:rPr lang="it-IT" sz="1300" dirty="0" err="1"/>
              <a:t>interval</a:t>
            </a:r>
            <a:r>
              <a:rPr lang="it-IT" sz="1300" dirty="0"/>
              <a:t> per operazioni periodiche come gli </a:t>
            </a:r>
            <a:r>
              <a:rPr lang="it-IT" sz="1300" dirty="0" err="1"/>
              <a:t>heartbeat</a:t>
            </a:r>
            <a:r>
              <a:rPr lang="it-IT" sz="1300" dirty="0"/>
              <a:t>.</a:t>
            </a:r>
            <a:endParaRPr dirty="0"/>
          </a:p>
        </p:txBody>
      </p:sp>
      <p:pic>
        <p:nvPicPr>
          <p:cNvPr id="6" name="Immagine 5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D2BA32ED-D9FF-5E7E-EB05-C9ADA3FB5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709" y="976616"/>
            <a:ext cx="3020758" cy="35705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552811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WebSocket Actor Pattern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4667252" y="1069066"/>
            <a:ext cx="4095750" cy="3845834"/>
          </a:xfrm>
          <a:prstGeom prst="roundRect">
            <a:avLst>
              <a:gd name="adj" fmla="val 6213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3 Task </a:t>
            </a:r>
            <a:r>
              <a:rPr dirty="0" err="1"/>
              <a:t>Concorrenti</a:t>
            </a:r>
            <a:r>
              <a:rPr dirty="0"/>
              <a:t> per </a:t>
            </a:r>
            <a:r>
              <a:rPr dirty="0" err="1"/>
              <a:t>Connessione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Ogni </a:t>
            </a:r>
            <a:r>
              <a:rPr dirty="0" err="1"/>
              <a:t>connessione</a:t>
            </a:r>
            <a:r>
              <a:rPr dirty="0"/>
              <a:t> WebSocket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gestita</a:t>
            </a:r>
            <a:r>
              <a:rPr dirty="0"/>
              <a:t> da un Actor Pattern con </a:t>
            </a:r>
            <a:r>
              <a:rPr dirty="0" err="1"/>
              <a:t>tre</a:t>
            </a:r>
            <a:r>
              <a:rPr dirty="0"/>
              <a:t> task </a:t>
            </a:r>
            <a:r>
              <a:rPr dirty="0" err="1"/>
              <a:t>separati</a:t>
            </a:r>
            <a:r>
              <a:rPr dirty="0"/>
              <a:t>. Quando un client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connette</a:t>
            </a:r>
            <a:r>
              <a:rPr dirty="0"/>
              <a:t>, il socket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diviso</a:t>
            </a:r>
            <a:r>
              <a:rPr dirty="0"/>
              <a:t> in due </a:t>
            </a:r>
            <a:r>
              <a:rPr dirty="0" err="1"/>
              <a:t>metà</a:t>
            </a:r>
            <a:r>
              <a:rPr dirty="0"/>
              <a:t>: </a:t>
            </a:r>
            <a:r>
              <a:rPr dirty="0" err="1"/>
              <a:t>una</a:t>
            </a:r>
            <a:r>
              <a:rPr dirty="0"/>
              <a:t> per </a:t>
            </a:r>
            <a:r>
              <a:rPr dirty="0" err="1"/>
              <a:t>scrivere</a:t>
            </a:r>
            <a:r>
              <a:rPr dirty="0"/>
              <a:t> e </a:t>
            </a:r>
            <a:r>
              <a:rPr dirty="0" err="1"/>
              <a:t>una</a:t>
            </a:r>
            <a:r>
              <a:rPr dirty="0"/>
              <a:t> per </a:t>
            </a:r>
            <a:r>
              <a:rPr dirty="0" err="1"/>
              <a:t>leggere</a:t>
            </a:r>
            <a:r>
              <a:rPr dirty="0"/>
              <a:t>. Il Writer Task è </a:t>
            </a:r>
            <a:r>
              <a:rPr dirty="0" err="1"/>
              <a:t>l'unico</a:t>
            </a:r>
            <a:r>
              <a:rPr dirty="0"/>
              <a:t> </a:t>
            </a:r>
            <a:r>
              <a:rPr dirty="0" err="1"/>
              <a:t>proprietario</a:t>
            </a:r>
            <a:r>
              <a:rPr dirty="0"/>
              <a:t> della </a:t>
            </a:r>
            <a:r>
              <a:rPr dirty="0" err="1"/>
              <a:t>metà</a:t>
            </a:r>
            <a:r>
              <a:rPr dirty="0"/>
              <a:t> di </a:t>
            </a:r>
            <a:r>
              <a:rPr dirty="0" err="1"/>
              <a:t>scrittura</a:t>
            </a:r>
            <a:r>
              <a:rPr dirty="0"/>
              <a:t> e </a:t>
            </a:r>
            <a:r>
              <a:rPr dirty="0" err="1"/>
              <a:t>invia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al client ogni volta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arriva</a:t>
            </a:r>
            <a:r>
              <a:rPr dirty="0"/>
              <a:t> </a:t>
            </a:r>
            <a:r>
              <a:rPr dirty="0" err="1"/>
              <a:t>qualcosa</a:t>
            </a:r>
            <a:r>
              <a:rPr dirty="0"/>
              <a:t> </a:t>
            </a:r>
            <a:r>
              <a:rPr dirty="0" err="1"/>
              <a:t>nel</a:t>
            </a:r>
            <a:r>
              <a:rPr dirty="0"/>
              <a:t> </a:t>
            </a:r>
            <a:r>
              <a:rPr dirty="0" err="1"/>
              <a:t>canale</a:t>
            </a:r>
            <a:r>
              <a:rPr dirty="0"/>
              <a:t> </a:t>
            </a:r>
            <a:r>
              <a:rPr dirty="0" err="1"/>
              <a:t>out_rx</a:t>
            </a:r>
            <a:r>
              <a:rPr dirty="0"/>
              <a:t>, </a:t>
            </a:r>
            <a:r>
              <a:rPr dirty="0" err="1"/>
              <a:t>inoltre</a:t>
            </a:r>
            <a:r>
              <a:rPr dirty="0"/>
              <a:t> </a:t>
            </a:r>
            <a:r>
              <a:rPr dirty="0" err="1"/>
              <a:t>invia</a:t>
            </a:r>
            <a:r>
              <a:rPr dirty="0"/>
              <a:t> ping ogni 30 secondi con </a:t>
            </a:r>
            <a:r>
              <a:rPr dirty="0" err="1"/>
              <a:t>ritardo</a:t>
            </a:r>
            <a:r>
              <a:rPr dirty="0"/>
              <a:t> </a:t>
            </a:r>
            <a:r>
              <a:rPr dirty="0" err="1"/>
              <a:t>casuale</a:t>
            </a:r>
            <a:r>
              <a:rPr dirty="0"/>
              <a:t> per </a:t>
            </a:r>
            <a:r>
              <a:rPr dirty="0" err="1"/>
              <a:t>evitare</a:t>
            </a:r>
            <a:r>
              <a:rPr dirty="0"/>
              <a:t> </a:t>
            </a:r>
            <a:r>
              <a:rPr dirty="0" err="1"/>
              <a:t>picchi</a:t>
            </a:r>
            <a:r>
              <a:rPr dirty="0"/>
              <a:t> di </a:t>
            </a:r>
            <a:r>
              <a:rPr dirty="0" err="1"/>
              <a:t>traffico</a:t>
            </a:r>
            <a:r>
              <a:rPr dirty="0"/>
              <a:t>. Il Reader Task </a:t>
            </a:r>
            <a:r>
              <a:rPr dirty="0" err="1"/>
              <a:t>legge</a:t>
            </a:r>
            <a:r>
              <a:rPr lang="it-IT" dirty="0"/>
              <a:t> </a:t>
            </a:r>
            <a:r>
              <a:rPr dirty="0" err="1"/>
              <a:t>continuamente</a:t>
            </a:r>
            <a:r>
              <a:rPr dirty="0"/>
              <a:t> dal socket, </a:t>
            </a:r>
            <a:r>
              <a:rPr dirty="0" err="1"/>
              <a:t>valida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in </a:t>
            </a:r>
            <a:r>
              <a:rPr dirty="0" err="1"/>
              <a:t>arrivo</a:t>
            </a:r>
            <a:r>
              <a:rPr dirty="0"/>
              <a:t> e </a:t>
            </a:r>
            <a:r>
              <a:rPr dirty="0" err="1"/>
              <a:t>applica</a:t>
            </a:r>
            <a:r>
              <a:rPr dirty="0"/>
              <a:t> rate limiting di 60 </a:t>
            </a:r>
            <a:r>
              <a:rPr dirty="0" err="1"/>
              <a:t>messaggi</a:t>
            </a:r>
            <a:r>
              <a:rPr dirty="0"/>
              <a:t> al </a:t>
            </a:r>
            <a:r>
              <a:rPr dirty="0" err="1"/>
              <a:t>minuto</a:t>
            </a:r>
            <a:r>
              <a:rPr dirty="0"/>
              <a:t>. Il Receiver Task fa da </a:t>
            </a:r>
            <a:r>
              <a:rPr dirty="0" err="1"/>
              <a:t>ponte</a:t>
            </a:r>
            <a:r>
              <a:rPr dirty="0"/>
              <a:t>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broadcast channels e il Writer, </a:t>
            </a:r>
            <a:r>
              <a:rPr dirty="0" err="1"/>
              <a:t>unendo</a:t>
            </a:r>
            <a:r>
              <a:rPr dirty="0"/>
              <a:t> </a:t>
            </a:r>
            <a:r>
              <a:rPr dirty="0" err="1"/>
              <a:t>notifiche</a:t>
            </a:r>
            <a:r>
              <a:rPr dirty="0"/>
              <a:t> </a:t>
            </a:r>
            <a:r>
              <a:rPr dirty="0" err="1"/>
              <a:t>personali</a:t>
            </a:r>
            <a:r>
              <a:rPr dirty="0"/>
              <a:t> </a:t>
            </a:r>
            <a:r>
              <a:rPr dirty="0" err="1"/>
              <a:t>dell'utente</a:t>
            </a:r>
            <a:r>
              <a:rPr dirty="0"/>
              <a:t> e </a:t>
            </a:r>
            <a:r>
              <a:rPr dirty="0" err="1"/>
              <a:t>messaggi</a:t>
            </a:r>
            <a:r>
              <a:rPr dirty="0"/>
              <a:t> delle </a:t>
            </a:r>
            <a:r>
              <a:rPr dirty="0" err="1"/>
              <a:t>conversazioni</a:t>
            </a:r>
            <a:r>
              <a:rPr dirty="0"/>
              <a:t> </a:t>
            </a:r>
            <a:r>
              <a:rPr dirty="0" err="1"/>
              <a:t>attive</a:t>
            </a:r>
            <a:r>
              <a:rPr dirty="0"/>
              <a:t>.</a:t>
            </a:r>
          </a:p>
        </p:txBody>
      </p:sp>
      <p:pic>
        <p:nvPicPr>
          <p:cNvPr id="22" name="Immagine 21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EF1D5F40-B780-C886-50DF-5FF699E535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106" y="1436915"/>
            <a:ext cx="2799798" cy="28561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835533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Broadcast Channels - Creazione &amp; Delivery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4804410" y="752475"/>
            <a:ext cx="4095750" cy="3695700"/>
          </a:xfrm>
          <a:prstGeom prst="roundRect">
            <a:avLst>
              <a:gd name="adj" fmla="val 7637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Lazy Creation + O(1) Delivery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 broadcast channels </a:t>
            </a:r>
            <a:r>
              <a:rPr dirty="0" err="1"/>
              <a:t>vengono</a:t>
            </a:r>
            <a:r>
              <a:rPr dirty="0"/>
              <a:t> </a:t>
            </a:r>
            <a:r>
              <a:rPr dirty="0" err="1"/>
              <a:t>creati</a:t>
            </a:r>
            <a:r>
              <a:rPr dirty="0"/>
              <a:t> in modo lazy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servono</a:t>
            </a:r>
            <a:r>
              <a:rPr dirty="0"/>
              <a:t>, </a:t>
            </a:r>
            <a:r>
              <a:rPr dirty="0" err="1"/>
              <a:t>usando</a:t>
            </a:r>
            <a:r>
              <a:rPr dirty="0"/>
              <a:t> un pattern di double-check locking per </a:t>
            </a:r>
            <a:r>
              <a:rPr dirty="0" err="1"/>
              <a:t>ottimizzare</a:t>
            </a:r>
            <a:r>
              <a:rPr dirty="0"/>
              <a:t> le performance. Quando serve un </a:t>
            </a:r>
            <a:r>
              <a:rPr dirty="0" err="1"/>
              <a:t>canale</a:t>
            </a:r>
            <a:r>
              <a:rPr dirty="0"/>
              <a:t>, il s</a:t>
            </a:r>
            <a:r>
              <a:rPr lang="it-IT" dirty="0"/>
              <a:t>i</a:t>
            </a:r>
            <a:r>
              <a:rPr dirty="0" err="1"/>
              <a:t>stema</a:t>
            </a:r>
            <a:r>
              <a:rPr dirty="0"/>
              <a:t> prima </a:t>
            </a:r>
            <a:r>
              <a:rPr dirty="0" err="1"/>
              <a:t>controlla</a:t>
            </a:r>
            <a:r>
              <a:rPr dirty="0"/>
              <a:t> se </a:t>
            </a:r>
            <a:r>
              <a:rPr dirty="0" err="1"/>
              <a:t>esiste</a:t>
            </a:r>
            <a:r>
              <a:rPr dirty="0"/>
              <a:t> </a:t>
            </a:r>
            <a:r>
              <a:rPr dirty="0" err="1"/>
              <a:t>già</a:t>
            </a:r>
            <a:r>
              <a:rPr dirty="0"/>
              <a:t> con un lock di </a:t>
            </a:r>
            <a:r>
              <a:rPr dirty="0" err="1"/>
              <a:t>lettura</a:t>
            </a:r>
            <a:r>
              <a:rPr dirty="0"/>
              <a:t> veloce. Se non </a:t>
            </a:r>
            <a:r>
              <a:rPr dirty="0" err="1"/>
              <a:t>c'è</a:t>
            </a:r>
            <a:r>
              <a:rPr dirty="0"/>
              <a:t>, </a:t>
            </a:r>
            <a:r>
              <a:rPr dirty="0" err="1"/>
              <a:t>acquisisce</a:t>
            </a:r>
            <a:r>
              <a:rPr dirty="0"/>
              <a:t> un lock di </a:t>
            </a:r>
            <a:r>
              <a:rPr dirty="0" err="1"/>
              <a:t>scrittura</a:t>
            </a:r>
            <a:r>
              <a:rPr dirty="0"/>
              <a:t> e lo </a:t>
            </a:r>
            <a:r>
              <a:rPr dirty="0" err="1"/>
              <a:t>crea</a:t>
            </a:r>
            <a:r>
              <a:rPr dirty="0"/>
              <a:t>. Ogni channel ha un buffer </a:t>
            </a:r>
            <a:r>
              <a:rPr dirty="0" err="1"/>
              <a:t>circolare</a:t>
            </a:r>
            <a:r>
              <a:rPr dirty="0"/>
              <a:t> di 1024</a:t>
            </a:r>
            <a:r>
              <a:rPr lang="it-IT" dirty="0"/>
              <a:t> </a:t>
            </a:r>
            <a:r>
              <a:rPr dirty="0" err="1"/>
              <a:t>messaggi</a:t>
            </a:r>
            <a:r>
              <a:rPr dirty="0"/>
              <a:t> e </a:t>
            </a:r>
            <a:r>
              <a:rPr dirty="0" err="1"/>
              <a:t>può</a:t>
            </a:r>
            <a:r>
              <a:rPr dirty="0"/>
              <a:t> </a:t>
            </a:r>
            <a:r>
              <a:rPr dirty="0" err="1"/>
              <a:t>essere</a:t>
            </a:r>
            <a:r>
              <a:rPr dirty="0"/>
              <a:t> </a:t>
            </a:r>
            <a:r>
              <a:rPr dirty="0" err="1"/>
              <a:t>clonato</a:t>
            </a:r>
            <a:r>
              <a:rPr dirty="0"/>
              <a:t> a basso </a:t>
            </a:r>
            <a:r>
              <a:rPr dirty="0" err="1"/>
              <a:t>costo</a:t>
            </a:r>
            <a:r>
              <a:rPr dirty="0"/>
              <a:t> </a:t>
            </a:r>
            <a:r>
              <a:rPr dirty="0" err="1"/>
              <a:t>grazie</a:t>
            </a:r>
            <a:r>
              <a:rPr dirty="0"/>
              <a:t> a Arc </a:t>
            </a:r>
            <a:r>
              <a:rPr dirty="0" err="1"/>
              <a:t>interno</a:t>
            </a:r>
            <a:r>
              <a:rPr dirty="0"/>
              <a:t>. Il broadcast verso </a:t>
            </a:r>
            <a:r>
              <a:rPr dirty="0" err="1"/>
              <a:t>una</a:t>
            </a:r>
            <a:r>
              <a:rPr dirty="0"/>
              <a:t> conversazione è O(1): un </a:t>
            </a:r>
            <a:r>
              <a:rPr dirty="0" err="1"/>
              <a:t>singolo</a:t>
            </a:r>
            <a:r>
              <a:rPr dirty="0"/>
              <a:t> send() </a:t>
            </a:r>
            <a:r>
              <a:rPr dirty="0" err="1"/>
              <a:t>distribuisce</a:t>
            </a:r>
            <a:r>
              <a:rPr dirty="0"/>
              <a:t> il </a:t>
            </a:r>
            <a:r>
              <a:rPr dirty="0" err="1"/>
              <a:t>messaggio</a:t>
            </a:r>
            <a:r>
              <a:rPr dirty="0"/>
              <a:t> a tutti </a:t>
            </a:r>
            <a:r>
              <a:rPr dirty="0" err="1"/>
              <a:t>i</a:t>
            </a:r>
            <a:r>
              <a:rPr dirty="0"/>
              <a:t> receiver </a:t>
            </a:r>
            <a:r>
              <a:rPr dirty="0" err="1"/>
              <a:t>attivi</a:t>
            </a:r>
            <a:r>
              <a:rPr dirty="0"/>
              <a:t>, </a:t>
            </a:r>
            <a:r>
              <a:rPr dirty="0" err="1"/>
              <a:t>indipendentemente</a:t>
            </a:r>
            <a:r>
              <a:rPr dirty="0"/>
              <a:t> dal loro </a:t>
            </a:r>
            <a:r>
              <a:rPr dirty="0" err="1"/>
              <a:t>numero</a:t>
            </a:r>
            <a:r>
              <a:rPr dirty="0"/>
              <a:t>.</a:t>
            </a:r>
          </a:p>
        </p:txBody>
      </p:sp>
      <p:pic>
        <p:nvPicPr>
          <p:cNvPr id="30" name="Immagine 29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689DECB8-D029-C942-8BE4-E80F77C62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627" y="982003"/>
            <a:ext cx="2997356" cy="36621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569328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Security - Argon2id + JWT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4667250" y="778600"/>
            <a:ext cx="4095750" cy="3738699"/>
          </a:xfrm>
          <a:prstGeom prst="roundRect">
            <a:avLst>
              <a:gd name="adj" fmla="val 7637"/>
            </a:avLst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Production-Grade Authentication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L'autenticazione è production-grade con Argon2id per </a:t>
            </a:r>
            <a:r>
              <a:rPr dirty="0" err="1"/>
              <a:t>l'hashing</a:t>
            </a:r>
            <a:r>
              <a:rPr dirty="0"/>
              <a:t> delle password e JWT per le </a:t>
            </a:r>
            <a:r>
              <a:rPr dirty="0" err="1"/>
              <a:t>sessioni</a:t>
            </a:r>
            <a:r>
              <a:rPr dirty="0"/>
              <a:t>. Argon2id è un </a:t>
            </a:r>
            <a:r>
              <a:rPr dirty="0" err="1"/>
              <a:t>algoritmo</a:t>
            </a:r>
            <a:r>
              <a:rPr dirty="0"/>
              <a:t> </a:t>
            </a:r>
            <a:r>
              <a:rPr dirty="0" err="1"/>
              <a:t>ibrido</a:t>
            </a:r>
            <a:r>
              <a:rPr dirty="0"/>
              <a:t> </a:t>
            </a:r>
            <a:r>
              <a:rPr dirty="0" err="1"/>
              <a:t>resistente</a:t>
            </a:r>
            <a:r>
              <a:rPr dirty="0"/>
              <a:t> </a:t>
            </a:r>
            <a:r>
              <a:rPr dirty="0" err="1"/>
              <a:t>sia</a:t>
            </a:r>
            <a:r>
              <a:rPr dirty="0"/>
              <a:t> </a:t>
            </a:r>
            <a:r>
              <a:rPr dirty="0" err="1"/>
              <a:t>agli</a:t>
            </a:r>
            <a:r>
              <a:rPr dirty="0"/>
              <a:t> </a:t>
            </a:r>
            <a:r>
              <a:rPr dirty="0" err="1"/>
              <a:t>attacchi</a:t>
            </a:r>
            <a:r>
              <a:rPr dirty="0"/>
              <a:t> side-channel </a:t>
            </a:r>
            <a:r>
              <a:rPr dirty="0" err="1"/>
              <a:t>che</a:t>
            </a:r>
            <a:r>
              <a:rPr dirty="0"/>
              <a:t> a </a:t>
            </a:r>
            <a:r>
              <a:rPr dirty="0" err="1"/>
              <a:t>quelli</a:t>
            </a:r>
            <a:r>
              <a:rPr dirty="0"/>
              <a:t> GPU-based. Ogni password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hashata</a:t>
            </a:r>
            <a:r>
              <a:rPr dirty="0"/>
              <a:t> con un salt </a:t>
            </a:r>
            <a:r>
              <a:rPr dirty="0" err="1"/>
              <a:t>crittograficamente</a:t>
            </a:r>
            <a:r>
              <a:rPr dirty="0"/>
              <a:t> </a:t>
            </a:r>
            <a:r>
              <a:rPr dirty="0" err="1"/>
              <a:t>sicuro</a:t>
            </a:r>
            <a:r>
              <a:rPr dirty="0"/>
              <a:t> prima di </a:t>
            </a:r>
            <a:r>
              <a:rPr dirty="0" err="1"/>
              <a:t>essere</a:t>
            </a:r>
            <a:r>
              <a:rPr dirty="0"/>
              <a:t> </a:t>
            </a:r>
            <a:r>
              <a:rPr dirty="0" err="1"/>
              <a:t>salvata</a:t>
            </a:r>
            <a:r>
              <a:rPr dirty="0"/>
              <a:t>. I JWT token </a:t>
            </a:r>
            <a:r>
              <a:rPr dirty="0" err="1"/>
              <a:t>contengono</a:t>
            </a:r>
            <a:r>
              <a:rPr dirty="0"/>
              <a:t> </a:t>
            </a:r>
            <a:r>
              <a:rPr dirty="0" err="1"/>
              <a:t>user_id</a:t>
            </a:r>
            <a:r>
              <a:rPr dirty="0"/>
              <a:t>, username e </a:t>
            </a:r>
            <a:r>
              <a:rPr dirty="0" err="1"/>
              <a:t>scadenza</a:t>
            </a:r>
            <a:r>
              <a:rPr dirty="0"/>
              <a:t> a 24 ore, </a:t>
            </a:r>
            <a:r>
              <a:rPr dirty="0" err="1"/>
              <a:t>firmati</a:t>
            </a:r>
            <a:r>
              <a:rPr dirty="0"/>
              <a:t> con HMAC-SHA256. Un middleware </a:t>
            </a:r>
            <a:r>
              <a:rPr dirty="0" err="1"/>
              <a:t>valida</a:t>
            </a:r>
            <a:r>
              <a:rPr dirty="0"/>
              <a:t> </a:t>
            </a:r>
            <a:r>
              <a:rPr dirty="0" err="1"/>
              <a:t>automaticamente</a:t>
            </a:r>
            <a:r>
              <a:rPr dirty="0"/>
              <a:t> il token </a:t>
            </a:r>
            <a:r>
              <a:rPr dirty="0" err="1"/>
              <a:t>su</a:t>
            </a:r>
            <a:r>
              <a:rPr dirty="0"/>
              <a:t> ogni </a:t>
            </a:r>
            <a:r>
              <a:rPr dirty="0" err="1"/>
              <a:t>richiesta</a:t>
            </a:r>
            <a:r>
              <a:rPr dirty="0"/>
              <a:t> </a:t>
            </a:r>
            <a:r>
              <a:rPr dirty="0" err="1"/>
              <a:t>protetta</a:t>
            </a:r>
            <a:r>
              <a:rPr dirty="0"/>
              <a:t>, </a:t>
            </a:r>
            <a:r>
              <a:rPr dirty="0" err="1"/>
              <a:t>estraendo</a:t>
            </a:r>
            <a:r>
              <a:rPr dirty="0"/>
              <a:t> le </a:t>
            </a:r>
            <a:r>
              <a:rPr dirty="0" err="1"/>
              <a:t>credenziali</a:t>
            </a:r>
            <a:r>
              <a:rPr dirty="0"/>
              <a:t> e </a:t>
            </a:r>
            <a:r>
              <a:rPr dirty="0" err="1"/>
              <a:t>verificando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non </a:t>
            </a:r>
            <a:r>
              <a:rPr dirty="0" err="1"/>
              <a:t>sia</a:t>
            </a:r>
            <a:r>
              <a:rPr dirty="0"/>
              <a:t> </a:t>
            </a:r>
            <a:r>
              <a:rPr dirty="0" err="1"/>
              <a:t>scaduto</a:t>
            </a:r>
            <a:r>
              <a:rPr dirty="0"/>
              <a:t>.</a:t>
            </a:r>
          </a:p>
        </p:txBody>
      </p:sp>
      <p:pic>
        <p:nvPicPr>
          <p:cNvPr id="22" name="Immagine 21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A87370BB-3C30-5052-56E7-693EE4295A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588" y="1189689"/>
            <a:ext cx="3401966" cy="298117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99516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Dual Sequencing - Implementation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4778284" y="813163"/>
            <a:ext cx="4095750" cy="4101737"/>
          </a:xfrm>
          <a:prstGeom prst="roundRect">
            <a:avLst>
              <a:gd name="adj" fmla="val 6213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Due Livelli di </a:t>
            </a:r>
            <a:r>
              <a:rPr dirty="0" err="1"/>
              <a:t>Sequenze</a:t>
            </a:r>
            <a:r>
              <a:rPr dirty="0"/>
              <a:t> </a:t>
            </a:r>
            <a:r>
              <a:rPr dirty="0" err="1"/>
              <a:t>Atomiche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</a:t>
            </a:r>
            <a:r>
              <a:rPr dirty="0" err="1"/>
              <a:t>sistema</a:t>
            </a:r>
            <a:r>
              <a:rPr dirty="0"/>
              <a:t> </a:t>
            </a:r>
            <a:r>
              <a:rPr dirty="0" err="1"/>
              <a:t>usa</a:t>
            </a:r>
            <a:r>
              <a:rPr dirty="0"/>
              <a:t> due </a:t>
            </a:r>
            <a:r>
              <a:rPr dirty="0" err="1"/>
              <a:t>livelli</a:t>
            </a:r>
            <a:r>
              <a:rPr dirty="0"/>
              <a:t> di </a:t>
            </a:r>
            <a:r>
              <a:rPr dirty="0" err="1"/>
              <a:t>sequenze</a:t>
            </a:r>
            <a:r>
              <a:rPr dirty="0"/>
              <a:t> per </a:t>
            </a:r>
            <a:r>
              <a:rPr dirty="0" err="1"/>
              <a:t>garantire</a:t>
            </a:r>
            <a:r>
              <a:rPr dirty="0"/>
              <a:t> </a:t>
            </a:r>
            <a:r>
              <a:rPr dirty="0" err="1"/>
              <a:t>l'ordine</a:t>
            </a:r>
            <a:r>
              <a:rPr dirty="0"/>
              <a:t>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. Ogni </a:t>
            </a:r>
            <a:r>
              <a:rPr dirty="0" err="1"/>
              <a:t>messaggio</a:t>
            </a:r>
            <a:r>
              <a:rPr dirty="0"/>
              <a:t> in </a:t>
            </a:r>
            <a:r>
              <a:rPr dirty="0" err="1"/>
              <a:t>una</a:t>
            </a:r>
            <a:r>
              <a:rPr dirty="0"/>
              <a:t> conversazione </a:t>
            </a:r>
            <a:r>
              <a:rPr dirty="0" err="1"/>
              <a:t>riceve</a:t>
            </a:r>
            <a:r>
              <a:rPr dirty="0"/>
              <a:t> un </a:t>
            </a:r>
            <a:r>
              <a:rPr dirty="0" err="1"/>
              <a:t>numero</a:t>
            </a:r>
            <a:r>
              <a:rPr dirty="0"/>
              <a:t> di </a:t>
            </a:r>
            <a:r>
              <a:rPr dirty="0" err="1"/>
              <a:t>sequenza</a:t>
            </a:r>
            <a:r>
              <a:rPr dirty="0"/>
              <a:t> </a:t>
            </a:r>
            <a:r>
              <a:rPr dirty="0" err="1"/>
              <a:t>incrementale</a:t>
            </a:r>
            <a:r>
              <a:rPr dirty="0"/>
              <a:t>, </a:t>
            </a:r>
            <a:r>
              <a:rPr dirty="0" err="1"/>
              <a:t>usato</a:t>
            </a:r>
            <a:r>
              <a:rPr dirty="0"/>
              <a:t> per </a:t>
            </a:r>
            <a:r>
              <a:rPr dirty="0" err="1"/>
              <a:t>rilevare</a:t>
            </a:r>
            <a:r>
              <a:rPr dirty="0"/>
              <a:t> gap e </a:t>
            </a:r>
            <a:r>
              <a:rPr dirty="0" err="1"/>
              <a:t>implementare</a:t>
            </a:r>
            <a:r>
              <a:rPr dirty="0"/>
              <a:t> il mark-as-read. </a:t>
            </a:r>
            <a:r>
              <a:rPr dirty="0" err="1"/>
              <a:t>Gli</a:t>
            </a:r>
            <a:r>
              <a:rPr dirty="0"/>
              <a:t> </a:t>
            </a:r>
            <a:r>
              <a:rPr dirty="0" err="1"/>
              <a:t>eventi</a:t>
            </a:r>
            <a:r>
              <a:rPr dirty="0"/>
              <a:t> cross-conversazione come </a:t>
            </a:r>
            <a:r>
              <a:rPr dirty="0" err="1"/>
              <a:t>conferme</a:t>
            </a:r>
            <a:r>
              <a:rPr dirty="0"/>
              <a:t> e </a:t>
            </a:r>
            <a:r>
              <a:rPr dirty="0" err="1"/>
              <a:t>notifiche</a:t>
            </a:r>
            <a:r>
              <a:rPr dirty="0"/>
              <a:t> </a:t>
            </a:r>
            <a:r>
              <a:rPr dirty="0" err="1"/>
              <a:t>ricevono</a:t>
            </a:r>
            <a:r>
              <a:rPr dirty="0"/>
              <a:t> </a:t>
            </a:r>
            <a:r>
              <a:rPr dirty="0" err="1"/>
              <a:t>invece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sequenza</a:t>
            </a:r>
            <a:r>
              <a:rPr dirty="0"/>
              <a:t> </a:t>
            </a:r>
            <a:r>
              <a:rPr dirty="0" err="1"/>
              <a:t>globale</a:t>
            </a:r>
            <a:r>
              <a:rPr dirty="0"/>
              <a:t> per </a:t>
            </a:r>
            <a:r>
              <a:rPr dirty="0" err="1"/>
              <a:t>utente</a:t>
            </a:r>
            <a:r>
              <a:rPr dirty="0"/>
              <a:t>. Le </a:t>
            </a:r>
            <a:r>
              <a:rPr dirty="0" err="1"/>
              <a:t>sequenze</a:t>
            </a:r>
            <a:r>
              <a:rPr dirty="0"/>
              <a:t> </a:t>
            </a:r>
            <a:r>
              <a:rPr dirty="0" err="1"/>
              <a:t>sono</a:t>
            </a:r>
            <a:r>
              <a:rPr dirty="0"/>
              <a:t> generate </a:t>
            </a:r>
            <a:r>
              <a:rPr dirty="0" err="1"/>
              <a:t>atomicamente</a:t>
            </a:r>
            <a:r>
              <a:rPr dirty="0"/>
              <a:t> </a:t>
            </a:r>
            <a:r>
              <a:rPr dirty="0" err="1"/>
              <a:t>tramite</a:t>
            </a:r>
            <a:r>
              <a:rPr dirty="0"/>
              <a:t> subquery SQL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usano</a:t>
            </a:r>
            <a:r>
              <a:rPr dirty="0"/>
              <a:t> COALESCE per </a:t>
            </a:r>
            <a:r>
              <a:rPr dirty="0" err="1"/>
              <a:t>gestire</a:t>
            </a:r>
            <a:r>
              <a:rPr dirty="0"/>
              <a:t> il primo </a:t>
            </a:r>
            <a:r>
              <a:rPr dirty="0" err="1"/>
              <a:t>inserimento</a:t>
            </a:r>
            <a:r>
              <a:rPr dirty="0"/>
              <a:t>.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approccio</a:t>
            </a:r>
            <a:r>
              <a:rPr dirty="0"/>
              <a:t> </a:t>
            </a:r>
            <a:r>
              <a:rPr dirty="0" err="1"/>
              <a:t>sfrutta</a:t>
            </a:r>
            <a:r>
              <a:rPr dirty="0"/>
              <a:t> la </a:t>
            </a:r>
            <a:r>
              <a:rPr dirty="0" err="1"/>
              <a:t>serializzabilità</a:t>
            </a:r>
            <a:r>
              <a:rPr dirty="0"/>
              <a:t> delle </a:t>
            </a:r>
            <a:r>
              <a:rPr dirty="0" err="1"/>
              <a:t>transazioni</a:t>
            </a:r>
            <a:r>
              <a:rPr dirty="0"/>
              <a:t> SQLite per </a:t>
            </a:r>
            <a:r>
              <a:rPr dirty="0" err="1"/>
              <a:t>evitare</a:t>
            </a:r>
            <a:r>
              <a:rPr dirty="0"/>
              <a:t> race condition.</a:t>
            </a:r>
          </a:p>
        </p:txBody>
      </p:sp>
      <p:pic>
        <p:nvPicPr>
          <p:cNvPr id="25" name="Immagine 24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CEAACDDA-5E61-47A0-6B66-3B25D5171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105" y="1209925"/>
            <a:ext cx="2976346" cy="317557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61625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Database Schema (SQLite WAL)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4667250" y="855617"/>
            <a:ext cx="4095750" cy="3325857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t>SQLite WAL Mode + 7 Tabelle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t>Il database SQLite è configurato in modalità WAL (Write-Ahead Logging) che permette letture concorrenti anche durante le scritture. Lo schema è composto da 7 tabelle con foreign keys abilitate per garantire l'integrità referenziale. Le tabelle principali sono users, conversations, messages e participants, affiancate da message_sequences e user_sequences per il dual sequencing. Gli indici critici su (conversation_id, sequence_num) e user_id velocizzano le query più frequenti.</a:t>
            </a:r>
          </a:p>
        </p:txBody>
      </p:sp>
      <p:pic>
        <p:nvPicPr>
          <p:cNvPr id="29" name="Immagine 28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144D6FD1-AF9A-BC2E-A9FA-01E3BB58B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33" y="834390"/>
            <a:ext cx="2546596" cy="38633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A035BF-4210-8358-2E1B-D02A21687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0507684-BF24-D30B-8D81-C20E94687189}"/>
              </a:ext>
            </a:extLst>
          </p:cNvPr>
          <p:cNvSpPr/>
          <p:nvPr/>
        </p:nvSpPr>
        <p:spPr>
          <a:xfrm>
            <a:off x="381000" y="228600"/>
            <a:ext cx="775296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550"/>
              </a:lnSpc>
            </a:pPr>
            <a:r>
              <a:rPr lang="it-IT" sz="2550" b="1" dirty="0" err="1">
                <a:solidFill>
                  <a:srgbClr val="CE422B"/>
                </a:solidFill>
                <a:latin typeface="Segoe UI" pitchFamily="34" charset="0"/>
                <a:cs typeface="Segoe UI" pitchFamily="34" charset="-120"/>
              </a:rPr>
              <a:t>Backend</a:t>
            </a:r>
            <a:r>
              <a:rPr lang="it-IT" sz="2550" b="1" dirty="0">
                <a:solidFill>
                  <a:srgbClr val="CE422B"/>
                </a:solidFill>
                <a:latin typeface="Segoe UI" pitchFamily="34" charset="0"/>
                <a:cs typeface="Segoe UI" pitchFamily="34" charset="-120"/>
              </a:rPr>
              <a:t>: Creazione Conversazioni</a:t>
            </a:r>
            <a:endParaRPr lang="en-US" sz="2550" b="1" dirty="0">
              <a:solidFill>
                <a:srgbClr val="CE422B"/>
              </a:solidFill>
              <a:latin typeface="Segoe UI" pitchFamily="34" charset="0"/>
              <a:cs typeface="Segoe UI" pitchFamily="34" charset="-120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235C5A8-C199-BBCE-BBEF-AB5EF9AEA7CD}"/>
              </a:ext>
            </a:extLst>
          </p:cNvPr>
          <p:cNvSpPr/>
          <p:nvPr/>
        </p:nvSpPr>
        <p:spPr>
          <a:xfrm>
            <a:off x="4049486" y="897527"/>
            <a:ext cx="4539342" cy="3764534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>
              <a:spcAft>
                <a:spcPts val="1200"/>
              </a:spcAft>
              <a:defRPr sz="1600" b="1">
                <a:solidFill>
                  <a:srgbClr val="0070C0"/>
                </a:solidFill>
              </a:defRPr>
            </a:pPr>
            <a:r>
              <a:rPr lang="it-IT" sz="1600" b="1" dirty="0"/>
              <a:t>Dal </a:t>
            </a:r>
            <a:r>
              <a:rPr lang="it-IT" sz="1600" b="1" dirty="0" err="1"/>
              <a:t>WebSocket</a:t>
            </a:r>
            <a:r>
              <a:rPr lang="it-IT" sz="1600" b="1" dirty="0"/>
              <a:t> al Database al Broadcast</a:t>
            </a:r>
            <a:endParaRPr lang="en-US" dirty="0"/>
          </a:p>
          <a:p>
            <a:r>
              <a:rPr lang="it-IT" sz="1100" b="1" dirty="0"/>
              <a:t>1. Evento arriva al server</a:t>
            </a:r>
            <a:r>
              <a:rPr lang="it-IT" sz="1100" dirty="0"/>
              <a:t> Client invia </a:t>
            </a:r>
            <a:r>
              <a:rPr lang="it-IT" sz="1100" dirty="0" err="1"/>
              <a:t>create_conversation</a:t>
            </a:r>
            <a:r>
              <a:rPr lang="it-IT" sz="1100" dirty="0"/>
              <a:t> o </a:t>
            </a:r>
            <a:r>
              <a:rPr lang="it-IT" sz="1100" dirty="0" err="1"/>
              <a:t>create_group</a:t>
            </a:r>
            <a:r>
              <a:rPr lang="it-IT" sz="1100" dirty="0"/>
              <a:t> via </a:t>
            </a:r>
            <a:r>
              <a:rPr lang="it-IT" sz="1100" dirty="0" err="1"/>
              <a:t>WebSocket</a:t>
            </a:r>
            <a:r>
              <a:rPr lang="it-IT" sz="1100" dirty="0"/>
              <a:t>. Il Reader Task riceve e valida la richiesta.</a:t>
            </a:r>
          </a:p>
          <a:p>
            <a:r>
              <a:rPr lang="it-IT" sz="1100" b="1" dirty="0"/>
              <a:t>2. Salvataggio database</a:t>
            </a:r>
            <a:r>
              <a:rPr lang="it-IT" sz="1100" dirty="0"/>
              <a:t> Handler esegue transazione atomica: INSERT </a:t>
            </a:r>
            <a:r>
              <a:rPr lang="it-IT" sz="1100" dirty="0" err="1"/>
              <a:t>conversations</a:t>
            </a:r>
            <a:r>
              <a:rPr lang="it-IT" sz="1100" dirty="0"/>
              <a:t>, INSERT </a:t>
            </a:r>
            <a:r>
              <a:rPr lang="it-IT" sz="1100" dirty="0" err="1"/>
              <a:t>participants</a:t>
            </a:r>
            <a:r>
              <a:rPr lang="it-IT" sz="1100" dirty="0"/>
              <a:t> con ruoli appropriati (DM: entrambi "</a:t>
            </a:r>
            <a:r>
              <a:rPr lang="it-IT" sz="1100" dirty="0" err="1"/>
              <a:t>member</a:t>
            </a:r>
            <a:r>
              <a:rPr lang="it-IT" sz="1100" dirty="0"/>
              <a:t>", Gruppo: creator "</a:t>
            </a:r>
            <a:r>
              <a:rPr lang="it-IT" sz="1100" dirty="0" err="1"/>
              <a:t>owner</a:t>
            </a:r>
            <a:r>
              <a:rPr lang="it-IT" sz="1100" dirty="0"/>
              <a:t>"), e messaggio iniziale se presente.</a:t>
            </a:r>
          </a:p>
          <a:p>
            <a:r>
              <a:rPr lang="it-IT" sz="1100" b="1" dirty="0"/>
              <a:t>3. Broadcasting eventi differenziati</a:t>
            </a:r>
            <a:r>
              <a:rPr lang="it-IT" sz="1100" dirty="0"/>
              <a:t> Creator riceve </a:t>
            </a:r>
            <a:r>
              <a:rPr lang="it-IT" sz="1100" dirty="0" err="1"/>
              <a:t>conversation_confirmation</a:t>
            </a:r>
            <a:r>
              <a:rPr lang="it-IT" sz="1100" dirty="0"/>
              <a:t> con </a:t>
            </a:r>
            <a:r>
              <a:rPr lang="it-IT" sz="1100" dirty="0" err="1"/>
              <a:t>client_temp_id</a:t>
            </a:r>
            <a:r>
              <a:rPr lang="it-IT" sz="1100" dirty="0"/>
              <a:t> per mapping UI. Target </a:t>
            </a:r>
            <a:r>
              <a:rPr lang="it-IT" sz="1100" dirty="0" err="1"/>
              <a:t>participant</a:t>
            </a:r>
            <a:r>
              <a:rPr lang="it-IT" sz="1100" dirty="0"/>
              <a:t> o membri gruppo ricevono </a:t>
            </a:r>
            <a:r>
              <a:rPr lang="it-IT" sz="1100" dirty="0" err="1"/>
              <a:t>new_conversation</a:t>
            </a:r>
            <a:r>
              <a:rPr lang="it-IT" sz="1100" dirty="0"/>
              <a:t> via </a:t>
            </a:r>
            <a:r>
              <a:rPr lang="it-IT" sz="1100" dirty="0" err="1"/>
              <a:t>user_notification_channel</a:t>
            </a:r>
            <a:r>
              <a:rPr lang="it-IT" sz="1100" dirty="0"/>
              <a:t>.</a:t>
            </a:r>
          </a:p>
          <a:p>
            <a:r>
              <a:rPr lang="it-IT" sz="1100" b="1" dirty="0"/>
              <a:t>4. </a:t>
            </a:r>
            <a:r>
              <a:rPr lang="it-IT" sz="1100" b="1" dirty="0" err="1"/>
              <a:t>Receiver</a:t>
            </a:r>
            <a:r>
              <a:rPr lang="it-IT" sz="1100" b="1" dirty="0"/>
              <a:t> Tasks </a:t>
            </a:r>
            <a:r>
              <a:rPr lang="it-IT" sz="1100" b="1" dirty="0" err="1"/>
              <a:t>spawnano</a:t>
            </a:r>
            <a:r>
              <a:rPr lang="it-IT" sz="1100" b="1" dirty="0"/>
              <a:t> </a:t>
            </a:r>
            <a:r>
              <a:rPr lang="it-IT" sz="1100" b="1" dirty="0" err="1"/>
              <a:t>listener</a:t>
            </a:r>
            <a:r>
              <a:rPr lang="it-IT" sz="1100" dirty="0"/>
              <a:t> Ogni utente online il cui </a:t>
            </a:r>
            <a:r>
              <a:rPr lang="it-IT" sz="1100" dirty="0" err="1"/>
              <a:t>Receiver</a:t>
            </a:r>
            <a:r>
              <a:rPr lang="it-IT" sz="1100" dirty="0"/>
              <a:t> riceve l'evento </a:t>
            </a:r>
            <a:r>
              <a:rPr lang="it-IT" sz="1100" dirty="0" err="1"/>
              <a:t>spawna</a:t>
            </a:r>
            <a:r>
              <a:rPr lang="it-IT" sz="1100" dirty="0"/>
              <a:t> un task Tokio dedicato che fa </a:t>
            </a:r>
            <a:r>
              <a:rPr lang="it-IT" sz="1100" dirty="0" err="1"/>
              <a:t>subscribe</a:t>
            </a:r>
            <a:r>
              <a:rPr lang="it-IT" sz="1100" dirty="0"/>
              <a:t> al broadcast </a:t>
            </a:r>
            <a:r>
              <a:rPr lang="it-IT" sz="1100" dirty="0" err="1"/>
              <a:t>channel</a:t>
            </a:r>
            <a:r>
              <a:rPr lang="it-IT" sz="1100" dirty="0"/>
              <a:t> della conversazione. Il </a:t>
            </a:r>
            <a:r>
              <a:rPr lang="it-IT" sz="1100" dirty="0" err="1"/>
              <a:t>listener</a:t>
            </a:r>
            <a:r>
              <a:rPr lang="it-IT" sz="1100" dirty="0"/>
              <a:t> inoltra tutti i messaggi al </a:t>
            </a:r>
            <a:r>
              <a:rPr lang="it-IT" sz="1100" dirty="0" err="1"/>
              <a:t>Receiver</a:t>
            </a:r>
            <a:r>
              <a:rPr lang="it-IT" sz="1100" dirty="0"/>
              <a:t> principale via MPSC interno.</a:t>
            </a:r>
          </a:p>
          <a:p>
            <a:r>
              <a:rPr lang="it-IT" sz="1100" b="1" dirty="0"/>
              <a:t>5. Eventi al client</a:t>
            </a:r>
            <a:r>
              <a:rPr lang="it-IT" sz="1100" dirty="0"/>
              <a:t> Writer Task invia gli eventi finali al browser via </a:t>
            </a:r>
            <a:r>
              <a:rPr lang="it-IT" sz="1100" dirty="0" err="1"/>
              <a:t>WebSocket</a:t>
            </a:r>
            <a:r>
              <a:rPr lang="it-IT" sz="1100" dirty="0"/>
              <a:t>. Client aggiorna UI mappando </a:t>
            </a:r>
            <a:r>
              <a:rPr lang="it-IT" sz="1100" dirty="0" err="1"/>
              <a:t>client_temp_id</a:t>
            </a:r>
            <a:r>
              <a:rPr lang="it-IT" sz="1100" dirty="0"/>
              <a:t> a ID reale per </a:t>
            </a:r>
            <a:r>
              <a:rPr lang="it-IT" sz="1100" dirty="0" err="1"/>
              <a:t>optimistic</a:t>
            </a:r>
            <a:r>
              <a:rPr lang="it-IT" sz="1100" dirty="0"/>
              <a:t> update </a:t>
            </a:r>
            <a:r>
              <a:rPr lang="it-IT" sz="1100" dirty="0" err="1"/>
              <a:t>instantaneo</a:t>
            </a:r>
            <a:r>
              <a:rPr lang="it-IT" sz="1100" dirty="0"/>
              <a:t>.</a:t>
            </a:r>
          </a:p>
          <a:p>
            <a:r>
              <a:rPr lang="it-IT" sz="1100" b="1" dirty="0"/>
              <a:t>Differenze DM vs Gruppo:</a:t>
            </a:r>
            <a:r>
              <a:rPr lang="it-IT" sz="1100" dirty="0"/>
              <a:t> DM ha 2 partecipanti entrambi "</a:t>
            </a:r>
            <a:r>
              <a:rPr lang="it-IT" sz="1100" dirty="0" err="1"/>
              <a:t>member</a:t>
            </a:r>
            <a:r>
              <a:rPr lang="it-IT" sz="1100" dirty="0"/>
              <a:t>". Gruppo ha </a:t>
            </a:r>
            <a:r>
              <a:rPr lang="it-IT" sz="1100" dirty="0" err="1"/>
              <a:t>owner</a:t>
            </a:r>
            <a:r>
              <a:rPr lang="it-IT" sz="1100" dirty="0"/>
              <a:t> con ruolo "</a:t>
            </a:r>
            <a:r>
              <a:rPr lang="it-IT" sz="1100" dirty="0" err="1"/>
              <a:t>owner</a:t>
            </a:r>
            <a:r>
              <a:rPr lang="it-IT" sz="1100" dirty="0"/>
              <a:t>" e membri con "</a:t>
            </a:r>
            <a:r>
              <a:rPr lang="it-IT" sz="1100" dirty="0" err="1"/>
              <a:t>member</a:t>
            </a:r>
            <a:r>
              <a:rPr lang="it-IT" sz="1100" dirty="0"/>
              <a:t>". </a:t>
            </a:r>
            <a:r>
              <a:rPr lang="it-IT" sz="1100" dirty="0" err="1"/>
              <a:t>Owner</a:t>
            </a:r>
            <a:r>
              <a:rPr lang="it-IT" sz="1100" dirty="0"/>
              <a:t> riceve </a:t>
            </a:r>
            <a:r>
              <a:rPr lang="it-IT" sz="1100" dirty="0" err="1"/>
              <a:t>conversation_created_complete</a:t>
            </a:r>
            <a:r>
              <a:rPr lang="it-IT" sz="1100" dirty="0"/>
              <a:t>, membri ricevono </a:t>
            </a:r>
            <a:r>
              <a:rPr lang="it-IT" sz="1100" dirty="0" err="1"/>
              <a:t>new_conversation</a:t>
            </a:r>
            <a:r>
              <a:rPr lang="it-IT" sz="1100" dirty="0"/>
              <a:t>.</a:t>
            </a:r>
          </a:p>
        </p:txBody>
      </p:sp>
      <p:pic>
        <p:nvPicPr>
          <p:cNvPr id="4" name="Immagine 3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91B75F5A-C02E-802D-CFF3-31FA1BA00A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172" y="897527"/>
            <a:ext cx="3400233" cy="3602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583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796671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WebSocket Architecture - Message Flow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 err="1"/>
              <a:t>Flusso</a:t>
            </a:r>
            <a:r>
              <a:rPr dirty="0"/>
              <a:t> WebSocket → Business → State → UI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</a:t>
            </a:r>
            <a:r>
              <a:rPr dirty="0" err="1"/>
              <a:t>flusso</a:t>
            </a:r>
            <a:r>
              <a:rPr dirty="0"/>
              <a:t> di un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attraversa</a:t>
            </a:r>
            <a:r>
              <a:rPr dirty="0"/>
              <a:t> </a:t>
            </a:r>
            <a:r>
              <a:rPr dirty="0" err="1"/>
              <a:t>l'intera</a:t>
            </a:r>
            <a:r>
              <a:rPr dirty="0"/>
              <a:t> </a:t>
            </a:r>
            <a:r>
              <a:rPr dirty="0" err="1"/>
              <a:t>architettura</a:t>
            </a:r>
            <a:r>
              <a:rPr dirty="0"/>
              <a:t> frontend in modo event-driven. Quando </a:t>
            </a:r>
            <a:r>
              <a:rPr dirty="0" err="1"/>
              <a:t>arriva</a:t>
            </a:r>
            <a:r>
              <a:rPr dirty="0"/>
              <a:t> un frame dal WebSocket, il Reader Task lo </a:t>
            </a:r>
            <a:r>
              <a:rPr dirty="0" err="1"/>
              <a:t>deserializza</a:t>
            </a:r>
            <a:r>
              <a:rPr dirty="0"/>
              <a:t> in JSON e lo </a:t>
            </a:r>
            <a:r>
              <a:rPr dirty="0" err="1"/>
              <a:t>invia</a:t>
            </a:r>
            <a:r>
              <a:rPr dirty="0"/>
              <a:t> al thread </a:t>
            </a:r>
            <a:r>
              <a:rPr dirty="0" err="1"/>
              <a:t>principale</a:t>
            </a:r>
            <a:r>
              <a:rPr dirty="0"/>
              <a:t> </a:t>
            </a:r>
            <a:r>
              <a:rPr dirty="0" err="1"/>
              <a:t>tramite</a:t>
            </a:r>
            <a:r>
              <a:rPr dirty="0"/>
              <a:t> il </a:t>
            </a:r>
            <a:r>
              <a:rPr dirty="0" err="1"/>
              <a:t>canale</a:t>
            </a:r>
            <a:r>
              <a:rPr dirty="0"/>
              <a:t> </a:t>
            </a:r>
            <a:r>
              <a:rPr dirty="0" err="1"/>
              <a:t>ui_tx</a:t>
            </a:r>
            <a:r>
              <a:rPr dirty="0"/>
              <a:t>. Nel </a:t>
            </a:r>
            <a:r>
              <a:rPr dirty="0" err="1"/>
              <a:t>prossimo</a:t>
            </a:r>
            <a:r>
              <a:rPr dirty="0"/>
              <a:t> frame </a:t>
            </a:r>
            <a:r>
              <a:rPr dirty="0" err="1"/>
              <a:t>dell'UI</a:t>
            </a:r>
            <a:r>
              <a:rPr dirty="0"/>
              <a:t> loop, </a:t>
            </a:r>
            <a:r>
              <a:rPr dirty="0" err="1"/>
              <a:t>l'EventDispatcher</a:t>
            </a:r>
            <a:r>
              <a:rPr dirty="0"/>
              <a:t> </a:t>
            </a:r>
            <a:r>
              <a:rPr dirty="0" err="1"/>
              <a:t>drena</a:t>
            </a:r>
            <a:r>
              <a:rPr dirty="0"/>
              <a:t> il </a:t>
            </a:r>
            <a:r>
              <a:rPr dirty="0" err="1"/>
              <a:t>canale</a:t>
            </a:r>
            <a:r>
              <a:rPr dirty="0"/>
              <a:t> e routes </a:t>
            </a:r>
            <a:r>
              <a:rPr dirty="0" err="1"/>
              <a:t>l'evento</a:t>
            </a:r>
            <a:r>
              <a:rPr dirty="0"/>
              <a:t> </a:t>
            </a:r>
            <a:r>
              <a:rPr dirty="0" err="1"/>
              <a:t>all'handler</a:t>
            </a:r>
            <a:r>
              <a:rPr dirty="0"/>
              <a:t> </a:t>
            </a:r>
            <a:r>
              <a:rPr dirty="0" err="1"/>
              <a:t>appropriato</a:t>
            </a:r>
            <a:r>
              <a:rPr dirty="0"/>
              <a:t>. </a:t>
            </a:r>
            <a:r>
              <a:rPr dirty="0" err="1"/>
              <a:t>L'handler</a:t>
            </a:r>
            <a:r>
              <a:rPr dirty="0"/>
              <a:t> </a:t>
            </a:r>
            <a:r>
              <a:rPr dirty="0" err="1"/>
              <a:t>modifica</a:t>
            </a:r>
            <a:r>
              <a:rPr dirty="0"/>
              <a:t> lo </a:t>
            </a:r>
            <a:r>
              <a:rPr dirty="0" err="1"/>
              <a:t>stato</a:t>
            </a:r>
            <a:r>
              <a:rPr dirty="0"/>
              <a:t> </a:t>
            </a:r>
            <a:r>
              <a:rPr dirty="0" err="1"/>
              <a:t>dell'applicazione</a:t>
            </a:r>
            <a:r>
              <a:rPr dirty="0"/>
              <a:t> </a:t>
            </a:r>
            <a:r>
              <a:rPr dirty="0" err="1"/>
              <a:t>aggiungendo</a:t>
            </a:r>
            <a:r>
              <a:rPr dirty="0"/>
              <a:t> il </a:t>
            </a:r>
            <a:r>
              <a:rPr dirty="0" err="1"/>
              <a:t>messaggio</a:t>
            </a:r>
            <a:r>
              <a:rPr dirty="0"/>
              <a:t> alla </a:t>
            </a:r>
            <a:r>
              <a:rPr dirty="0" err="1"/>
              <a:t>lista</a:t>
            </a:r>
            <a:r>
              <a:rPr dirty="0"/>
              <a:t> della conversazione e </a:t>
            </a:r>
            <a:r>
              <a:rPr dirty="0" err="1"/>
              <a:t>aggiornando</a:t>
            </a:r>
            <a:r>
              <a:rPr dirty="0"/>
              <a:t> la </a:t>
            </a:r>
            <a:r>
              <a:rPr dirty="0" err="1"/>
              <a:t>sequenza</a:t>
            </a:r>
            <a:r>
              <a:rPr dirty="0"/>
              <a:t> </a:t>
            </a:r>
            <a:r>
              <a:rPr dirty="0" err="1"/>
              <a:t>tracciata</a:t>
            </a:r>
            <a:r>
              <a:rPr dirty="0"/>
              <a:t>. </a:t>
            </a:r>
            <a:r>
              <a:rPr dirty="0" err="1"/>
              <a:t>Infine</a:t>
            </a:r>
            <a:r>
              <a:rPr dirty="0"/>
              <a:t> </a:t>
            </a:r>
            <a:r>
              <a:rPr dirty="0" err="1"/>
              <a:t>egui_waker</a:t>
            </a:r>
            <a:r>
              <a:rPr dirty="0"/>
              <a:t>() </a:t>
            </a:r>
            <a:r>
              <a:rPr dirty="0" err="1"/>
              <a:t>sveglia</a:t>
            </a:r>
            <a:r>
              <a:rPr dirty="0"/>
              <a:t> </a:t>
            </a:r>
            <a:r>
              <a:rPr dirty="0" err="1"/>
              <a:t>l'event</a:t>
            </a:r>
            <a:r>
              <a:rPr dirty="0"/>
              <a:t> loop UI per </a:t>
            </a:r>
            <a:r>
              <a:rPr dirty="0" err="1"/>
              <a:t>triggerare</a:t>
            </a:r>
            <a:r>
              <a:rPr dirty="0"/>
              <a:t> un repaint con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nuovi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.</a:t>
            </a:r>
          </a:p>
        </p:txBody>
      </p:sp>
      <p:pic>
        <p:nvPicPr>
          <p:cNvPr id="31" name="Immagine 30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71E3C1BF-5B00-9911-B65B-E4DCBFACB8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664" y="979714"/>
            <a:ext cx="2292903" cy="343616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785012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WebSocket Task - Bidirectional Handler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4667250" y="2163514"/>
            <a:ext cx="4095750" cy="748308"/>
          </a:xfrm>
          <a:prstGeom prst="roundRect">
            <a:avLst>
              <a:gd name="adj" fmla="val 7637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Reader + Writer Loops </a:t>
            </a:r>
            <a:r>
              <a:rPr dirty="0" err="1"/>
              <a:t>Concorrenti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WebSocket client </a:t>
            </a:r>
            <a:r>
              <a:rPr dirty="0" err="1"/>
              <a:t>gestisce</a:t>
            </a:r>
            <a:r>
              <a:rPr dirty="0"/>
              <a:t> </a:t>
            </a:r>
            <a:r>
              <a:rPr dirty="0" err="1"/>
              <a:t>comunicazione</a:t>
            </a:r>
            <a:r>
              <a:rPr dirty="0"/>
              <a:t> </a:t>
            </a:r>
            <a:r>
              <a:rPr dirty="0" err="1"/>
              <a:t>bidirezionale</a:t>
            </a:r>
            <a:r>
              <a:rPr dirty="0"/>
              <a:t> con un </a:t>
            </a:r>
            <a:r>
              <a:rPr dirty="0" err="1"/>
              <a:t>singolo</a:t>
            </a:r>
            <a:r>
              <a:rPr dirty="0"/>
              <a:t> task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usa</a:t>
            </a:r>
            <a:r>
              <a:rPr dirty="0"/>
              <a:t> </a:t>
            </a:r>
            <a:r>
              <a:rPr dirty="0" err="1"/>
              <a:t>tokio</a:t>
            </a:r>
            <a:r>
              <a:rPr dirty="0"/>
              <a:t>::select!. Il task divide il socket in due </a:t>
            </a:r>
            <a:r>
              <a:rPr dirty="0" err="1"/>
              <a:t>metà</a:t>
            </a:r>
            <a:r>
              <a:rPr dirty="0"/>
              <a:t> </a:t>
            </a:r>
            <a:r>
              <a:rPr dirty="0" err="1"/>
              <a:t>indipendenti</a:t>
            </a:r>
            <a:r>
              <a:rPr dirty="0"/>
              <a:t>: </a:t>
            </a:r>
            <a:r>
              <a:rPr dirty="0" err="1"/>
              <a:t>ws_rx</a:t>
            </a:r>
            <a:r>
              <a:rPr dirty="0"/>
              <a:t> per </a:t>
            </a:r>
            <a:r>
              <a:rPr dirty="0" err="1"/>
              <a:t>ricevere</a:t>
            </a:r>
            <a:r>
              <a:rPr dirty="0"/>
              <a:t> e </a:t>
            </a:r>
            <a:r>
              <a:rPr dirty="0" err="1"/>
              <a:t>ws_tx</a:t>
            </a:r>
            <a:r>
              <a:rPr dirty="0"/>
              <a:t> per </a:t>
            </a:r>
            <a:r>
              <a:rPr dirty="0" err="1"/>
              <a:t>inviare</a:t>
            </a:r>
            <a:r>
              <a:rPr dirty="0"/>
              <a:t>. Il branch reader </a:t>
            </a:r>
            <a:r>
              <a:rPr dirty="0" err="1"/>
              <a:t>aspetta</a:t>
            </a:r>
            <a:r>
              <a:rPr dirty="0"/>
              <a:t> frame dal server, li </a:t>
            </a:r>
            <a:r>
              <a:rPr dirty="0" err="1"/>
              <a:t>deserializza</a:t>
            </a:r>
            <a:r>
              <a:rPr dirty="0"/>
              <a:t> e li </a:t>
            </a:r>
            <a:r>
              <a:rPr dirty="0" err="1"/>
              <a:t>inoltra</a:t>
            </a:r>
            <a:r>
              <a:rPr dirty="0"/>
              <a:t> al main thread </a:t>
            </a:r>
            <a:r>
              <a:rPr dirty="0" err="1"/>
              <a:t>tramite</a:t>
            </a:r>
            <a:r>
              <a:rPr dirty="0"/>
              <a:t> </a:t>
            </a:r>
            <a:r>
              <a:rPr dirty="0" err="1"/>
              <a:t>ui_tx</a:t>
            </a:r>
            <a:r>
              <a:rPr dirty="0"/>
              <a:t>. Il branch writer </a:t>
            </a:r>
            <a:r>
              <a:rPr dirty="0" err="1"/>
              <a:t>aspetta</a:t>
            </a:r>
            <a:r>
              <a:rPr dirty="0"/>
              <a:t> </a:t>
            </a:r>
            <a:r>
              <a:rPr dirty="0" err="1"/>
              <a:t>comandi</a:t>
            </a:r>
            <a:r>
              <a:rPr dirty="0"/>
              <a:t> </a:t>
            </a:r>
            <a:r>
              <a:rPr dirty="0" err="1"/>
              <a:t>dall'UI</a:t>
            </a:r>
            <a:r>
              <a:rPr dirty="0"/>
              <a:t> </a:t>
            </a:r>
            <a:r>
              <a:rPr dirty="0" err="1"/>
              <a:t>tramite</a:t>
            </a:r>
            <a:r>
              <a:rPr dirty="0"/>
              <a:t> </a:t>
            </a:r>
            <a:r>
              <a:rPr dirty="0" err="1"/>
              <a:t>ui_to_net_rx</a:t>
            </a:r>
            <a:r>
              <a:rPr dirty="0"/>
              <a:t>, li </a:t>
            </a:r>
            <a:r>
              <a:rPr dirty="0" err="1"/>
              <a:t>serializza</a:t>
            </a:r>
            <a:r>
              <a:rPr dirty="0"/>
              <a:t> in JSON e li </a:t>
            </a:r>
            <a:r>
              <a:rPr dirty="0" err="1"/>
              <a:t>invia</a:t>
            </a:r>
            <a:r>
              <a:rPr dirty="0"/>
              <a:t> al server. La macro select! </a:t>
            </a:r>
            <a:r>
              <a:rPr dirty="0" err="1"/>
              <a:t>permette</a:t>
            </a:r>
            <a:r>
              <a:rPr dirty="0"/>
              <a:t> di </a:t>
            </a:r>
            <a:r>
              <a:rPr dirty="0" err="1"/>
              <a:t>gestire</a:t>
            </a:r>
            <a:r>
              <a:rPr dirty="0"/>
              <a:t> </a:t>
            </a:r>
            <a:r>
              <a:rPr dirty="0" err="1"/>
              <a:t>entrambi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flussi</a:t>
            </a:r>
            <a:r>
              <a:rPr dirty="0"/>
              <a:t> </a:t>
            </a:r>
            <a:r>
              <a:rPr dirty="0" err="1"/>
              <a:t>concorrentemente</a:t>
            </a:r>
            <a:r>
              <a:rPr dirty="0"/>
              <a:t>, </a:t>
            </a:r>
            <a:r>
              <a:rPr dirty="0" err="1"/>
              <a:t>eseguendo</a:t>
            </a:r>
            <a:r>
              <a:rPr dirty="0"/>
              <a:t> il primo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risveglia</a:t>
            </a:r>
            <a:r>
              <a:rPr dirty="0"/>
              <a:t>.</a:t>
            </a:r>
          </a:p>
        </p:txBody>
      </p:sp>
      <p:pic>
        <p:nvPicPr>
          <p:cNvPr id="29" name="Immagine 28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F47F6531-3240-8F77-8A7E-B74CFFA3B6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648" y="1114512"/>
            <a:ext cx="3215837" cy="3421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82999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EventDispatcher - Central Router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4667250" y="2163514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Poll </a:t>
            </a:r>
            <a:r>
              <a:rPr dirty="0" err="1"/>
              <a:t>ui_rx</a:t>
            </a:r>
            <a:r>
              <a:rPr dirty="0"/>
              <a:t> → Route → Trigger Repaint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lang="it-IT" sz="1300" dirty="0"/>
              <a:t>L'</a:t>
            </a:r>
            <a:r>
              <a:rPr lang="it-IT" sz="1300" dirty="0" err="1"/>
              <a:t>EventDispatcher</a:t>
            </a:r>
            <a:r>
              <a:rPr lang="it-IT" sz="1300" dirty="0"/>
              <a:t> è il router centrale che collega networking e business </a:t>
            </a:r>
            <a:r>
              <a:rPr lang="it-IT" sz="1300" dirty="0" err="1"/>
              <a:t>logic</a:t>
            </a:r>
            <a:r>
              <a:rPr lang="it-IT" sz="1300" dirty="0"/>
              <a:t>. Viene risvegliato dal </a:t>
            </a:r>
            <a:r>
              <a:rPr lang="it-IT" sz="1300" dirty="0" err="1"/>
              <a:t>waker</a:t>
            </a:r>
            <a:r>
              <a:rPr lang="it-IT" sz="1300" dirty="0"/>
              <a:t> quando arrivano nuovi eventi e drena tutti gli eventi disponibili dal canale </a:t>
            </a:r>
            <a:r>
              <a:rPr lang="it-IT" sz="1300" dirty="0" err="1"/>
              <a:t>ui_rx</a:t>
            </a:r>
            <a:r>
              <a:rPr lang="it-IT" sz="1300" dirty="0"/>
              <a:t> usando </a:t>
            </a:r>
            <a:r>
              <a:rPr lang="it-IT" sz="1300" dirty="0" err="1"/>
              <a:t>try_recv</a:t>
            </a:r>
            <a:r>
              <a:rPr lang="it-IT" sz="1300" dirty="0"/>
              <a:t>() non-</a:t>
            </a:r>
            <a:r>
              <a:rPr lang="it-IT" sz="1300" dirty="0" err="1"/>
              <a:t>blocking</a:t>
            </a:r>
            <a:r>
              <a:rPr lang="it-IT" sz="1300" dirty="0"/>
              <a:t>. Per ogni evento fa pattern matching sul tipo e chiama </a:t>
            </a:r>
            <a:r>
              <a:rPr lang="it-IT" sz="1300" dirty="0" err="1"/>
              <a:t>l'handler</a:t>
            </a:r>
            <a:r>
              <a:rPr lang="it-IT" sz="1300" dirty="0"/>
              <a:t> specializzato appropriato. Gli </a:t>
            </a:r>
            <a:r>
              <a:rPr lang="it-IT" sz="1300" dirty="0" err="1"/>
              <a:t>handler</a:t>
            </a:r>
            <a:r>
              <a:rPr lang="it-IT" sz="1300" dirty="0"/>
              <a:t> non conoscono i dettagli del networking: ricevono solo riferimento mutabile allo stato e applicano le modifiche necessarie. Il </a:t>
            </a:r>
            <a:r>
              <a:rPr lang="it-IT" sz="1300" dirty="0" err="1"/>
              <a:t>waker</a:t>
            </a:r>
            <a:r>
              <a:rPr lang="it-IT" sz="1300" dirty="0"/>
              <a:t> garantisce aggiornamento UI istantaneo senza polling attivo, e l'applicazione torna in </a:t>
            </a:r>
            <a:r>
              <a:rPr lang="it-IT" sz="1300" dirty="0" err="1"/>
              <a:t>idle</a:t>
            </a:r>
            <a:r>
              <a:rPr lang="it-IT" sz="1300" dirty="0"/>
              <a:t> tra gli eventi risparmiando CPU.</a:t>
            </a:r>
            <a:endParaRPr dirty="0"/>
          </a:p>
        </p:txBody>
      </p:sp>
      <p:pic>
        <p:nvPicPr>
          <p:cNvPr id="24" name="Immagine 23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C71605C2-92A4-0899-36C9-3A8F3B15C4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292" y="1112919"/>
            <a:ext cx="3151877" cy="291766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775296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Event Handlers - Business Logic Layer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7 Handler </a:t>
            </a:r>
            <a:r>
              <a:rPr dirty="0" err="1"/>
              <a:t>Specializzati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</a:t>
            </a:r>
            <a:r>
              <a:rPr dirty="0" err="1"/>
              <a:t>sistema</a:t>
            </a:r>
            <a:r>
              <a:rPr dirty="0"/>
              <a:t> è </a:t>
            </a:r>
            <a:r>
              <a:rPr dirty="0" err="1"/>
              <a:t>organizzato</a:t>
            </a:r>
            <a:r>
              <a:rPr dirty="0"/>
              <a:t> in 7 handler </a:t>
            </a:r>
            <a:r>
              <a:rPr dirty="0" err="1"/>
              <a:t>specializzati</a:t>
            </a:r>
            <a:r>
              <a:rPr dirty="0"/>
              <a:t>, </a:t>
            </a:r>
            <a:r>
              <a:rPr dirty="0" err="1"/>
              <a:t>ognuno</a:t>
            </a:r>
            <a:r>
              <a:rPr dirty="0"/>
              <a:t> </a:t>
            </a:r>
            <a:r>
              <a:rPr dirty="0" err="1"/>
              <a:t>responsabile</a:t>
            </a:r>
            <a:r>
              <a:rPr dirty="0"/>
              <a:t> di un </a:t>
            </a:r>
            <a:r>
              <a:rPr dirty="0" err="1"/>
              <a:t>aspetto</a:t>
            </a:r>
            <a:r>
              <a:rPr dirty="0"/>
              <a:t> </a:t>
            </a:r>
            <a:r>
              <a:rPr dirty="0" err="1"/>
              <a:t>specifico</a:t>
            </a:r>
            <a:r>
              <a:rPr dirty="0"/>
              <a:t> </a:t>
            </a:r>
            <a:r>
              <a:rPr dirty="0" err="1"/>
              <a:t>dell'applicazione</a:t>
            </a:r>
            <a:r>
              <a:rPr dirty="0"/>
              <a:t>. </a:t>
            </a:r>
            <a:r>
              <a:rPr dirty="0" err="1"/>
              <a:t>AuthHandler</a:t>
            </a:r>
            <a:r>
              <a:rPr dirty="0"/>
              <a:t> </a:t>
            </a:r>
            <a:r>
              <a:rPr dirty="0" err="1"/>
              <a:t>gestisce</a:t>
            </a:r>
            <a:r>
              <a:rPr dirty="0"/>
              <a:t> login e logout, </a:t>
            </a:r>
            <a:r>
              <a:rPr dirty="0" err="1"/>
              <a:t>MessageHandler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occupa</a:t>
            </a:r>
            <a:r>
              <a:rPr dirty="0"/>
              <a:t> del lifecycle </a:t>
            </a:r>
            <a:r>
              <a:rPr dirty="0" err="1"/>
              <a:t>completo</a:t>
            </a:r>
            <a:r>
              <a:rPr dirty="0"/>
              <a:t>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</a:t>
            </a:r>
            <a:r>
              <a:rPr dirty="0" err="1"/>
              <a:t>dall'invio</a:t>
            </a:r>
            <a:r>
              <a:rPr dirty="0"/>
              <a:t> alla </a:t>
            </a:r>
            <a:r>
              <a:rPr dirty="0" err="1"/>
              <a:t>conferma</a:t>
            </a:r>
            <a:r>
              <a:rPr dirty="0"/>
              <a:t>, </a:t>
            </a:r>
            <a:r>
              <a:rPr dirty="0" err="1"/>
              <a:t>SequenceHandler</a:t>
            </a:r>
            <a:r>
              <a:rPr dirty="0"/>
              <a:t> </a:t>
            </a:r>
            <a:r>
              <a:rPr dirty="0" err="1"/>
              <a:t>implementa</a:t>
            </a:r>
            <a:r>
              <a:rPr dirty="0"/>
              <a:t> gap detection e recovery, </a:t>
            </a:r>
            <a:r>
              <a:rPr dirty="0" err="1"/>
              <a:t>BufferHandler</a:t>
            </a:r>
            <a:r>
              <a:rPr dirty="0"/>
              <a:t> </a:t>
            </a:r>
            <a:r>
              <a:rPr dirty="0" err="1"/>
              <a:t>gestisce</a:t>
            </a:r>
            <a:r>
              <a:rPr dirty="0"/>
              <a:t> il </a:t>
            </a:r>
            <a:r>
              <a:rPr dirty="0" err="1"/>
              <a:t>riordinamento</a:t>
            </a:r>
            <a:r>
              <a:rPr dirty="0"/>
              <a:t>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</a:t>
            </a:r>
            <a:r>
              <a:rPr dirty="0" err="1"/>
              <a:t>fuori</a:t>
            </a:r>
            <a:r>
              <a:rPr dirty="0"/>
              <a:t> </a:t>
            </a:r>
            <a:r>
              <a:rPr dirty="0" err="1"/>
              <a:t>sequenza</a:t>
            </a:r>
            <a:r>
              <a:rPr dirty="0"/>
              <a:t>. Ogni handler </a:t>
            </a:r>
            <a:r>
              <a:rPr dirty="0" err="1"/>
              <a:t>riceve</a:t>
            </a:r>
            <a:r>
              <a:rPr dirty="0"/>
              <a:t> </a:t>
            </a:r>
            <a:r>
              <a:rPr dirty="0" err="1"/>
              <a:t>riferimento</a:t>
            </a:r>
            <a:r>
              <a:rPr dirty="0"/>
              <a:t> </a:t>
            </a:r>
            <a:r>
              <a:rPr dirty="0" err="1"/>
              <a:t>mutabile</a:t>
            </a:r>
            <a:r>
              <a:rPr dirty="0"/>
              <a:t> ad </a:t>
            </a:r>
            <a:r>
              <a:rPr dirty="0" err="1"/>
              <a:t>AppState</a:t>
            </a:r>
            <a:r>
              <a:rPr dirty="0"/>
              <a:t> e </a:t>
            </a:r>
            <a:r>
              <a:rPr dirty="0" err="1"/>
              <a:t>applica</a:t>
            </a:r>
            <a:r>
              <a:rPr dirty="0"/>
              <a:t> le </a:t>
            </a:r>
            <a:r>
              <a:rPr dirty="0" err="1"/>
              <a:t>trasformazioni</a:t>
            </a:r>
            <a:r>
              <a:rPr dirty="0"/>
              <a:t> </a:t>
            </a:r>
            <a:r>
              <a:rPr dirty="0" err="1"/>
              <a:t>necessarie</a:t>
            </a:r>
            <a:r>
              <a:rPr dirty="0"/>
              <a:t> </a:t>
            </a:r>
            <a:r>
              <a:rPr dirty="0" err="1"/>
              <a:t>mantenendo</a:t>
            </a:r>
            <a:r>
              <a:rPr dirty="0"/>
              <a:t> la </a:t>
            </a:r>
            <a:r>
              <a:rPr dirty="0" err="1"/>
              <a:t>separazione</a:t>
            </a:r>
            <a:r>
              <a:rPr dirty="0"/>
              <a:t> delle </a:t>
            </a:r>
            <a:r>
              <a:rPr dirty="0" err="1"/>
              <a:t>responsabilità</a:t>
            </a:r>
            <a:r>
              <a:rPr dirty="0"/>
              <a:t>.</a:t>
            </a:r>
          </a:p>
        </p:txBody>
      </p:sp>
      <p:pic>
        <p:nvPicPr>
          <p:cNvPr id="22" name="Immagine 21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D21CEB49-B322-9B4D-1822-D607DCAC9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591" y="904058"/>
            <a:ext cx="2399374" cy="376453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78141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AppState Mutations → UI Update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4667250" y="2163514"/>
            <a:ext cx="4095750" cy="748308"/>
          </a:xfrm>
          <a:prstGeom prst="roundRect">
            <a:avLst>
              <a:gd name="adj" fmla="val 7637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Single Source of Truth + </a:t>
            </a:r>
            <a:r>
              <a:rPr dirty="0" err="1"/>
              <a:t>egui_waker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pattern di update è </a:t>
            </a:r>
            <a:r>
              <a:rPr dirty="0" err="1"/>
              <a:t>basato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single source of truth. Quando un handler </a:t>
            </a:r>
            <a:r>
              <a:rPr dirty="0" err="1"/>
              <a:t>modifica</a:t>
            </a:r>
            <a:r>
              <a:rPr dirty="0"/>
              <a:t> </a:t>
            </a:r>
            <a:r>
              <a:rPr dirty="0" err="1"/>
              <a:t>AppState</a:t>
            </a:r>
            <a:r>
              <a:rPr dirty="0"/>
              <a:t>, per </a:t>
            </a:r>
            <a:r>
              <a:rPr dirty="0" err="1"/>
              <a:t>esempio</a:t>
            </a:r>
            <a:r>
              <a:rPr dirty="0"/>
              <a:t> </a:t>
            </a:r>
            <a:r>
              <a:rPr dirty="0" err="1"/>
              <a:t>aggiungendo</a:t>
            </a:r>
            <a:r>
              <a:rPr dirty="0"/>
              <a:t> un </a:t>
            </a:r>
            <a:r>
              <a:rPr dirty="0" err="1"/>
              <a:t>messaggio</a:t>
            </a:r>
            <a:r>
              <a:rPr dirty="0"/>
              <a:t> alla </a:t>
            </a:r>
            <a:r>
              <a:rPr dirty="0" err="1"/>
              <a:t>conversation_messages</a:t>
            </a:r>
            <a:r>
              <a:rPr dirty="0"/>
              <a:t> HashMap e </a:t>
            </a:r>
            <a:r>
              <a:rPr dirty="0" err="1"/>
              <a:t>aggiornando</a:t>
            </a:r>
            <a:r>
              <a:rPr dirty="0"/>
              <a:t> </a:t>
            </a:r>
            <a:r>
              <a:rPr dirty="0" err="1"/>
              <a:t>conversation_sequences</a:t>
            </a:r>
            <a:r>
              <a:rPr dirty="0"/>
              <a:t>, </a:t>
            </a:r>
            <a:r>
              <a:rPr dirty="0" err="1"/>
              <a:t>chiama</a:t>
            </a:r>
            <a:r>
              <a:rPr dirty="0"/>
              <a:t> </a:t>
            </a:r>
            <a:r>
              <a:rPr dirty="0" err="1"/>
              <a:t>egui_waker</a:t>
            </a:r>
            <a:r>
              <a:rPr dirty="0"/>
              <a:t>() per </a:t>
            </a:r>
            <a:r>
              <a:rPr dirty="0" err="1"/>
              <a:t>svegliare</a:t>
            </a:r>
            <a:r>
              <a:rPr dirty="0"/>
              <a:t> </a:t>
            </a:r>
            <a:r>
              <a:rPr dirty="0" err="1"/>
              <a:t>l'event</a:t>
            </a:r>
            <a:r>
              <a:rPr dirty="0"/>
              <a:t> loop. Nel </a:t>
            </a:r>
            <a:r>
              <a:rPr dirty="0" err="1"/>
              <a:t>prossimo</a:t>
            </a:r>
            <a:r>
              <a:rPr dirty="0"/>
              <a:t> frame </a:t>
            </a:r>
            <a:r>
              <a:rPr dirty="0" err="1"/>
              <a:t>l'UI</a:t>
            </a:r>
            <a:r>
              <a:rPr dirty="0"/>
              <a:t>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ricostruita</a:t>
            </a:r>
            <a:r>
              <a:rPr dirty="0"/>
              <a:t> </a:t>
            </a:r>
            <a:r>
              <a:rPr dirty="0" err="1"/>
              <a:t>completamente</a:t>
            </a:r>
            <a:r>
              <a:rPr dirty="0"/>
              <a:t> </a:t>
            </a:r>
            <a:r>
              <a:rPr dirty="0" err="1"/>
              <a:t>leggendo</a:t>
            </a:r>
            <a:r>
              <a:rPr dirty="0"/>
              <a:t> il nuovo </a:t>
            </a:r>
            <a:r>
              <a:rPr dirty="0" err="1"/>
              <a:t>stato</a:t>
            </a:r>
            <a:r>
              <a:rPr dirty="0"/>
              <a:t>: </a:t>
            </a:r>
            <a:r>
              <a:rPr dirty="0" err="1"/>
              <a:t>egui</a:t>
            </a:r>
            <a:r>
              <a:rPr dirty="0"/>
              <a:t> in immediate mode </a:t>
            </a:r>
            <a:r>
              <a:rPr dirty="0" err="1"/>
              <a:t>significa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ogni frame le </a:t>
            </a:r>
            <a:r>
              <a:rPr dirty="0" err="1"/>
              <a:t>funzioni</a:t>
            </a:r>
            <a:r>
              <a:rPr dirty="0"/>
              <a:t> di rendering </a:t>
            </a:r>
            <a:r>
              <a:rPr dirty="0" err="1"/>
              <a:t>leggono</a:t>
            </a:r>
            <a:r>
              <a:rPr dirty="0"/>
              <a:t> </a:t>
            </a:r>
            <a:r>
              <a:rPr dirty="0" err="1"/>
              <a:t>AppState</a:t>
            </a:r>
            <a:r>
              <a:rPr dirty="0"/>
              <a:t> e </a:t>
            </a:r>
            <a:r>
              <a:rPr dirty="0" err="1"/>
              <a:t>disegnano</a:t>
            </a:r>
            <a:r>
              <a:rPr dirty="0"/>
              <a:t> </a:t>
            </a:r>
            <a:r>
              <a:rPr dirty="0" err="1"/>
              <a:t>l'interfaccia</a:t>
            </a:r>
            <a:r>
              <a:rPr dirty="0"/>
              <a:t> da zero. Non </a:t>
            </a:r>
            <a:r>
              <a:rPr dirty="0" err="1"/>
              <a:t>c'è</a:t>
            </a:r>
            <a:r>
              <a:rPr dirty="0"/>
              <a:t> DOM da </a:t>
            </a:r>
            <a:r>
              <a:rPr dirty="0" err="1"/>
              <a:t>aggiornare</a:t>
            </a:r>
            <a:r>
              <a:rPr dirty="0"/>
              <a:t>, </a:t>
            </a:r>
            <a:r>
              <a:rPr dirty="0" err="1"/>
              <a:t>tutto</a:t>
            </a:r>
            <a:r>
              <a:rPr dirty="0"/>
              <a:t> è data-driven.</a:t>
            </a:r>
          </a:p>
        </p:txBody>
      </p:sp>
      <p:pic>
        <p:nvPicPr>
          <p:cNvPr id="31" name="Immagine 30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A972A9E4-62C4-78E6-A833-EACDC0F6D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2769" y="1110342"/>
            <a:ext cx="2530492" cy="348451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62597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Gap Detection &amp; Reorder Buffer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 err="1"/>
              <a:t>BTreeMap</a:t>
            </a:r>
            <a:r>
              <a:rPr dirty="0"/>
              <a:t> Buffer + Auto Recovery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gap detection è </a:t>
            </a:r>
            <a:r>
              <a:rPr dirty="0" err="1"/>
              <a:t>automatico</a:t>
            </a:r>
            <a:r>
              <a:rPr dirty="0"/>
              <a:t> e </a:t>
            </a:r>
            <a:r>
              <a:rPr dirty="0" err="1"/>
              <a:t>trasparente</a:t>
            </a:r>
            <a:r>
              <a:rPr dirty="0"/>
              <a:t>. Ogni volta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arriva</a:t>
            </a:r>
            <a:r>
              <a:rPr dirty="0"/>
              <a:t> un </a:t>
            </a:r>
            <a:r>
              <a:rPr dirty="0" err="1"/>
              <a:t>messaggio</a:t>
            </a:r>
            <a:r>
              <a:rPr dirty="0"/>
              <a:t>, il client </a:t>
            </a:r>
            <a:r>
              <a:rPr dirty="0" err="1"/>
              <a:t>controlla</a:t>
            </a:r>
            <a:r>
              <a:rPr dirty="0"/>
              <a:t> se la </a:t>
            </a:r>
            <a:r>
              <a:rPr dirty="0" err="1"/>
              <a:t>sequenza</a:t>
            </a:r>
            <a:r>
              <a:rPr dirty="0"/>
              <a:t> </a:t>
            </a:r>
            <a:r>
              <a:rPr dirty="0" err="1"/>
              <a:t>corrisponde</a:t>
            </a:r>
            <a:r>
              <a:rPr dirty="0"/>
              <a:t> a </a:t>
            </a:r>
            <a:r>
              <a:rPr dirty="0" err="1"/>
              <a:t>quella</a:t>
            </a:r>
            <a:r>
              <a:rPr dirty="0"/>
              <a:t> </a:t>
            </a:r>
            <a:r>
              <a:rPr dirty="0" err="1"/>
              <a:t>attesa</a:t>
            </a:r>
            <a:r>
              <a:rPr dirty="0"/>
              <a:t>. Se </a:t>
            </a:r>
            <a:r>
              <a:rPr dirty="0" err="1"/>
              <a:t>perfetta</a:t>
            </a:r>
            <a:r>
              <a:rPr dirty="0"/>
              <a:t>, il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consegnato</a:t>
            </a:r>
            <a:r>
              <a:rPr dirty="0"/>
              <a:t> </a:t>
            </a:r>
            <a:r>
              <a:rPr dirty="0" err="1"/>
              <a:t>immediatamente</a:t>
            </a:r>
            <a:r>
              <a:rPr dirty="0"/>
              <a:t> e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tenta</a:t>
            </a:r>
            <a:r>
              <a:rPr dirty="0"/>
              <a:t> di </a:t>
            </a:r>
            <a:r>
              <a:rPr dirty="0" err="1"/>
              <a:t>svuotare</a:t>
            </a:r>
            <a:r>
              <a:rPr dirty="0"/>
              <a:t> il buffer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</a:t>
            </a:r>
            <a:r>
              <a:rPr dirty="0" err="1"/>
              <a:t>futuri</a:t>
            </a:r>
            <a:r>
              <a:rPr dirty="0"/>
              <a:t>. Se la </a:t>
            </a:r>
            <a:r>
              <a:rPr dirty="0" err="1"/>
              <a:t>sequenza</a:t>
            </a:r>
            <a:r>
              <a:rPr dirty="0"/>
              <a:t> è </a:t>
            </a:r>
            <a:r>
              <a:rPr dirty="0" err="1"/>
              <a:t>superiore</a:t>
            </a:r>
            <a:r>
              <a:rPr dirty="0"/>
              <a:t> </a:t>
            </a:r>
            <a:r>
              <a:rPr dirty="0" err="1"/>
              <a:t>all'attesa</a:t>
            </a:r>
            <a:r>
              <a:rPr dirty="0"/>
              <a:t>, </a:t>
            </a:r>
            <a:r>
              <a:rPr dirty="0" err="1"/>
              <a:t>significa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c'è</a:t>
            </a:r>
            <a:r>
              <a:rPr dirty="0"/>
              <a:t> un gap: il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bufferizzato</a:t>
            </a:r>
            <a:r>
              <a:rPr dirty="0"/>
              <a:t> in un </a:t>
            </a:r>
            <a:r>
              <a:rPr dirty="0" err="1"/>
              <a:t>BTreeMap</a:t>
            </a:r>
            <a:r>
              <a:rPr dirty="0"/>
              <a:t> </a:t>
            </a:r>
            <a:r>
              <a:rPr dirty="0" err="1"/>
              <a:t>ordinato</a:t>
            </a:r>
            <a:r>
              <a:rPr dirty="0"/>
              <a:t> per </a:t>
            </a:r>
            <a:r>
              <a:rPr dirty="0" err="1"/>
              <a:t>sequenza</a:t>
            </a:r>
            <a:r>
              <a:rPr dirty="0"/>
              <a:t> e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richiesta</a:t>
            </a:r>
            <a:r>
              <a:rPr dirty="0"/>
              <a:t> al server per </a:t>
            </a:r>
            <a:r>
              <a:rPr dirty="0" err="1"/>
              <a:t>recuperare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mancanti</a:t>
            </a:r>
            <a:r>
              <a:rPr dirty="0"/>
              <a:t>. Quando </a:t>
            </a:r>
            <a:r>
              <a:rPr dirty="0" err="1"/>
              <a:t>arrivano</a:t>
            </a:r>
            <a:r>
              <a:rPr dirty="0"/>
              <a:t>, </a:t>
            </a:r>
            <a:r>
              <a:rPr dirty="0" err="1"/>
              <a:t>flush_consecutive</a:t>
            </a:r>
            <a:r>
              <a:rPr dirty="0"/>
              <a:t> </a:t>
            </a:r>
            <a:r>
              <a:rPr dirty="0" err="1"/>
              <a:t>estrae</a:t>
            </a:r>
            <a:r>
              <a:rPr dirty="0"/>
              <a:t> dal buffer tutti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</a:t>
            </a:r>
            <a:r>
              <a:rPr dirty="0" err="1"/>
              <a:t>consecutivi</a:t>
            </a:r>
            <a:r>
              <a:rPr dirty="0"/>
              <a:t> </a:t>
            </a:r>
            <a:r>
              <a:rPr dirty="0" err="1"/>
              <a:t>partendo</a:t>
            </a:r>
            <a:r>
              <a:rPr dirty="0"/>
              <a:t> </a:t>
            </a:r>
            <a:r>
              <a:rPr dirty="0" err="1"/>
              <a:t>dall'expected</a:t>
            </a:r>
            <a:r>
              <a:rPr dirty="0"/>
              <a:t>, </a:t>
            </a:r>
            <a:r>
              <a:rPr dirty="0" err="1"/>
              <a:t>garantendo</a:t>
            </a:r>
            <a:r>
              <a:rPr dirty="0"/>
              <a:t> </a:t>
            </a:r>
            <a:r>
              <a:rPr dirty="0" err="1"/>
              <a:t>l'ordine</a:t>
            </a:r>
            <a:r>
              <a:rPr dirty="0"/>
              <a:t>.</a:t>
            </a:r>
          </a:p>
        </p:txBody>
      </p:sp>
      <p:pic>
        <p:nvPicPr>
          <p:cNvPr id="27" name="Immagine 26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641CB90A-F8B2-88AA-0B11-95735C660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71" y="996671"/>
            <a:ext cx="2770838" cy="33186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6842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Optimistic UI con Confirmations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Immediate UI + Deduplication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L'UI è </a:t>
            </a:r>
            <a:r>
              <a:rPr dirty="0" err="1"/>
              <a:t>ottimistica</a:t>
            </a:r>
            <a:r>
              <a:rPr dirty="0"/>
              <a:t>: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l'utente</a:t>
            </a:r>
            <a:r>
              <a:rPr dirty="0"/>
              <a:t> </a:t>
            </a:r>
            <a:r>
              <a:rPr dirty="0" err="1"/>
              <a:t>invia</a:t>
            </a:r>
            <a:r>
              <a:rPr dirty="0"/>
              <a:t> un </a:t>
            </a:r>
            <a:r>
              <a:rPr dirty="0" err="1"/>
              <a:t>messaggio</a:t>
            </a:r>
            <a:r>
              <a:rPr dirty="0"/>
              <a:t>, </a:t>
            </a:r>
            <a:r>
              <a:rPr dirty="0" err="1"/>
              <a:t>appare</a:t>
            </a:r>
            <a:r>
              <a:rPr dirty="0"/>
              <a:t> </a:t>
            </a:r>
            <a:r>
              <a:rPr dirty="0" err="1"/>
              <a:t>immediatamente</a:t>
            </a:r>
            <a:r>
              <a:rPr dirty="0"/>
              <a:t> </a:t>
            </a:r>
            <a:r>
              <a:rPr dirty="0" err="1"/>
              <a:t>nell'interfaccia</a:t>
            </a:r>
            <a:r>
              <a:rPr dirty="0"/>
              <a:t> con </a:t>
            </a:r>
            <a:r>
              <a:rPr dirty="0" err="1"/>
              <a:t>stato</a:t>
            </a:r>
            <a:r>
              <a:rPr dirty="0"/>
              <a:t> "Pending" prima </a:t>
            </a:r>
            <a:r>
              <a:rPr dirty="0" err="1"/>
              <a:t>ancora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il server </a:t>
            </a:r>
            <a:r>
              <a:rPr dirty="0" err="1"/>
              <a:t>risponda</a:t>
            </a:r>
            <a:r>
              <a:rPr dirty="0"/>
              <a:t>. Il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riceve</a:t>
            </a:r>
            <a:r>
              <a:rPr dirty="0"/>
              <a:t> un </a:t>
            </a:r>
            <a:r>
              <a:rPr dirty="0" err="1"/>
              <a:t>client_msg_id</a:t>
            </a:r>
            <a:r>
              <a:rPr dirty="0"/>
              <a:t> </a:t>
            </a:r>
            <a:r>
              <a:rPr dirty="0" err="1"/>
              <a:t>temporaneo</a:t>
            </a:r>
            <a:r>
              <a:rPr dirty="0"/>
              <a:t> </a:t>
            </a:r>
            <a:r>
              <a:rPr dirty="0" err="1"/>
              <a:t>generato</a:t>
            </a:r>
            <a:r>
              <a:rPr dirty="0"/>
              <a:t> </a:t>
            </a:r>
            <a:r>
              <a:rPr dirty="0" err="1"/>
              <a:t>localmente</a:t>
            </a:r>
            <a:r>
              <a:rPr dirty="0"/>
              <a:t> e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tracciato</a:t>
            </a:r>
            <a:r>
              <a:rPr dirty="0"/>
              <a:t> in </a:t>
            </a:r>
            <a:r>
              <a:rPr dirty="0" err="1"/>
              <a:t>pending_confirmations</a:t>
            </a:r>
            <a:r>
              <a:rPr dirty="0"/>
              <a:t>. Quando </a:t>
            </a:r>
            <a:r>
              <a:rPr dirty="0" err="1"/>
              <a:t>arriva</a:t>
            </a:r>
            <a:r>
              <a:rPr dirty="0"/>
              <a:t> la </a:t>
            </a:r>
            <a:r>
              <a:rPr dirty="0" err="1"/>
              <a:t>conferma</a:t>
            </a:r>
            <a:r>
              <a:rPr dirty="0"/>
              <a:t> dal server, il </a:t>
            </a:r>
            <a:r>
              <a:rPr dirty="0" err="1"/>
              <a:t>sistema</a:t>
            </a:r>
            <a:r>
              <a:rPr dirty="0"/>
              <a:t> fa lookup </a:t>
            </a:r>
            <a:r>
              <a:rPr dirty="0" err="1"/>
              <a:t>tramite</a:t>
            </a:r>
            <a:r>
              <a:rPr dirty="0"/>
              <a:t> </a:t>
            </a:r>
            <a:r>
              <a:rPr dirty="0" err="1"/>
              <a:t>client_msg_id</a:t>
            </a:r>
            <a:r>
              <a:rPr dirty="0"/>
              <a:t>, </a:t>
            </a:r>
            <a:r>
              <a:rPr dirty="0" err="1"/>
              <a:t>aggiorna</a:t>
            </a:r>
            <a:r>
              <a:rPr dirty="0"/>
              <a:t> lo status a "Confirmed" e </a:t>
            </a:r>
            <a:r>
              <a:rPr dirty="0" err="1"/>
              <a:t>associa</a:t>
            </a:r>
            <a:r>
              <a:rPr dirty="0"/>
              <a:t> </a:t>
            </a:r>
            <a:r>
              <a:rPr dirty="0" err="1"/>
              <a:t>l'ID</a:t>
            </a:r>
            <a:r>
              <a:rPr dirty="0"/>
              <a:t> server. Se lo </a:t>
            </a:r>
            <a:r>
              <a:rPr dirty="0" err="1"/>
              <a:t>stesso</a:t>
            </a:r>
            <a:r>
              <a:rPr dirty="0"/>
              <a:t>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arriva</a:t>
            </a:r>
            <a:r>
              <a:rPr dirty="0"/>
              <a:t> poi via broadcast (</a:t>
            </a:r>
            <a:r>
              <a:rPr dirty="0" err="1"/>
              <a:t>perché</a:t>
            </a:r>
            <a:r>
              <a:rPr dirty="0"/>
              <a:t> il sender è </a:t>
            </a:r>
            <a:r>
              <a:rPr dirty="0" err="1"/>
              <a:t>anche</a:t>
            </a:r>
            <a:r>
              <a:rPr dirty="0"/>
              <a:t> receiver), </a:t>
            </a:r>
            <a:r>
              <a:rPr dirty="0" err="1"/>
              <a:t>viene</a:t>
            </a:r>
            <a:r>
              <a:rPr dirty="0"/>
              <a:t> deduplicate </a:t>
            </a:r>
            <a:r>
              <a:rPr dirty="0" err="1"/>
              <a:t>controllando</a:t>
            </a:r>
            <a:r>
              <a:rPr dirty="0"/>
              <a:t> il </a:t>
            </a:r>
            <a:r>
              <a:rPr dirty="0" err="1"/>
              <a:t>client_msg_id</a:t>
            </a:r>
            <a:r>
              <a:rPr dirty="0"/>
              <a:t> per </a:t>
            </a:r>
            <a:r>
              <a:rPr dirty="0" err="1"/>
              <a:t>evitare</a:t>
            </a:r>
            <a:r>
              <a:rPr dirty="0"/>
              <a:t> </a:t>
            </a:r>
            <a:r>
              <a:rPr dirty="0" err="1"/>
              <a:t>duplicati</a:t>
            </a:r>
            <a:r>
              <a:rPr dirty="0"/>
              <a:t> in UI.</a:t>
            </a:r>
          </a:p>
        </p:txBody>
      </p:sp>
      <p:pic>
        <p:nvPicPr>
          <p:cNvPr id="26" name="Immagine 25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138C3FED-8820-EA6C-D99D-3BA34B868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379" y="953588"/>
            <a:ext cx="2950567" cy="357097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815130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ConnectionManager - Lifecycle &amp; Backoff</a:t>
            </a:r>
            <a:endParaRPr lang="en-US" sz="2550" dirty="0"/>
          </a:p>
        </p:txBody>
      </p:sp>
      <p:sp>
        <p:nvSpPr>
          <p:cNvPr id="29" name="Text 27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State Machine + Exponential Backoff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La </a:t>
            </a:r>
            <a:r>
              <a:rPr dirty="0" err="1"/>
              <a:t>gestione</a:t>
            </a:r>
            <a:r>
              <a:rPr dirty="0"/>
              <a:t> delle </a:t>
            </a:r>
            <a:r>
              <a:rPr dirty="0" err="1"/>
              <a:t>connessioni</a:t>
            </a:r>
            <a:r>
              <a:rPr dirty="0"/>
              <a:t> </a:t>
            </a:r>
            <a:r>
              <a:rPr dirty="0" err="1"/>
              <a:t>usa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state machine con backoff </a:t>
            </a:r>
            <a:r>
              <a:rPr dirty="0" err="1"/>
              <a:t>esponenziale</a:t>
            </a:r>
            <a:r>
              <a:rPr dirty="0"/>
              <a:t>. </a:t>
            </a:r>
            <a:r>
              <a:rPr dirty="0" err="1"/>
              <a:t>Gli</a:t>
            </a:r>
            <a:r>
              <a:rPr dirty="0"/>
              <a:t> </a:t>
            </a:r>
            <a:r>
              <a:rPr dirty="0" err="1"/>
              <a:t>stati</a:t>
            </a:r>
            <a:r>
              <a:rPr dirty="0"/>
              <a:t> </a:t>
            </a:r>
            <a:r>
              <a:rPr dirty="0" err="1"/>
              <a:t>sono</a:t>
            </a:r>
            <a:r>
              <a:rPr dirty="0"/>
              <a:t> Disconnected, Connecting e Connected. Quando la </a:t>
            </a:r>
            <a:r>
              <a:rPr dirty="0" err="1"/>
              <a:t>connessione</a:t>
            </a:r>
            <a:r>
              <a:rPr dirty="0"/>
              <a:t> </a:t>
            </a:r>
            <a:r>
              <a:rPr dirty="0" err="1"/>
              <a:t>fallisce</a:t>
            </a:r>
            <a:r>
              <a:rPr dirty="0"/>
              <a:t>, il </a:t>
            </a:r>
            <a:r>
              <a:rPr dirty="0" err="1"/>
              <a:t>sistema</a:t>
            </a:r>
            <a:r>
              <a:rPr dirty="0"/>
              <a:t> </a:t>
            </a:r>
            <a:r>
              <a:rPr dirty="0" err="1"/>
              <a:t>aspetta</a:t>
            </a:r>
            <a:r>
              <a:rPr dirty="0"/>
              <a:t> </a:t>
            </a:r>
            <a:r>
              <a:rPr dirty="0" err="1"/>
              <a:t>progressivamente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tempo prima di </a:t>
            </a:r>
            <a:r>
              <a:rPr dirty="0" err="1"/>
              <a:t>riprovare</a:t>
            </a:r>
            <a:r>
              <a:rPr dirty="0"/>
              <a:t>: 1 secondo, poi 2, 5, 10 e 15 secondi. Al </a:t>
            </a:r>
            <a:r>
              <a:rPr dirty="0" err="1"/>
              <a:t>sesto</a:t>
            </a:r>
            <a:r>
              <a:rPr dirty="0"/>
              <a:t> </a:t>
            </a:r>
            <a:r>
              <a:rPr dirty="0" err="1"/>
              <a:t>tentativo</a:t>
            </a:r>
            <a:r>
              <a:rPr dirty="0"/>
              <a:t> </a:t>
            </a:r>
            <a:r>
              <a:rPr dirty="0" err="1"/>
              <a:t>consecutivo</a:t>
            </a:r>
            <a:r>
              <a:rPr dirty="0"/>
              <a:t> </a:t>
            </a:r>
            <a:r>
              <a:rPr dirty="0" err="1"/>
              <a:t>fallito</a:t>
            </a:r>
            <a:r>
              <a:rPr dirty="0"/>
              <a:t>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forzato</a:t>
            </a:r>
            <a:r>
              <a:rPr dirty="0"/>
              <a:t> il logout per </a:t>
            </a:r>
            <a:r>
              <a:rPr dirty="0" err="1"/>
              <a:t>evitare</a:t>
            </a:r>
            <a:r>
              <a:rPr dirty="0"/>
              <a:t> loop </a:t>
            </a:r>
            <a:r>
              <a:rPr dirty="0" err="1"/>
              <a:t>infiniti</a:t>
            </a:r>
            <a:r>
              <a:rPr dirty="0"/>
              <a:t>. Il flag </a:t>
            </a:r>
            <a:r>
              <a:rPr dirty="0" err="1"/>
              <a:t>is_connecting_in_progress</a:t>
            </a:r>
            <a:r>
              <a:rPr dirty="0"/>
              <a:t> </a:t>
            </a:r>
            <a:r>
              <a:rPr dirty="0" err="1"/>
              <a:t>previene</a:t>
            </a:r>
            <a:r>
              <a:rPr dirty="0"/>
              <a:t> </a:t>
            </a:r>
            <a:r>
              <a:rPr dirty="0" err="1"/>
              <a:t>tentativi</a:t>
            </a:r>
            <a:r>
              <a:rPr dirty="0"/>
              <a:t> </a:t>
            </a:r>
            <a:r>
              <a:rPr dirty="0" err="1"/>
              <a:t>multipli</a:t>
            </a:r>
            <a:r>
              <a:rPr dirty="0"/>
              <a:t> </a:t>
            </a:r>
            <a:r>
              <a:rPr dirty="0" err="1"/>
              <a:t>simultanei</a:t>
            </a:r>
            <a:r>
              <a:rPr dirty="0"/>
              <a:t>, </a:t>
            </a:r>
            <a:r>
              <a:rPr dirty="0" err="1"/>
              <a:t>mentre</a:t>
            </a:r>
            <a:r>
              <a:rPr dirty="0"/>
              <a:t> </a:t>
            </a:r>
            <a:r>
              <a:rPr dirty="0" err="1"/>
              <a:t>connection_attempt_start</a:t>
            </a:r>
            <a:r>
              <a:rPr dirty="0"/>
              <a:t> </a:t>
            </a:r>
            <a:r>
              <a:rPr dirty="0" err="1"/>
              <a:t>implementa</a:t>
            </a:r>
            <a:r>
              <a:rPr dirty="0"/>
              <a:t> un timeout di 30 secondi </a:t>
            </a:r>
            <a:r>
              <a:rPr dirty="0" err="1"/>
              <a:t>sulla</a:t>
            </a:r>
            <a:r>
              <a:rPr dirty="0"/>
              <a:t> </a:t>
            </a:r>
            <a:r>
              <a:rPr dirty="0" err="1"/>
              <a:t>fase</a:t>
            </a:r>
            <a:r>
              <a:rPr dirty="0"/>
              <a:t> di connecting.</a:t>
            </a:r>
          </a:p>
        </p:txBody>
      </p:sp>
      <p:pic>
        <p:nvPicPr>
          <p:cNvPr id="28" name="Immagine 27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DCA47F67-1480-1718-97F2-00E2956F7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913" y="768202"/>
            <a:ext cx="3176728" cy="39327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597503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Monitoring: CPU Logger - Architettura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Background Task - 120s Interval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CPU logger è un task background Tokio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monitora</a:t>
            </a:r>
            <a:r>
              <a:rPr dirty="0"/>
              <a:t> le </a:t>
            </a:r>
            <a:r>
              <a:rPr dirty="0" err="1"/>
              <a:t>risorse</a:t>
            </a:r>
            <a:r>
              <a:rPr dirty="0"/>
              <a:t> del </a:t>
            </a:r>
            <a:r>
              <a:rPr dirty="0" err="1"/>
              <a:t>processo</a:t>
            </a:r>
            <a:r>
              <a:rPr dirty="0"/>
              <a:t> server ogni 2 </a:t>
            </a:r>
            <a:r>
              <a:rPr dirty="0" err="1"/>
              <a:t>minuti</a:t>
            </a:r>
            <a:r>
              <a:rPr dirty="0"/>
              <a:t>. Usa la crate </a:t>
            </a:r>
            <a:r>
              <a:rPr dirty="0" err="1"/>
              <a:t>sysinfo</a:t>
            </a:r>
            <a:r>
              <a:rPr dirty="0"/>
              <a:t> per </a:t>
            </a:r>
            <a:r>
              <a:rPr dirty="0" err="1"/>
              <a:t>interrogare</a:t>
            </a:r>
            <a:r>
              <a:rPr dirty="0"/>
              <a:t> il </a:t>
            </a:r>
            <a:r>
              <a:rPr dirty="0" err="1"/>
              <a:t>sistema</a:t>
            </a:r>
            <a:r>
              <a:rPr dirty="0"/>
              <a:t> </a:t>
            </a:r>
            <a:r>
              <a:rPr dirty="0" err="1"/>
              <a:t>operativo</a:t>
            </a:r>
            <a:r>
              <a:rPr dirty="0"/>
              <a:t> e </a:t>
            </a:r>
            <a:r>
              <a:rPr dirty="0" err="1"/>
              <a:t>ottenere</a:t>
            </a:r>
            <a:r>
              <a:rPr dirty="0"/>
              <a:t> CPU usage e memoria </a:t>
            </a:r>
            <a:r>
              <a:rPr dirty="0" err="1"/>
              <a:t>residente</a:t>
            </a:r>
            <a:r>
              <a:rPr dirty="0"/>
              <a:t>. La CPU </a:t>
            </a:r>
            <a:r>
              <a:rPr dirty="0" err="1"/>
              <a:t>viene</a:t>
            </a:r>
            <a:r>
              <a:rPr lang="it-IT" dirty="0"/>
              <a:t> </a:t>
            </a:r>
            <a:r>
              <a:rPr dirty="0" err="1"/>
              <a:t>normalizzata</a:t>
            </a:r>
            <a:r>
              <a:rPr dirty="0"/>
              <a:t> </a:t>
            </a:r>
            <a:r>
              <a:rPr dirty="0" err="1"/>
              <a:t>dividendo</a:t>
            </a:r>
            <a:r>
              <a:rPr dirty="0"/>
              <a:t> per il </a:t>
            </a:r>
            <a:r>
              <a:rPr dirty="0" err="1"/>
              <a:t>numero</a:t>
            </a:r>
            <a:r>
              <a:rPr dirty="0"/>
              <a:t> di core </a:t>
            </a:r>
            <a:r>
              <a:rPr dirty="0" err="1"/>
              <a:t>disponibili</a:t>
            </a:r>
            <a:r>
              <a:rPr dirty="0"/>
              <a:t>, </a:t>
            </a:r>
            <a:r>
              <a:rPr dirty="0" err="1"/>
              <a:t>così</a:t>
            </a:r>
            <a:r>
              <a:rPr dirty="0"/>
              <a:t> la </a:t>
            </a:r>
            <a:r>
              <a:rPr dirty="0" err="1"/>
              <a:t>percentuale</a:t>
            </a:r>
            <a:r>
              <a:rPr dirty="0"/>
              <a:t> è </a:t>
            </a:r>
            <a:r>
              <a:rPr dirty="0" err="1"/>
              <a:t>comparabile</a:t>
            </a:r>
            <a:r>
              <a:rPr dirty="0"/>
              <a:t>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sistemi</a:t>
            </a:r>
            <a:r>
              <a:rPr dirty="0"/>
              <a:t> </a:t>
            </a:r>
            <a:r>
              <a:rPr dirty="0" err="1"/>
              <a:t>diversi</a:t>
            </a:r>
            <a:r>
              <a:rPr dirty="0"/>
              <a:t>. La memoria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convertita</a:t>
            </a:r>
            <a:r>
              <a:rPr dirty="0"/>
              <a:t> da bytes a megabytes per </a:t>
            </a:r>
            <a:r>
              <a:rPr dirty="0" err="1"/>
              <a:t>leggibilità</a:t>
            </a:r>
            <a:r>
              <a:rPr dirty="0"/>
              <a:t>. I </a:t>
            </a:r>
            <a:r>
              <a:rPr dirty="0" err="1"/>
              <a:t>dati</a:t>
            </a:r>
            <a:r>
              <a:rPr dirty="0"/>
              <a:t> </a:t>
            </a:r>
            <a:r>
              <a:rPr dirty="0" err="1"/>
              <a:t>vengono</a:t>
            </a:r>
            <a:r>
              <a:rPr dirty="0"/>
              <a:t> </a:t>
            </a:r>
            <a:r>
              <a:rPr dirty="0" err="1"/>
              <a:t>scritti</a:t>
            </a:r>
            <a:r>
              <a:rPr dirty="0"/>
              <a:t> in append </a:t>
            </a:r>
            <a:r>
              <a:rPr dirty="0" err="1"/>
              <a:t>su</a:t>
            </a:r>
            <a:r>
              <a:rPr dirty="0"/>
              <a:t> server_cpu.log con timestamp UTC, </a:t>
            </a:r>
            <a:r>
              <a:rPr dirty="0" err="1"/>
              <a:t>permettendo</a:t>
            </a:r>
            <a:r>
              <a:rPr dirty="0"/>
              <a:t> di </a:t>
            </a:r>
            <a:r>
              <a:rPr dirty="0" err="1"/>
              <a:t>tracciare</a:t>
            </a:r>
            <a:r>
              <a:rPr dirty="0"/>
              <a:t> </a:t>
            </a:r>
            <a:r>
              <a:rPr dirty="0" err="1"/>
              <a:t>l'andamento</a:t>
            </a:r>
            <a:r>
              <a:rPr dirty="0"/>
              <a:t> </a:t>
            </a:r>
            <a:r>
              <a:rPr dirty="0" err="1"/>
              <a:t>nel</a:t>
            </a:r>
            <a:r>
              <a:rPr dirty="0"/>
              <a:t> tempo.</a:t>
            </a:r>
          </a:p>
        </p:txBody>
      </p:sp>
      <p:pic>
        <p:nvPicPr>
          <p:cNvPr id="27" name="Immagine 26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0578BD53-7F86-F136-F544-F61025C84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84" y="1244292"/>
            <a:ext cx="2778136" cy="287467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94658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Monitoring: CPU Logger - Metriche Raccolte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CPU + Memory con Timestamp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 log </a:t>
            </a:r>
            <a:r>
              <a:rPr dirty="0" err="1"/>
              <a:t>mostrano</a:t>
            </a:r>
            <a:r>
              <a:rPr dirty="0"/>
              <a:t> pattern </a:t>
            </a:r>
            <a:r>
              <a:rPr dirty="0" err="1"/>
              <a:t>interessanti</a:t>
            </a:r>
            <a:r>
              <a:rPr dirty="0"/>
              <a:t>: </a:t>
            </a:r>
            <a:r>
              <a:rPr dirty="0" err="1"/>
              <a:t>quando</a:t>
            </a:r>
            <a:r>
              <a:rPr dirty="0"/>
              <a:t> il server è idle la CPU è </a:t>
            </a:r>
            <a:r>
              <a:rPr dirty="0" err="1"/>
              <a:t>praticamente</a:t>
            </a:r>
            <a:r>
              <a:rPr dirty="0"/>
              <a:t> zero, </a:t>
            </a:r>
            <a:r>
              <a:rPr dirty="0" err="1"/>
              <a:t>durante</a:t>
            </a:r>
            <a:r>
              <a:rPr dirty="0"/>
              <a:t> lo startup sale al 3-12% per </a:t>
            </a:r>
            <a:r>
              <a:rPr dirty="0" err="1"/>
              <a:t>inizializzare</a:t>
            </a:r>
            <a:r>
              <a:rPr dirty="0"/>
              <a:t> le </a:t>
            </a:r>
            <a:r>
              <a:rPr dirty="0" err="1"/>
              <a:t>strutture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, e sotto </a:t>
            </a:r>
            <a:r>
              <a:rPr dirty="0" err="1"/>
              <a:t>carico</a:t>
            </a:r>
            <a:r>
              <a:rPr dirty="0"/>
              <a:t> </a:t>
            </a:r>
            <a:r>
              <a:rPr dirty="0" err="1"/>
              <a:t>normale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assesta</a:t>
            </a:r>
            <a:r>
              <a:rPr dirty="0"/>
              <a:t> </a:t>
            </a:r>
            <a:r>
              <a:rPr dirty="0" err="1"/>
              <a:t>intorno</a:t>
            </a:r>
            <a:r>
              <a:rPr dirty="0"/>
              <a:t> all'1-2%. La memoria ha un baseline di circa 35 MB in </a:t>
            </a:r>
            <a:r>
              <a:rPr dirty="0" err="1"/>
              <a:t>stato</a:t>
            </a:r>
            <a:r>
              <a:rPr dirty="0"/>
              <a:t> stabile, con </a:t>
            </a:r>
            <a:r>
              <a:rPr dirty="0" err="1"/>
              <a:t>picchi</a:t>
            </a:r>
            <a:r>
              <a:rPr dirty="0"/>
              <a:t> </a:t>
            </a:r>
            <a:r>
              <a:rPr dirty="0" err="1"/>
              <a:t>fino</a:t>
            </a:r>
            <a:r>
              <a:rPr dirty="0"/>
              <a:t> a 95 MB </a:t>
            </a:r>
            <a:r>
              <a:rPr dirty="0" err="1"/>
              <a:t>durante</a:t>
            </a:r>
            <a:r>
              <a:rPr dirty="0"/>
              <a:t> </a:t>
            </a:r>
            <a:r>
              <a:rPr dirty="0" err="1"/>
              <a:t>caricamenti</a:t>
            </a:r>
            <a:r>
              <a:rPr dirty="0"/>
              <a:t> di </a:t>
            </a:r>
            <a:r>
              <a:rPr dirty="0" err="1"/>
              <a:t>dati</a:t>
            </a:r>
            <a:r>
              <a:rPr dirty="0"/>
              <a:t> </a:t>
            </a:r>
            <a:r>
              <a:rPr dirty="0" err="1"/>
              <a:t>intensivi</a:t>
            </a:r>
            <a:r>
              <a:rPr dirty="0"/>
              <a:t>. Non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vedono</a:t>
            </a:r>
            <a:r>
              <a:rPr dirty="0"/>
              <a:t> memory leak: la memoria </a:t>
            </a:r>
            <a:r>
              <a:rPr dirty="0" err="1"/>
              <a:t>rimane</a:t>
            </a:r>
            <a:r>
              <a:rPr dirty="0"/>
              <a:t> stabile per ore </a:t>
            </a:r>
            <a:r>
              <a:rPr dirty="0" err="1"/>
              <a:t>quando</a:t>
            </a:r>
            <a:r>
              <a:rPr dirty="0"/>
              <a:t> non </a:t>
            </a:r>
            <a:r>
              <a:rPr dirty="0" err="1"/>
              <a:t>c'è</a:t>
            </a:r>
            <a:r>
              <a:rPr dirty="0"/>
              <a:t> </a:t>
            </a:r>
            <a:r>
              <a:rPr dirty="0" err="1"/>
              <a:t>attività</a:t>
            </a:r>
            <a:r>
              <a:rPr dirty="0"/>
              <a:t>. La formula per la CPU divide </a:t>
            </a:r>
            <a:r>
              <a:rPr dirty="0" err="1"/>
              <a:t>l'usage</a:t>
            </a:r>
            <a:r>
              <a:rPr dirty="0"/>
              <a:t> del </a:t>
            </a:r>
            <a:r>
              <a:rPr dirty="0" err="1"/>
              <a:t>processo</a:t>
            </a:r>
            <a:r>
              <a:rPr dirty="0"/>
              <a:t> per il </a:t>
            </a:r>
            <a:r>
              <a:rPr dirty="0" err="1"/>
              <a:t>numero</a:t>
            </a:r>
            <a:r>
              <a:rPr dirty="0"/>
              <a:t> di core, </a:t>
            </a:r>
            <a:r>
              <a:rPr dirty="0" err="1"/>
              <a:t>quindi</a:t>
            </a:r>
            <a:r>
              <a:rPr dirty="0"/>
              <a:t> 1.33% </a:t>
            </a:r>
            <a:r>
              <a:rPr dirty="0" err="1"/>
              <a:t>su</a:t>
            </a:r>
            <a:r>
              <a:rPr dirty="0"/>
              <a:t> un </a:t>
            </a:r>
            <a:r>
              <a:rPr dirty="0" err="1"/>
              <a:t>sistema</a:t>
            </a:r>
            <a:r>
              <a:rPr dirty="0"/>
              <a:t> a 8 core equivale a circa 10% di </a:t>
            </a:r>
            <a:r>
              <a:rPr dirty="0" err="1"/>
              <a:t>utilizzo</a:t>
            </a:r>
            <a:r>
              <a:rPr dirty="0"/>
              <a:t> di un </a:t>
            </a:r>
            <a:r>
              <a:rPr dirty="0" err="1"/>
              <a:t>singolo</a:t>
            </a:r>
            <a:r>
              <a:rPr dirty="0"/>
              <a:t> core.</a:t>
            </a:r>
          </a:p>
        </p:txBody>
      </p:sp>
      <p:pic>
        <p:nvPicPr>
          <p:cNvPr id="19" name="Immagine 18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74A4F16A-1EF7-541B-1801-19DC3D81E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990" y="1410789"/>
            <a:ext cx="3231516" cy="251102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704373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Problema 1: Message Broadcast Write Storm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4667250" y="2290911"/>
            <a:ext cx="4095750" cy="531316"/>
          </a:xfrm>
          <a:prstGeom prst="roundRect">
            <a:avLst>
              <a:gd name="adj" fmla="val 10756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Batch Threshold + Dynamic VALUES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Quando un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inviato</a:t>
            </a:r>
            <a:r>
              <a:rPr dirty="0"/>
              <a:t> a 1000 </a:t>
            </a:r>
            <a:r>
              <a:rPr dirty="0" err="1"/>
              <a:t>utenti</a:t>
            </a:r>
            <a:r>
              <a:rPr dirty="0"/>
              <a:t>, </a:t>
            </a:r>
            <a:r>
              <a:rPr dirty="0" err="1"/>
              <a:t>l'approccio</a:t>
            </a:r>
            <a:r>
              <a:rPr dirty="0"/>
              <a:t> naif </a:t>
            </a:r>
            <a:r>
              <a:rPr dirty="0" err="1"/>
              <a:t>farebbe</a:t>
            </a:r>
            <a:r>
              <a:rPr dirty="0"/>
              <a:t> 1 INSERT per il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1000 INSERT in </a:t>
            </a:r>
            <a:r>
              <a:rPr dirty="0" err="1"/>
              <a:t>user_events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1000 UPDATE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user_sequences</a:t>
            </a:r>
            <a:r>
              <a:rPr dirty="0"/>
              <a:t>: </a:t>
            </a:r>
            <a:r>
              <a:rPr dirty="0" err="1"/>
              <a:t>oltre</a:t>
            </a:r>
            <a:r>
              <a:rPr dirty="0"/>
              <a:t> 2000 </a:t>
            </a:r>
            <a:r>
              <a:rPr dirty="0" err="1"/>
              <a:t>operazioni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causano</a:t>
            </a:r>
            <a:r>
              <a:rPr dirty="0"/>
              <a:t> timeout. La </a:t>
            </a:r>
            <a:r>
              <a:rPr dirty="0" err="1"/>
              <a:t>soluzione</a:t>
            </a:r>
            <a:r>
              <a:rPr dirty="0"/>
              <a:t> </a:t>
            </a:r>
            <a:r>
              <a:rPr dirty="0" err="1"/>
              <a:t>usa</a:t>
            </a:r>
            <a:r>
              <a:rPr dirty="0"/>
              <a:t> un threshold </a:t>
            </a:r>
            <a:r>
              <a:rPr dirty="0" err="1"/>
              <a:t>intelligente</a:t>
            </a:r>
            <a:r>
              <a:rPr dirty="0"/>
              <a:t>: sotto 10 </a:t>
            </a:r>
            <a:r>
              <a:rPr dirty="0" err="1"/>
              <a:t>utenti</a:t>
            </a:r>
            <a:r>
              <a:rPr dirty="0"/>
              <a:t> </a:t>
            </a:r>
            <a:r>
              <a:rPr dirty="0" err="1"/>
              <a:t>conviene</a:t>
            </a:r>
            <a:r>
              <a:rPr dirty="0"/>
              <a:t> fare un loop </a:t>
            </a:r>
            <a:r>
              <a:rPr dirty="0" err="1"/>
              <a:t>perché</a:t>
            </a:r>
            <a:r>
              <a:rPr dirty="0"/>
              <a:t> </a:t>
            </a:r>
            <a:r>
              <a:rPr dirty="0" err="1"/>
              <a:t>l'overhead</a:t>
            </a:r>
            <a:r>
              <a:rPr dirty="0"/>
              <a:t> del batch non è </a:t>
            </a:r>
            <a:r>
              <a:rPr dirty="0" err="1"/>
              <a:t>giustificato</a:t>
            </a:r>
            <a:r>
              <a:rPr dirty="0"/>
              <a:t>, sopra 10 il batch </a:t>
            </a:r>
            <a:r>
              <a:rPr dirty="0" err="1"/>
              <a:t>diventa</a:t>
            </a:r>
            <a:r>
              <a:rPr dirty="0"/>
              <a:t> </a:t>
            </a:r>
            <a:r>
              <a:rPr dirty="0" err="1"/>
              <a:t>fondamentale</a:t>
            </a:r>
            <a:r>
              <a:rPr dirty="0"/>
              <a:t>. Il batch </a:t>
            </a:r>
            <a:r>
              <a:rPr dirty="0" err="1"/>
              <a:t>costruisce</a:t>
            </a:r>
            <a:r>
              <a:rPr dirty="0"/>
              <a:t> </a:t>
            </a:r>
            <a:r>
              <a:rPr dirty="0" err="1"/>
              <a:t>dinamicamente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query con VALUES </a:t>
            </a:r>
            <a:r>
              <a:rPr dirty="0" err="1"/>
              <a:t>multipli</a:t>
            </a:r>
            <a:r>
              <a:rPr dirty="0"/>
              <a:t> </a:t>
            </a:r>
            <a:r>
              <a:rPr dirty="0" err="1"/>
              <a:t>concatenati</a:t>
            </a:r>
            <a:r>
              <a:rPr dirty="0"/>
              <a:t>, </a:t>
            </a:r>
            <a:r>
              <a:rPr dirty="0" err="1"/>
              <a:t>trasformando</a:t>
            </a:r>
            <a:r>
              <a:rPr dirty="0"/>
              <a:t> 1000 INSERT in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singola</a:t>
            </a:r>
            <a:r>
              <a:rPr dirty="0"/>
              <a:t> query. I test </a:t>
            </a:r>
            <a:r>
              <a:rPr dirty="0" err="1"/>
              <a:t>mostrano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con 1000 </a:t>
            </a:r>
            <a:r>
              <a:rPr dirty="0" err="1"/>
              <a:t>utenti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passa</a:t>
            </a:r>
            <a:r>
              <a:rPr dirty="0"/>
              <a:t> da 1-2 secondi a circa 20 </a:t>
            </a:r>
            <a:r>
              <a:rPr dirty="0" err="1"/>
              <a:t>millisecondi</a:t>
            </a:r>
            <a:r>
              <a:rPr dirty="0"/>
              <a:t>.</a:t>
            </a:r>
          </a:p>
        </p:txBody>
      </p:sp>
      <p:pic>
        <p:nvPicPr>
          <p:cNvPr id="31" name="Immagine 30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DA92D600-4BEB-F7AE-F4C4-BE2CEC3C3E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33" y="807626"/>
            <a:ext cx="2627562" cy="380455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90772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Problema 2: Initial State Loading Bottleneck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381000" y="714226"/>
            <a:ext cx="8549640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con 100+ Conversazioni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381000" y="1168482"/>
            <a:ext cx="4915989" cy="1413272"/>
          </a:xfrm>
          <a:prstGeom prst="roundRect">
            <a:avLst>
              <a:gd name="adj" fmla="val 4210"/>
            </a:avLst>
          </a:prstGeom>
          <a:solidFill>
            <a:srgbClr val="F39C1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14350" y="1262807"/>
            <a:ext cx="827760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Problema: Caricamento Completo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14350" y="1487537"/>
            <a:ext cx="8277606" cy="1279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Utente con 100+ conversazioni → Login/Reconnect carica </a:t>
            </a:r>
            <a:r>
              <a:rPr lang="en-US" sz="975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TUTTE</a:t>
            </a: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le conversazioni: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• 100+ SELECT conversations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• 100+ JOIN participants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• Setup 100+ broadcast subscriptions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75" b="1" dirty="0" err="1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Risultato</a:t>
            </a:r>
            <a:r>
              <a:rPr lang="en-US" sz="975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</a:t>
            </a: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Login time &gt;500ms (inaccettabile), DB queries insostenibili</a:t>
            </a:r>
            <a:endParaRPr lang="en-US" sz="975" dirty="0"/>
          </a:p>
        </p:txBody>
      </p:sp>
      <p:sp>
        <p:nvSpPr>
          <p:cNvPr id="7" name="Text 5"/>
          <p:cNvSpPr/>
          <p:nvPr/>
        </p:nvSpPr>
        <p:spPr>
          <a:xfrm>
            <a:off x="381000" y="2689313"/>
            <a:ext cx="4915989" cy="1191379"/>
          </a:xfrm>
          <a:prstGeom prst="roundRect">
            <a:avLst>
              <a:gd name="adj" fmla="val 5652"/>
            </a:avLst>
          </a:prstGeom>
          <a:solidFill>
            <a:srgbClr val="F39C1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14350" y="2772817"/>
            <a:ext cx="827760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Soluzione: Lazy Loading (Top 20)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14350" y="2997547"/>
            <a:ext cx="8277606" cy="519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Carica solo le </a:t>
            </a:r>
            <a:r>
              <a:rPr lang="en-US" sz="975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conversazioni più recenti</a:t>
            </a: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(ORDER BY created_at DESC LIMIT 20).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Resto caricato 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on-demand</a:t>
            </a: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quando utente scrolla → Pagination.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UI responsive immediatamente, carico DB ridotto drasticamente.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381000" y="4006936"/>
            <a:ext cx="4915989" cy="844675"/>
          </a:xfrm>
          <a:prstGeom prst="roundRect">
            <a:avLst>
              <a:gd name="adj" fmla="val 4771"/>
            </a:avLst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99872" y="4092628"/>
            <a:ext cx="82776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Performance Impact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514350" y="4317504"/>
            <a:ext cx="8277606" cy="473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time:</a:t>
            </a:r>
            <a:r>
              <a:rPr lang="en-US" sz="97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500ms → 50ms (10x più veloce)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 queries:</a:t>
            </a:r>
            <a:r>
              <a:rPr lang="en-US" sz="97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100+ → 20 (5x </a:t>
            </a:r>
            <a:r>
              <a:rPr lang="en-US" sz="975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riduzione</a:t>
            </a:r>
            <a:r>
              <a:rPr lang="en-US" sz="97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  <a:endParaRPr lang="en-US" sz="975" dirty="0"/>
          </a:p>
        </p:txBody>
      </p:sp>
      <p:sp>
        <p:nvSpPr>
          <p:cNvPr id="13" name="TextBox 12"/>
          <p:cNvSpPr txBox="1"/>
          <p:nvPr/>
        </p:nvSpPr>
        <p:spPr>
          <a:xfrm>
            <a:off x="5507641" y="1145522"/>
            <a:ext cx="356215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1">
                <a:solidFill>
                  <a:srgbClr val="0070C0"/>
                </a:solidFill>
                <a:latin typeface="Calibri"/>
              </a:defRPr>
            </a:pPr>
            <a:r>
              <a:rPr dirty="0"/>
              <a:t>Lazy Loading (Top 20)</a:t>
            </a:r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Quando un </a:t>
            </a:r>
            <a:r>
              <a:rPr dirty="0" err="1"/>
              <a:t>utente</a:t>
            </a:r>
            <a:r>
              <a:rPr dirty="0"/>
              <a:t> con </a:t>
            </a:r>
            <a:r>
              <a:rPr dirty="0" err="1"/>
              <a:t>centinaia</a:t>
            </a:r>
            <a:r>
              <a:rPr dirty="0"/>
              <a:t> di </a:t>
            </a:r>
            <a:r>
              <a:rPr dirty="0" err="1"/>
              <a:t>conversazioni</a:t>
            </a:r>
            <a:r>
              <a:rPr dirty="0"/>
              <a:t> fa login, </a:t>
            </a:r>
            <a:r>
              <a:rPr dirty="0" err="1"/>
              <a:t>caricarle</a:t>
            </a:r>
            <a:r>
              <a:rPr dirty="0"/>
              <a:t> tutte </a:t>
            </a:r>
            <a:r>
              <a:rPr dirty="0" err="1"/>
              <a:t>causerebbe</a:t>
            </a:r>
            <a:r>
              <a:rPr dirty="0"/>
              <a:t> timeout e UI </a:t>
            </a:r>
            <a:r>
              <a:rPr dirty="0" err="1"/>
              <a:t>bloccata</a:t>
            </a:r>
            <a:r>
              <a:rPr dirty="0"/>
              <a:t>. La </a:t>
            </a:r>
            <a:r>
              <a:rPr dirty="0" err="1"/>
              <a:t>soluzione</a:t>
            </a:r>
            <a:r>
              <a:rPr dirty="0"/>
              <a:t> è </a:t>
            </a:r>
            <a:r>
              <a:rPr dirty="0" err="1"/>
              <a:t>caricare</a:t>
            </a:r>
            <a:r>
              <a:rPr dirty="0"/>
              <a:t> solo le 20 </a:t>
            </a:r>
            <a:r>
              <a:rPr dirty="0" err="1"/>
              <a:t>conversazioni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</a:t>
            </a:r>
            <a:r>
              <a:rPr dirty="0" err="1"/>
              <a:t>recenti</a:t>
            </a:r>
            <a:r>
              <a:rPr dirty="0"/>
              <a:t> ordinate per ultima </a:t>
            </a:r>
            <a:r>
              <a:rPr dirty="0" err="1"/>
              <a:t>attività</a:t>
            </a:r>
            <a:r>
              <a:rPr dirty="0"/>
              <a:t>. La query </a:t>
            </a:r>
            <a:r>
              <a:rPr dirty="0" err="1"/>
              <a:t>ottimizzata</a:t>
            </a:r>
            <a:r>
              <a:rPr dirty="0"/>
              <a:t> </a:t>
            </a:r>
            <a:r>
              <a:rPr dirty="0" err="1"/>
              <a:t>usa</a:t>
            </a:r>
            <a:r>
              <a:rPr dirty="0"/>
              <a:t> JOIN </a:t>
            </a:r>
            <a:r>
              <a:rPr dirty="0" err="1"/>
              <a:t>invece</a:t>
            </a:r>
            <a:r>
              <a:rPr dirty="0"/>
              <a:t> di subquery, </a:t>
            </a:r>
            <a:r>
              <a:rPr dirty="0" err="1"/>
              <a:t>recuperando</a:t>
            </a:r>
            <a:r>
              <a:rPr dirty="0"/>
              <a:t> in un </a:t>
            </a:r>
            <a:r>
              <a:rPr dirty="0" err="1"/>
              <a:t>colpo</a:t>
            </a:r>
            <a:r>
              <a:rPr dirty="0"/>
              <a:t> solo conversazione, ultimo </a:t>
            </a:r>
            <a:r>
              <a:rPr dirty="0" err="1"/>
              <a:t>messaggio</a:t>
            </a:r>
            <a:r>
              <a:rPr dirty="0"/>
              <a:t> e </a:t>
            </a:r>
            <a:r>
              <a:rPr dirty="0" err="1"/>
              <a:t>membri</a:t>
            </a:r>
            <a:r>
              <a:rPr dirty="0"/>
              <a:t>. Il resto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caricato</a:t>
            </a:r>
            <a:r>
              <a:rPr dirty="0"/>
              <a:t> on-demand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l'utente</a:t>
            </a:r>
            <a:r>
              <a:rPr dirty="0"/>
              <a:t> </a:t>
            </a:r>
            <a:r>
              <a:rPr dirty="0" err="1"/>
              <a:t>scrolla</a:t>
            </a:r>
            <a:r>
              <a:rPr dirty="0"/>
              <a:t>, </a:t>
            </a:r>
            <a:r>
              <a:rPr dirty="0" err="1"/>
              <a:t>implementando</a:t>
            </a:r>
            <a:r>
              <a:rPr dirty="0"/>
              <a:t> pagination </a:t>
            </a:r>
            <a:r>
              <a:rPr dirty="0" err="1"/>
              <a:t>efficace</a:t>
            </a:r>
            <a:r>
              <a:rPr dirty="0"/>
              <a:t>. Il </a:t>
            </a:r>
            <a:r>
              <a:rPr dirty="0" err="1"/>
              <a:t>risultato</a:t>
            </a:r>
            <a:r>
              <a:rPr dirty="0"/>
              <a:t> è </a:t>
            </a:r>
            <a:r>
              <a:rPr dirty="0" err="1"/>
              <a:t>che</a:t>
            </a:r>
            <a:r>
              <a:rPr dirty="0"/>
              <a:t> il login time </a:t>
            </a:r>
            <a:r>
              <a:rPr dirty="0" err="1"/>
              <a:t>passa</a:t>
            </a:r>
            <a:r>
              <a:rPr dirty="0"/>
              <a:t> da </a:t>
            </a:r>
            <a:r>
              <a:rPr dirty="0" err="1"/>
              <a:t>oltre</a:t>
            </a:r>
            <a:r>
              <a:rPr dirty="0"/>
              <a:t> 500ms a circa 10-30ms, con un </a:t>
            </a:r>
            <a:r>
              <a:rPr dirty="0" err="1"/>
              <a:t>numero</a:t>
            </a:r>
            <a:r>
              <a:rPr dirty="0"/>
              <a:t> di query ridotto di 5 volte.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E42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02687" y="1960364"/>
            <a:ext cx="2138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Grazie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3136231" y="2665214"/>
            <a:ext cx="2871537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940"/>
              </a:lnSpc>
              <a:buNone/>
            </a:pP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136231" y="3152775"/>
            <a:ext cx="287153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900"/>
              </a:spcBef>
              <a:buNone/>
            </a:pPr>
            <a:r>
              <a:rPr lang="en-US" sz="1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Politecnico di Torino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2865</Words>
  <Application>Microsoft Office PowerPoint</Application>
  <PresentationFormat>Presentazione su schermo (16:9)</PresentationFormat>
  <Paragraphs>163</Paragraphs>
  <Slides>25</Slides>
  <Notes>25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25</vt:i4>
      </vt:variant>
    </vt:vector>
  </HeadingPairs>
  <TitlesOfParts>
    <vt:vector size="28" baseType="lpstr">
      <vt:lpstr>Arial</vt:lpstr>
      <vt:lpstr>Segoe UI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Pedalino  Alberto</cp:lastModifiedBy>
  <cp:revision>15</cp:revision>
  <dcterms:created xsi:type="dcterms:W3CDTF">2025-12-24T00:59:56Z</dcterms:created>
  <dcterms:modified xsi:type="dcterms:W3CDTF">2026-03-03T17:01:41Z</dcterms:modified>
</cp:coreProperties>
</file>