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Benvenuti alla presentazione di Ruggine Chat, un sistema di messaggistica real-time sviluppato in Rust.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Ruggine Chat è un'applicazione completa con server e client, costruita con tecnologie moderne e performanti.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L'architettura si basa su WebSocket per comunicazione real-time, con un Actor Model per gestire le connessioni.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cuore del sistema è il ConnectionActor con 3 task concorrenti: Writer, Reader e Receiver.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sistema di broadcast opera su due livelli: canali per conversazione e canali per utente.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dual-sequence system garantisce ordering corretto e permette recovery affidabile dei messaggi.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Ogni messaggio segue tre path: conferma al sender, broadcast real-time, e persistenza per recovery.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schema database è ottimizzato con indici strategici e constraint di integrità referenziale.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codice del ConnectionActor mostra l'uso della macro select! per orchestrare i task concorrenti.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broadcast system usa double-checked locking per performance e gestisce gracefully i casi senza receiver.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L'architettura a layer separa chiaramente le responsabilità: Entry Points, Handler, Service,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sistema è progettato per bassa latenza e alto throughput, con error handling robusto.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conclusione, abbiamo costruito un sistema completo che ci ha permesso di apprendere tecnologie avanzate.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286250" y="894457"/>
            <a:ext cx="762000" cy="762000"/>
          </a:xfrm>
          <a:prstGeom prst="roundRect">
            <a:avLst>
              <a:gd name="adj" fmla="val 20000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083625" y="2037457"/>
            <a:ext cx="3167101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900"/>
              </a:lnSpc>
              <a:spcAft>
                <a:spcPts val="900"/>
              </a:spcAft>
              <a:buNone/>
            </a:pPr>
            <a:r>
              <a:rPr lang="en-US" sz="3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Ruggine Chat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2441945" y="2799457"/>
            <a:ext cx="4450610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spcAft>
                <a:spcPts val="2400"/>
              </a:spcAft>
              <a:buNone/>
            </a:pPr>
            <a:r>
              <a:rPr lang="en-US" sz="165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di Messaggistica Real-Time in Rust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4095750" y="3549997"/>
            <a:ext cx="1143000" cy="28575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371143" y="4035772"/>
            <a:ext cx="259206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Progetto Universitario — Gruppo G39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0" y="4705350"/>
            <a:ext cx="9144000" cy="438150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6250" y="266700"/>
            <a:ext cx="433311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Panoramica del Progetto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76250" y="1648123"/>
            <a:ext cx="3952875" cy="1531144"/>
          </a:xfrm>
          <a:prstGeom prst="roundRect">
            <a:avLst>
              <a:gd name="adj" fmla="val 7465"/>
            </a:avLst>
          </a:prstGeom>
          <a:solidFill>
            <a:srgbClr val="2525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95300" y="1648123"/>
            <a:ext cx="0" cy="1531144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850" y="1838623"/>
            <a:ext cx="3604451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COS'È RUGGINE CHAT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04850" y="2135684"/>
            <a:ext cx="3604451" cy="853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Applicazione di messaggistica </a:t>
            </a:r>
            <a:pPr algn="l" indent="0" marL="0">
              <a:lnSpc>
                <a:spcPts val="168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</a:t>
            </a:r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sviluppata interamente in </a:t>
            </a:r>
            <a:pPr algn="l" indent="0" marL="0">
              <a:lnSpc>
                <a:spcPts val="1680"/>
              </a:lnSpc>
              <a:buNone/>
            </a:pPr>
            <a:r>
              <a:rPr lang="en-US" sz="105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</a:t>
            </a:r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Supporta chat dirette (DM) e conversazioni di gruppo con sincronizzazione affidabile dei messaggi.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76250" y="3331666"/>
            <a:ext cx="3952875" cy="925711"/>
          </a:xfrm>
          <a:prstGeom prst="roundRect">
            <a:avLst>
              <a:gd name="adj" fmla="val 12347"/>
            </a:avLst>
          </a:prstGeom>
          <a:solidFill>
            <a:srgbClr val="2525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66750" y="3522166"/>
            <a:ext cx="3643313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ARCHITETTURA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14875" y="1198662"/>
            <a:ext cx="403193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8B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TECNOLOGICO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14875" y="1472952"/>
            <a:ext cx="1928813" cy="1001762"/>
          </a:xfrm>
          <a:prstGeom prst="roundRect">
            <a:avLst>
              <a:gd name="adj" fmla="val 7607"/>
            </a:avLst>
          </a:prstGeom>
          <a:solidFill>
            <a:srgbClr val="2D2D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31604" y="1606302"/>
            <a:ext cx="169535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spcAft>
                <a:spcPts val="450"/>
              </a:spcAft>
              <a:buNone/>
            </a:pPr>
            <a:r>
              <a:rPr lang="en-US" sz="18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🦀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831604" y="1983432"/>
            <a:ext cx="169535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 1.70+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4831604" y="2194768"/>
            <a:ext cx="169535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8B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Linguaggio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6738938" y="1472952"/>
            <a:ext cx="1928813" cy="1001762"/>
          </a:xfrm>
          <a:prstGeom prst="roundRect">
            <a:avLst>
              <a:gd name="adj" fmla="val 7607"/>
            </a:avLst>
          </a:prstGeom>
          <a:solidFill>
            <a:srgbClr val="2D2D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855666" y="1606302"/>
            <a:ext cx="169535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spcAft>
                <a:spcPts val="450"/>
              </a:spcAft>
              <a:buNone/>
            </a:pPr>
            <a:r>
              <a:rPr lang="en-US" sz="18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855666" y="1983432"/>
            <a:ext cx="169535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Tokio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6855666" y="2194768"/>
            <a:ext cx="169535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8B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 Runtime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4714875" y="2589014"/>
            <a:ext cx="1928813" cy="1001762"/>
          </a:xfrm>
          <a:prstGeom prst="roundRect">
            <a:avLst>
              <a:gd name="adj" fmla="val 7607"/>
            </a:avLst>
          </a:prstGeom>
          <a:solidFill>
            <a:srgbClr val="2D2D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31604" y="2722364"/>
            <a:ext cx="169535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spcAft>
                <a:spcPts val="450"/>
              </a:spcAft>
              <a:buNone/>
            </a:pPr>
            <a:r>
              <a:rPr lang="en-US" sz="18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831604" y="3099495"/>
            <a:ext cx="169535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Axum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4831604" y="3310830"/>
            <a:ext cx="169535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8B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Framework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6738938" y="2589014"/>
            <a:ext cx="1928813" cy="1001762"/>
          </a:xfrm>
          <a:prstGeom prst="roundRect">
            <a:avLst>
              <a:gd name="adj" fmla="val 7607"/>
            </a:avLst>
          </a:prstGeom>
          <a:solidFill>
            <a:srgbClr val="2D2D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855666" y="2722364"/>
            <a:ext cx="169535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spcAft>
                <a:spcPts val="450"/>
              </a:spcAft>
              <a:buNone/>
            </a:pPr>
            <a:r>
              <a:rPr lang="en-US" sz="18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💾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855666" y="3099495"/>
            <a:ext cx="169535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+ WAL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6855666" y="3310830"/>
            <a:ext cx="169535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8B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4714875" y="3705076"/>
            <a:ext cx="1928813" cy="1001762"/>
          </a:xfrm>
          <a:prstGeom prst="roundRect">
            <a:avLst>
              <a:gd name="adj" fmla="val 7607"/>
            </a:avLst>
          </a:prstGeom>
          <a:solidFill>
            <a:srgbClr val="2D2D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831604" y="3838426"/>
            <a:ext cx="169535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spcAft>
                <a:spcPts val="450"/>
              </a:spcAft>
              <a:buNone/>
            </a:pPr>
            <a:r>
              <a:rPr lang="en-US" sz="18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🔌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831604" y="4215557"/>
            <a:ext cx="169535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</a:t>
            </a:r>
            <a:endParaRPr lang="en-US" sz="975" dirty="0"/>
          </a:p>
        </p:txBody>
      </p:sp>
      <p:sp>
        <p:nvSpPr>
          <p:cNvPr id="30" name="Text 28"/>
          <p:cNvSpPr/>
          <p:nvPr/>
        </p:nvSpPr>
        <p:spPr>
          <a:xfrm>
            <a:off x="4831604" y="4426893"/>
            <a:ext cx="169535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8B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6738938" y="3705076"/>
            <a:ext cx="1928813" cy="1001762"/>
          </a:xfrm>
          <a:prstGeom prst="roundRect">
            <a:avLst>
              <a:gd name="adj" fmla="val 7607"/>
            </a:avLst>
          </a:prstGeom>
          <a:solidFill>
            <a:srgbClr val="2D2D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855666" y="3838426"/>
            <a:ext cx="169535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spcAft>
                <a:spcPts val="450"/>
              </a:spcAft>
              <a:buNone/>
            </a:pPr>
            <a:r>
              <a:rPr lang="en-US" sz="18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🖥️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855666" y="4215557"/>
            <a:ext cx="169535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egui</a:t>
            </a:r>
            <a:endParaRPr lang="en-US" sz="975" dirty="0"/>
          </a:p>
        </p:txBody>
      </p:sp>
      <p:sp>
        <p:nvSpPr>
          <p:cNvPr id="34" name="Text 32"/>
          <p:cNvSpPr/>
          <p:nvPr/>
        </p:nvSpPr>
        <p:spPr>
          <a:xfrm>
            <a:off x="6855666" y="4426893"/>
            <a:ext cx="169535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8B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GUI</a:t>
            </a:r>
            <a:endParaRPr lang="en-US" sz="8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6250" y="266700"/>
            <a:ext cx="433311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Architettura High-Level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2667000" y="781348"/>
            <a:ext cx="3810000" cy="676126"/>
          </a:xfrm>
          <a:prstGeom prst="roundRect">
            <a:avLst>
              <a:gd name="adj" fmla="val 14088"/>
            </a:avLst>
          </a:prstGeom>
          <a:solidFill>
            <a:srgbClr val="2D2D44"/>
          </a:solidFill>
          <a:ln w="19050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939796" y="933748"/>
            <a:ext cx="326440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(egui Desktop)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939796" y="1158478"/>
            <a:ext cx="326440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8B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 rendering • WebSocket client • State management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4099280" y="1724174"/>
            <a:ext cx="9454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 + HTTP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2667000" y="2137470"/>
            <a:ext cx="3810000" cy="599926"/>
          </a:xfrm>
          <a:prstGeom prst="roundRect">
            <a:avLst>
              <a:gd name="adj" fmla="val 15877"/>
            </a:avLst>
          </a:prstGeom>
          <a:solidFill>
            <a:srgbClr val="2525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920365" y="2251770"/>
            <a:ext cx="330327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Axum WebSocket Handler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920365" y="2476500"/>
            <a:ext cx="330327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8B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ws_handler() → ws_entrypoint()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1952625" y="3004096"/>
            <a:ext cx="5238750" cy="1089571"/>
          </a:xfrm>
          <a:prstGeom prst="roundRect">
            <a:avLst>
              <a:gd name="adj" fmla="val 8742"/>
            </a:avLst>
          </a:prstGeom>
          <a:solidFill>
            <a:srgbClr val="2525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094548" y="3156496"/>
            <a:ext cx="495490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ConnectionActor (Actor Model)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081338" y="3438376"/>
            <a:ext cx="862757" cy="502890"/>
          </a:xfrm>
          <a:prstGeom prst="roundRect">
            <a:avLst>
              <a:gd name="adj" fmla="val 11364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095625" y="3438376"/>
            <a:ext cx="0" cy="502890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57019" y="3533626"/>
            <a:ext cx="53996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57019" y="3712666"/>
            <a:ext cx="5399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8B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ws_tx owner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058394" y="3438376"/>
            <a:ext cx="831056" cy="502890"/>
          </a:xfrm>
          <a:prstGeom prst="roundRect">
            <a:avLst>
              <a:gd name="adj" fmla="val 11364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072682" y="3438376"/>
            <a:ext cx="0" cy="502890"/>
          </a:xfrm>
          <a:prstGeom prst="line">
            <a:avLst/>
          </a:prstGeom>
          <a:noFill/>
          <a:ln w="28575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34392" y="3533626"/>
            <a:ext cx="50763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234392" y="3712666"/>
            <a:ext cx="50763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8B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 &amp; DB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003750" y="3438376"/>
            <a:ext cx="1058763" cy="502890"/>
          </a:xfrm>
          <a:prstGeom prst="roundRect">
            <a:avLst>
              <a:gd name="adj" fmla="val 11364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5018038" y="3438376"/>
            <a:ext cx="0" cy="502890"/>
          </a:xfrm>
          <a:prstGeom prst="line">
            <a:avLst/>
          </a:prstGeom>
          <a:noFill/>
          <a:ln w="28575">
            <a:solidFill>
              <a:srgbClr val="A855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77472" y="3533626"/>
            <a:ext cx="73989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177472" y="3712666"/>
            <a:ext cx="73989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8B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Broadcast merge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788741" y="4360366"/>
            <a:ext cx="1594991" cy="573286"/>
          </a:xfrm>
          <a:prstGeom prst="roundRect">
            <a:avLst>
              <a:gd name="adj" fmla="val 16615"/>
            </a:avLst>
          </a:prstGeom>
          <a:solidFill>
            <a:srgbClr val="2525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2967101" y="4474666"/>
            <a:ext cx="123827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Broadcast System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2967101" y="4686002"/>
            <a:ext cx="12382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8B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Conversations • Notifications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612332" y="4360366"/>
            <a:ext cx="1742926" cy="573286"/>
          </a:xfrm>
          <a:prstGeom prst="roundRect">
            <a:avLst>
              <a:gd name="adj" fmla="val 16615"/>
            </a:avLst>
          </a:prstGeom>
          <a:solidFill>
            <a:srgbClr val="2525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789213" y="4474666"/>
            <a:ext cx="138916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(SQLite)</a:t>
            </a:r>
            <a:endParaRPr lang="en-US" sz="975" dirty="0"/>
          </a:p>
        </p:txBody>
      </p:sp>
      <p:sp>
        <p:nvSpPr>
          <p:cNvPr id="30" name="Text 28"/>
          <p:cNvSpPr/>
          <p:nvPr/>
        </p:nvSpPr>
        <p:spPr>
          <a:xfrm>
            <a:off x="4789213" y="4686002"/>
            <a:ext cx="13891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8B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 mode • Messages • Events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6250" y="266700"/>
            <a:ext cx="57127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Actor Model — 3 Task Concorrenti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76250" y="1196578"/>
            <a:ext cx="2603450" cy="3417094"/>
          </a:xfrm>
          <a:prstGeom prst="roundRect">
            <a:avLst>
              <a:gd name="adj" fmla="val 4390"/>
            </a:avLst>
          </a:prstGeom>
          <a:solidFill>
            <a:srgbClr val="2525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76250" y="1215628"/>
            <a:ext cx="2603450" cy="0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7700" y="1406128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85850" y="1474738"/>
            <a:ext cx="936331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Writer Task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7700" y="2015728"/>
            <a:ext cx="2260550" cy="535186"/>
          </a:xfrm>
          <a:prstGeom prst="roundRect">
            <a:avLst>
              <a:gd name="adj" fmla="val 10679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62000" y="2110978"/>
            <a:ext cx="207258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Unico proprietario ws_tx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62000" y="2309068"/>
            <a:ext cx="207258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8B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Garantisce invio thread-safe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647700" y="2646164"/>
            <a:ext cx="2260550" cy="535186"/>
          </a:xfrm>
          <a:prstGeom prst="roundRect">
            <a:avLst>
              <a:gd name="adj" fmla="val 10679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62000" y="2741414"/>
            <a:ext cx="207258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Heartbeat periodico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62000" y="2939504"/>
            <a:ext cx="207258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8B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30s + jitter anti-thundering herd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647700" y="3276600"/>
            <a:ext cx="2260550" cy="535186"/>
          </a:xfrm>
          <a:prstGeom prst="roundRect">
            <a:avLst>
              <a:gd name="adj" fmla="val 10679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62000" y="3371850"/>
            <a:ext cx="207258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Timeout management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62000" y="3569940"/>
            <a:ext cx="207258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8B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10s send, 5s close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647700" y="3907036"/>
            <a:ext cx="2260550" cy="535186"/>
          </a:xfrm>
          <a:prstGeom prst="roundRect">
            <a:avLst>
              <a:gd name="adj" fmla="val 10679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62000" y="4002286"/>
            <a:ext cx="207258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tracking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62000" y="4200376"/>
            <a:ext cx="207258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8B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3 failures consecutivi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3270200" y="1196578"/>
            <a:ext cx="2603450" cy="3417094"/>
          </a:xfrm>
          <a:prstGeom prst="roundRect">
            <a:avLst>
              <a:gd name="adj" fmla="val 4390"/>
            </a:avLst>
          </a:prstGeom>
          <a:solidFill>
            <a:srgbClr val="2525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3270200" y="1215628"/>
            <a:ext cx="2603450" cy="0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41650" y="1406128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879800" y="1474738"/>
            <a:ext cx="1027262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Reader Task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3441650" y="2015728"/>
            <a:ext cx="2260550" cy="535186"/>
          </a:xfrm>
          <a:prstGeom prst="roundRect">
            <a:avLst>
              <a:gd name="adj" fmla="val 10679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555950" y="2110978"/>
            <a:ext cx="207258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Parsing JSON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555950" y="2309068"/>
            <a:ext cx="207258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8B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Validazione type-safe con serde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3441650" y="2646164"/>
            <a:ext cx="2260550" cy="535186"/>
          </a:xfrm>
          <a:prstGeom prst="roundRect">
            <a:avLst>
              <a:gd name="adj" fmla="val 10679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555950" y="2741414"/>
            <a:ext cx="207258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 routing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555950" y="2939504"/>
            <a:ext cx="207258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8B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 agli handler specifici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3441650" y="3276600"/>
            <a:ext cx="2260550" cy="535186"/>
          </a:xfrm>
          <a:prstGeom prst="roundRect">
            <a:avLst>
              <a:gd name="adj" fmla="val 10679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555950" y="3371850"/>
            <a:ext cx="207258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Salvataggio DB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555950" y="3569940"/>
            <a:ext cx="207258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8B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SQLx async queries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3441650" y="3907036"/>
            <a:ext cx="2260550" cy="535186"/>
          </a:xfrm>
          <a:prstGeom prst="roundRect">
            <a:avLst>
              <a:gd name="adj" fmla="val 10679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3555950" y="4002286"/>
            <a:ext cx="207258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Ping/Pong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555950" y="4200376"/>
            <a:ext cx="207258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8B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Gestione keepalive client</a:t>
            </a:r>
            <a:endParaRPr lang="en-US" sz="825" dirty="0"/>
          </a:p>
        </p:txBody>
      </p:sp>
      <p:sp>
        <p:nvSpPr>
          <p:cNvPr id="36" name="Text 34"/>
          <p:cNvSpPr/>
          <p:nvPr/>
        </p:nvSpPr>
        <p:spPr>
          <a:xfrm>
            <a:off x="6064151" y="1196578"/>
            <a:ext cx="2603450" cy="3417094"/>
          </a:xfrm>
          <a:prstGeom prst="roundRect">
            <a:avLst>
              <a:gd name="adj" fmla="val 4390"/>
            </a:avLst>
          </a:prstGeom>
          <a:solidFill>
            <a:srgbClr val="2525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6064151" y="1215628"/>
            <a:ext cx="2603450" cy="0"/>
          </a:xfrm>
          <a:prstGeom prst="line">
            <a:avLst/>
          </a:prstGeom>
          <a:noFill/>
          <a:ln w="38100">
            <a:solidFill>
              <a:srgbClr val="A855F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35601" y="1406128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A855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673751" y="1474738"/>
            <a:ext cx="1163583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Receiver Task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6235601" y="2015728"/>
            <a:ext cx="2260550" cy="535186"/>
          </a:xfrm>
          <a:prstGeom prst="roundRect">
            <a:avLst>
              <a:gd name="adj" fmla="val 10679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349901" y="2110978"/>
            <a:ext cx="207258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Subscribe channels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349901" y="2309068"/>
            <a:ext cx="207258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8B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Conversazioni + notifiche utente</a:t>
            </a:r>
            <a:endParaRPr lang="en-US" sz="825" dirty="0"/>
          </a:p>
        </p:txBody>
      </p:sp>
      <p:sp>
        <p:nvSpPr>
          <p:cNvPr id="43" name="Text 41"/>
          <p:cNvSpPr/>
          <p:nvPr/>
        </p:nvSpPr>
        <p:spPr>
          <a:xfrm>
            <a:off x="6235601" y="2646164"/>
            <a:ext cx="2260550" cy="535186"/>
          </a:xfrm>
          <a:prstGeom prst="roundRect">
            <a:avLst>
              <a:gd name="adj" fmla="val 10679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6349901" y="2741414"/>
            <a:ext cx="207258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 broadcast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349901" y="2939504"/>
            <a:ext cx="207258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8B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SelectAll su N stream</a:t>
            </a:r>
            <a:endParaRPr lang="en-US" sz="825" dirty="0"/>
          </a:p>
        </p:txBody>
      </p:sp>
      <p:sp>
        <p:nvSpPr>
          <p:cNvPr id="46" name="Text 44"/>
          <p:cNvSpPr/>
          <p:nvPr/>
        </p:nvSpPr>
        <p:spPr>
          <a:xfrm>
            <a:off x="6235601" y="3276600"/>
            <a:ext cx="2260550" cy="535186"/>
          </a:xfrm>
          <a:prstGeom prst="roundRect">
            <a:avLst>
              <a:gd name="adj" fmla="val 10679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349901" y="3371850"/>
            <a:ext cx="207258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a Writer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349901" y="3569940"/>
            <a:ext cx="207258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8B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out_tx channel (1024 cap)</a:t>
            </a:r>
            <a:endParaRPr lang="en-US" sz="825" dirty="0"/>
          </a:p>
        </p:txBody>
      </p:sp>
      <p:sp>
        <p:nvSpPr>
          <p:cNvPr id="49" name="Text 47"/>
          <p:cNvSpPr/>
          <p:nvPr/>
        </p:nvSpPr>
        <p:spPr>
          <a:xfrm>
            <a:off x="6235601" y="3907036"/>
            <a:ext cx="2260550" cy="535186"/>
          </a:xfrm>
          <a:prstGeom prst="roundRect">
            <a:avLst>
              <a:gd name="adj" fmla="val 10679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6349901" y="4002286"/>
            <a:ext cx="207258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state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349901" y="4200376"/>
            <a:ext cx="207258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8B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Carica conversazioni al connect</a:t>
            </a:r>
            <a:endParaRPr lang="en-US" sz="8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6250" y="266700"/>
            <a:ext cx="535324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Broadcast System — Due Livelli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76250" y="1390799"/>
            <a:ext cx="3952875" cy="557957"/>
          </a:xfrm>
          <a:prstGeom prst="roundRect">
            <a:avLst>
              <a:gd name="adj" fmla="val 13657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28650" y="1486049"/>
            <a:ext cx="372103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 CHANNELS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8650" y="1706910"/>
            <a:ext cx="37210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1A1A2E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Broadcast per conversazione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1195388" y="2082105"/>
            <a:ext cx="762000" cy="666750"/>
          </a:xfrm>
          <a:prstGeom prst="roundRect">
            <a:avLst>
              <a:gd name="adj" fmla="val 11429"/>
            </a:avLst>
          </a:prstGeom>
          <a:solidFill>
            <a:srgbClr val="2525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304354" y="2196405"/>
            <a:ext cx="5440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04354" y="2501205"/>
            <a:ext cx="5440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8B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 A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071688" y="2082105"/>
            <a:ext cx="762000" cy="666750"/>
          </a:xfrm>
          <a:prstGeom prst="roundRect">
            <a:avLst>
              <a:gd name="adj" fmla="val 11429"/>
            </a:avLst>
          </a:prstGeom>
          <a:solidFill>
            <a:srgbClr val="2525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180654" y="2196405"/>
            <a:ext cx="5440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180654" y="2501205"/>
            <a:ext cx="5440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8B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 B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947988" y="2082105"/>
            <a:ext cx="762000" cy="666750"/>
          </a:xfrm>
          <a:prstGeom prst="roundRect">
            <a:avLst>
              <a:gd name="adj" fmla="val 11429"/>
            </a:avLst>
          </a:prstGeom>
          <a:solidFill>
            <a:srgbClr val="2525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056954" y="2196405"/>
            <a:ext cx="5440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056954" y="2501205"/>
            <a:ext cx="5440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8B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 C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76250" y="2882205"/>
            <a:ext cx="3952875" cy="1009650"/>
          </a:xfrm>
          <a:prstGeom prst="roundRect">
            <a:avLst>
              <a:gd name="adj" fmla="val 9434"/>
            </a:avLst>
          </a:prstGeom>
          <a:solidFill>
            <a:srgbClr val="2525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09600" y="3015555"/>
            <a:ext cx="37598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EVENTI GESTITI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6250" y="4025205"/>
            <a:ext cx="3952875" cy="356146"/>
          </a:xfrm>
          <a:prstGeom prst="roundRect">
            <a:avLst>
              <a:gd name="adj" fmla="val 21396"/>
            </a:avLst>
          </a:prstGeom>
          <a:solidFill>
            <a:srgbClr val="1A1A2E"/>
          </a:solidFill>
          <a:ln w="9525">
            <a:solidFill>
              <a:srgbClr val="3D3D5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81025" y="4129980"/>
            <a:ext cx="381819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B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Tutti i partecipanti </a:t>
            </a:r>
            <a:pPr algn="l" indent="0" marL="0">
              <a:lnSpc>
                <a:spcPts val="1155"/>
              </a:lnSpc>
              <a:buNone/>
            </a:pPr>
            <a:r>
              <a:rPr lang="en-US" sz="825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B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ricevono in real-time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4714875" y="1390799"/>
            <a:ext cx="3952875" cy="557957"/>
          </a:xfrm>
          <a:prstGeom prst="roundRect">
            <a:avLst>
              <a:gd name="adj" fmla="val 13657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867275" y="1486049"/>
            <a:ext cx="372103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NOTIFICATION CHANNELS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67275" y="1706910"/>
            <a:ext cx="37210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Broadcast per utente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5434013" y="2082105"/>
            <a:ext cx="762000" cy="666750"/>
          </a:xfrm>
          <a:prstGeom prst="roundRect">
            <a:avLst>
              <a:gd name="adj" fmla="val 11429"/>
            </a:avLst>
          </a:prstGeom>
          <a:solidFill>
            <a:srgbClr val="2525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542979" y="2196405"/>
            <a:ext cx="5440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542979" y="2501205"/>
            <a:ext cx="5440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8B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1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310313" y="2082105"/>
            <a:ext cx="762000" cy="666750"/>
          </a:xfrm>
          <a:prstGeom prst="roundRect">
            <a:avLst>
              <a:gd name="adj" fmla="val 11429"/>
            </a:avLst>
          </a:prstGeom>
          <a:solidFill>
            <a:srgbClr val="2525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419279" y="2196405"/>
            <a:ext cx="5440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419279" y="2501205"/>
            <a:ext cx="5440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8B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2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7186613" y="2082105"/>
            <a:ext cx="762000" cy="666750"/>
          </a:xfrm>
          <a:prstGeom prst="roundRect">
            <a:avLst>
              <a:gd name="adj" fmla="val 11429"/>
            </a:avLst>
          </a:prstGeom>
          <a:solidFill>
            <a:srgbClr val="2525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295579" y="2196405"/>
            <a:ext cx="5440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295579" y="2501205"/>
            <a:ext cx="5440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8B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3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714875" y="2882205"/>
            <a:ext cx="3952875" cy="1009650"/>
          </a:xfrm>
          <a:prstGeom prst="roundRect">
            <a:avLst>
              <a:gd name="adj" fmla="val 9434"/>
            </a:avLst>
          </a:prstGeom>
          <a:solidFill>
            <a:srgbClr val="2525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848225" y="3015555"/>
            <a:ext cx="37598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9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EVENTI GESTITI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14875" y="4025205"/>
            <a:ext cx="3952875" cy="356146"/>
          </a:xfrm>
          <a:prstGeom prst="roundRect">
            <a:avLst>
              <a:gd name="adj" fmla="val 21396"/>
            </a:avLst>
          </a:prstGeom>
          <a:solidFill>
            <a:srgbClr val="1A1A2E"/>
          </a:solidFill>
          <a:ln w="9525">
            <a:solidFill>
              <a:srgbClr val="3D3D5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819650" y="4129980"/>
            <a:ext cx="381819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B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Auto-subscribe al </a:t>
            </a:r>
            <a:pPr algn="l" indent="0" marL="0">
              <a:lnSpc>
                <a:spcPts val="1155"/>
              </a:lnSpc>
              <a:buNone/>
            </a:pPr>
            <a:r>
              <a:rPr lang="en-US" sz="825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proprio canale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B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alla connessione</a:t>
            </a:r>
            <a:endParaRPr lang="en-US" sz="8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6250" y="228600"/>
            <a:ext cx="433311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Dual-Sequence System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76250" y="1144042"/>
            <a:ext cx="3981450" cy="527596"/>
          </a:xfrm>
          <a:prstGeom prst="roundRect">
            <a:avLst>
              <a:gd name="adj" fmla="val 14443"/>
            </a:avLst>
          </a:prstGeom>
          <a:solidFill>
            <a:srgbClr val="A855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28650" y="1239292"/>
            <a:ext cx="375018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SEQUENCE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628650" y="1429792"/>
            <a:ext cx="375018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Globale per utente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476250" y="1766888"/>
            <a:ext cx="3981450" cy="542925"/>
          </a:xfrm>
          <a:prstGeom prst="roundRect">
            <a:avLst>
              <a:gd name="adj" fmla="val 14035"/>
            </a:avLst>
          </a:prstGeom>
          <a:solidFill>
            <a:srgbClr val="2525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90550" y="1881187"/>
            <a:ext cx="382790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Ogni evento riceve un </a:t>
            </a:r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number incrementale</a:t>
            </a:r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Permette gap detection e recovery.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476250" y="2405063"/>
            <a:ext cx="3981450" cy="1314450"/>
          </a:xfrm>
          <a:prstGeom prst="roundRect">
            <a:avLst>
              <a:gd name="adj" fmla="val 4348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90538" y="2405063"/>
            <a:ext cx="0" cy="1314450"/>
          </a:xfrm>
          <a:prstGeom prst="line">
            <a:avLst/>
          </a:prstGeom>
          <a:noFill/>
          <a:ln w="28575">
            <a:solidFill>
              <a:srgbClr val="A855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0075" y="2500313"/>
            <a:ext cx="383762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8B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seq=1 → new_message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00075" y="2786063"/>
            <a:ext cx="383762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8B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seq=2 → new_conversation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0075" y="3071813"/>
            <a:ext cx="383762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seq=3 → 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MISSING!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00075" y="3357563"/>
            <a:ext cx="383762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8B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seq=4 → new_message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6250" y="3814763"/>
            <a:ext cx="3981450" cy="489496"/>
          </a:xfrm>
          <a:prstGeom prst="roundRect">
            <a:avLst>
              <a:gd name="adj" fmla="val 11675"/>
            </a:avLst>
          </a:prstGeom>
          <a:solidFill>
            <a:srgbClr val="2525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71500" y="3910013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571500" y="4075658"/>
            <a:ext cx="38667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8B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user_events_resume da seq mancante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686300" y="1144042"/>
            <a:ext cx="3981450" cy="527596"/>
          </a:xfrm>
          <a:prstGeom prst="roundRect">
            <a:avLst>
              <a:gd name="adj" fmla="val 14443"/>
            </a:avLst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838700" y="1239292"/>
            <a:ext cx="375018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 SEQUENCE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4838700" y="1429792"/>
            <a:ext cx="375018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1A1A2E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conversazione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4686300" y="1766888"/>
            <a:ext cx="3981450" cy="542925"/>
          </a:xfrm>
          <a:prstGeom prst="roundRect">
            <a:avLst>
              <a:gd name="adj" fmla="val 14035"/>
            </a:avLst>
          </a:prstGeom>
          <a:solidFill>
            <a:srgbClr val="2525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800600" y="1881187"/>
            <a:ext cx="382790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Ogni messaggio ha </a:t>
            </a:r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sequence_num</a:t>
            </a:r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locale. Ordering corretto e paginazione efficiente.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4686300" y="2405063"/>
            <a:ext cx="3981450" cy="1314450"/>
          </a:xfrm>
          <a:prstGeom prst="roundRect">
            <a:avLst>
              <a:gd name="adj" fmla="val 4348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700588" y="2405063"/>
            <a:ext cx="0" cy="1314450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10125" y="2500313"/>
            <a:ext cx="383762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8B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seq=1 → "Ciao!" (alice)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810125" y="2786063"/>
            <a:ext cx="383762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8B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seq=2 → "Hey!" (bob)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810125" y="3071813"/>
            <a:ext cx="383762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8B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seq=3 → "Come va?" (charlie)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810125" y="3357563"/>
            <a:ext cx="383762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8B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seq=4 → "Bene!" (alice)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686300" y="3814763"/>
            <a:ext cx="3981450" cy="489496"/>
          </a:xfrm>
          <a:prstGeom prst="roundRect">
            <a:avLst>
              <a:gd name="adj" fmla="val 11675"/>
            </a:avLst>
          </a:prstGeom>
          <a:solidFill>
            <a:srgbClr val="2525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781550" y="3910013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Paginazione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4781550" y="4075658"/>
            <a:ext cx="38667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8B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?before_sequence=50&amp;limit=20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228600"/>
            <a:ext cx="423595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Flusso dei Messaggi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571500" y="609600"/>
            <a:ext cx="845248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dirty="0">
                <a:solidFill>
                  <a:srgbClr val="8B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Triple delivery path per affidabilità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76250" y="1134666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14400" y="984349"/>
            <a:ext cx="7848600" cy="586532"/>
          </a:xfrm>
          <a:prstGeom prst="roundRect">
            <a:avLst>
              <a:gd name="adj" fmla="val 12992"/>
            </a:avLst>
          </a:prstGeom>
          <a:solidFill>
            <a:srgbClr val="2525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66800" y="1098649"/>
            <a:ext cx="769467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Alice invia messaggio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1066800" y="1309985"/>
            <a:ext cx="76946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8B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type: "chat_message" → WebSocket → Reader Task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476250" y="1854547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14400" y="1704231"/>
            <a:ext cx="7848600" cy="586532"/>
          </a:xfrm>
          <a:prstGeom prst="roundRect">
            <a:avLst>
              <a:gd name="adj" fmla="val 12992"/>
            </a:avLst>
          </a:prstGeom>
          <a:solidFill>
            <a:srgbClr val="2525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066800" y="1818531"/>
            <a:ext cx="769467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Salvataggio nel Database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1066800" y="2029867"/>
            <a:ext cx="76946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8B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messages + assegna sequence_num + auto mark_read per sender</a:t>
            </a:r>
            <a:endParaRPr lang="en-US" sz="825" dirty="0"/>
          </a:p>
        </p:txBody>
      </p:sp>
      <p:pic>
        <p:nvPicPr>
          <p:cNvPr id="13" name="Image 0" descr="/tmp/rasterized-gradient-1ec1fe7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424113"/>
            <a:ext cx="2540050" cy="108004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047750" y="2557463"/>
            <a:ext cx="231881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1 — Confirmation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47750" y="2774603"/>
            <a:ext cx="23188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450"/>
              </a:spcBef>
              <a:buNone/>
            </a:pPr>
            <a:r>
              <a:rPr lang="en-US" sz="750" dirty="0">
                <a:solidFill>
                  <a:srgbClr val="000000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al sender (Alice)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1047750" y="2984153"/>
            <a:ext cx="2273350" cy="386655"/>
          </a:xfrm>
          <a:prstGeom prst="roundRect">
            <a:avLst>
              <a:gd name="adj" fmla="val 9854"/>
            </a:avLst>
          </a:prstGeom>
          <a:solidFill>
            <a:srgbClr val="000000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1123950" y="3041303"/>
            <a:ext cx="21633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A1A2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message_confirmation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3950" y="3193703"/>
            <a:ext cx="216336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00000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Saved, server_msg_id, seq</a:t>
            </a:r>
            <a:endParaRPr lang="en-US" sz="675" dirty="0"/>
          </a:p>
        </p:txBody>
      </p:sp>
      <p:pic>
        <p:nvPicPr>
          <p:cNvPr id="19" name="Image 1" descr="/tmp/rasterized-gradient-abda6a3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8750" y="2424113"/>
            <a:ext cx="2540050" cy="108004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702100" y="2557463"/>
            <a:ext cx="231881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2 — Broadcast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3702100" y="2774603"/>
            <a:ext cx="23188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450"/>
              </a:spcBef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tutti online (incl. Alice)</a:t>
            </a:r>
            <a:endParaRPr lang="en-US" sz="750" dirty="0"/>
          </a:p>
        </p:txBody>
      </p:sp>
      <p:sp>
        <p:nvSpPr>
          <p:cNvPr id="22" name="Text 18"/>
          <p:cNvSpPr/>
          <p:nvPr/>
        </p:nvSpPr>
        <p:spPr>
          <a:xfrm>
            <a:off x="3702100" y="2984153"/>
            <a:ext cx="2273350" cy="386655"/>
          </a:xfrm>
          <a:prstGeom prst="roundRect">
            <a:avLst>
              <a:gd name="adj" fmla="val 9854"/>
            </a:avLst>
          </a:prstGeom>
          <a:solidFill>
            <a:srgbClr val="000000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3778300" y="3041303"/>
            <a:ext cx="21633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chat_message</a:t>
            </a:r>
            <a:endParaRPr lang="en-US" sz="750" dirty="0"/>
          </a:p>
        </p:txBody>
      </p:sp>
      <p:sp>
        <p:nvSpPr>
          <p:cNvPr id="24" name="Text 20"/>
          <p:cNvSpPr/>
          <p:nvPr/>
        </p:nvSpPr>
        <p:spPr>
          <a:xfrm>
            <a:off x="3778300" y="3193703"/>
            <a:ext cx="216336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via conv channel</a:t>
            </a:r>
            <a:endParaRPr lang="en-US" sz="675" dirty="0"/>
          </a:p>
        </p:txBody>
      </p:sp>
      <p:pic>
        <p:nvPicPr>
          <p:cNvPr id="25" name="Image 2" descr="/tmp/rasterized-gradient-8649204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99" y="2424113"/>
            <a:ext cx="2540050" cy="1080046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356449" y="2557463"/>
            <a:ext cx="231881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3 — User Events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6356449" y="2774603"/>
            <a:ext cx="23188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450"/>
              </a:spcBef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Persistito per tutti</a:t>
            </a:r>
            <a:endParaRPr lang="en-US" sz="750" dirty="0"/>
          </a:p>
        </p:txBody>
      </p:sp>
      <p:sp>
        <p:nvSpPr>
          <p:cNvPr id="28" name="Text 23"/>
          <p:cNvSpPr/>
          <p:nvPr/>
        </p:nvSpPr>
        <p:spPr>
          <a:xfrm>
            <a:off x="6356449" y="2984153"/>
            <a:ext cx="2273350" cy="386655"/>
          </a:xfrm>
          <a:prstGeom prst="roundRect">
            <a:avLst>
              <a:gd name="adj" fmla="val 9854"/>
            </a:avLst>
          </a:prstGeom>
          <a:solidFill>
            <a:srgbClr val="000000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4"/>
          <p:cNvSpPr/>
          <p:nvPr/>
        </p:nvSpPr>
        <p:spPr>
          <a:xfrm>
            <a:off x="6432649" y="3041303"/>
            <a:ext cx="21633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new_message (DB)</a:t>
            </a:r>
            <a:endParaRPr lang="en-US" sz="750" dirty="0"/>
          </a:p>
        </p:txBody>
      </p:sp>
      <p:sp>
        <p:nvSpPr>
          <p:cNvPr id="30" name="Text 25"/>
          <p:cNvSpPr/>
          <p:nvPr/>
        </p:nvSpPr>
        <p:spPr>
          <a:xfrm>
            <a:off x="6432649" y="3193703"/>
            <a:ext cx="216336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 per offline users</a:t>
            </a:r>
            <a:endParaRPr lang="en-US" sz="675" dirty="0"/>
          </a:p>
        </p:txBody>
      </p:sp>
      <p:sp>
        <p:nvSpPr>
          <p:cNvPr id="31" name="Text 26"/>
          <p:cNvSpPr/>
          <p:nvPr/>
        </p:nvSpPr>
        <p:spPr>
          <a:xfrm>
            <a:off x="914400" y="3637508"/>
            <a:ext cx="7848600" cy="839986"/>
          </a:xfrm>
          <a:prstGeom prst="roundRect">
            <a:avLst>
              <a:gd name="adj" fmla="val 11339"/>
            </a:avLst>
          </a:prstGeom>
          <a:solidFill>
            <a:srgbClr val="2525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7"/>
          <p:cNvSpPr/>
          <p:nvPr/>
        </p:nvSpPr>
        <p:spPr>
          <a:xfrm>
            <a:off x="1047750" y="3770858"/>
            <a:ext cx="773353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 riceve cosa?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1047750" y="4026098"/>
            <a:ext cx="244830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👩 Alice (sender)</a:t>
            </a:r>
            <a:endParaRPr lang="en-US" sz="825" dirty="0"/>
          </a:p>
        </p:txBody>
      </p:sp>
      <p:sp>
        <p:nvSpPr>
          <p:cNvPr id="34" name="Text 29"/>
          <p:cNvSpPr/>
          <p:nvPr/>
        </p:nvSpPr>
        <p:spPr>
          <a:xfrm>
            <a:off x="1047750" y="4210794"/>
            <a:ext cx="24483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8B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Confirmation + Broadcast + Events</a:t>
            </a:r>
            <a:endParaRPr lang="en-US" sz="750" dirty="0"/>
          </a:p>
        </p:txBody>
      </p:sp>
      <p:sp>
        <p:nvSpPr>
          <p:cNvPr id="35" name="Text 30"/>
          <p:cNvSpPr/>
          <p:nvPr/>
        </p:nvSpPr>
        <p:spPr>
          <a:xfrm>
            <a:off x="3638550" y="4026098"/>
            <a:ext cx="244830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👨 Bob (online)</a:t>
            </a:r>
            <a:endParaRPr lang="en-US" sz="825" dirty="0"/>
          </a:p>
        </p:txBody>
      </p:sp>
      <p:sp>
        <p:nvSpPr>
          <p:cNvPr id="36" name="Text 31"/>
          <p:cNvSpPr/>
          <p:nvPr/>
        </p:nvSpPr>
        <p:spPr>
          <a:xfrm>
            <a:off x="3638550" y="4210794"/>
            <a:ext cx="24483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8B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/ ✅ Broadcast + Events</a:t>
            </a:r>
            <a:endParaRPr lang="en-US" sz="750" dirty="0"/>
          </a:p>
        </p:txBody>
      </p:sp>
      <p:sp>
        <p:nvSpPr>
          <p:cNvPr id="37" name="Text 32"/>
          <p:cNvSpPr/>
          <p:nvPr/>
        </p:nvSpPr>
        <p:spPr>
          <a:xfrm>
            <a:off x="6229350" y="4026098"/>
            <a:ext cx="244830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Charlie (offline)</a:t>
            </a:r>
            <a:endParaRPr lang="en-US" sz="825" dirty="0"/>
          </a:p>
        </p:txBody>
      </p:sp>
      <p:sp>
        <p:nvSpPr>
          <p:cNvPr id="38" name="Text 33"/>
          <p:cNvSpPr/>
          <p:nvPr/>
        </p:nvSpPr>
        <p:spPr>
          <a:xfrm>
            <a:off x="6229350" y="4210794"/>
            <a:ext cx="24483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8B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/ ❌ / ✅ Solo Events (recovery)</a:t>
            </a:r>
            <a:endParaRPr lang="en-US" sz="750" dirty="0"/>
          </a:p>
        </p:txBody>
      </p:sp>
      <p:sp>
        <p:nvSpPr>
          <p:cNvPr id="39" name="Text 34"/>
          <p:cNvSpPr/>
          <p:nvPr/>
        </p:nvSpPr>
        <p:spPr>
          <a:xfrm>
            <a:off x="914400" y="4610844"/>
            <a:ext cx="7848600" cy="356146"/>
          </a:xfrm>
          <a:prstGeom prst="roundRect">
            <a:avLst>
              <a:gd name="adj" fmla="val 21396"/>
            </a:avLst>
          </a:prstGeom>
          <a:solidFill>
            <a:srgbClr val="22C55E">
              <a:alpha val="15000"/>
            </a:srgbClr>
          </a:solidFill>
          <a:ln w="9525">
            <a:solidFill>
              <a:srgbClr val="22C5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5"/>
          <p:cNvSpPr/>
          <p:nvPr/>
        </p:nvSpPr>
        <p:spPr>
          <a:xfrm>
            <a:off x="1057275" y="4715619"/>
            <a:ext cx="771410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</a:t>
            </a:r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Garanzia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anche se broadcast fallisce, il messaggio arriva via user_events al reconnect</a:t>
            </a:r>
            <a:endParaRPr lang="en-US" sz="8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6250" y="22860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Schema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76250" y="1795463"/>
            <a:ext cx="4029075" cy="523875"/>
          </a:xfrm>
          <a:prstGeom prst="roundRect">
            <a:avLst>
              <a:gd name="adj" fmla="val 14545"/>
            </a:avLst>
          </a:prstGeom>
          <a:solidFill>
            <a:srgbClr val="2525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90538" y="1795463"/>
            <a:ext cx="0" cy="523875"/>
          </a:xfrm>
          <a:prstGeom prst="line">
            <a:avLst/>
          </a:prstGeom>
          <a:noFill/>
          <a:ln w="28575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9125" y="1890713"/>
            <a:ext cx="38473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F9731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users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619125" y="2090738"/>
            <a:ext cx="38473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B8B8D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id, username, pass_hash, created_at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76250" y="2414588"/>
            <a:ext cx="4029075" cy="523875"/>
          </a:xfrm>
          <a:prstGeom prst="roundRect">
            <a:avLst>
              <a:gd name="adj" fmla="val 14545"/>
            </a:avLst>
          </a:prstGeom>
          <a:solidFill>
            <a:srgbClr val="2525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90538" y="2414588"/>
            <a:ext cx="0" cy="523875"/>
          </a:xfrm>
          <a:prstGeom prst="line">
            <a:avLst/>
          </a:prstGeom>
          <a:noFill/>
          <a:ln w="28575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9125" y="2509838"/>
            <a:ext cx="38473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3B82F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conversations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619125" y="2709863"/>
            <a:ext cx="38473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B8B8D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id, kind ('dm'/'group'), title, owner_id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76250" y="3033713"/>
            <a:ext cx="4029075" cy="523875"/>
          </a:xfrm>
          <a:prstGeom prst="roundRect">
            <a:avLst>
              <a:gd name="adj" fmla="val 14545"/>
            </a:avLst>
          </a:prstGeom>
          <a:solidFill>
            <a:srgbClr val="2525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90538" y="3033713"/>
            <a:ext cx="0" cy="523875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9125" y="3128963"/>
            <a:ext cx="38473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22C55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participants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619125" y="3328988"/>
            <a:ext cx="38473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B8B8D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conv_id, user_id, role, last_read_seq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638675" y="1795463"/>
            <a:ext cx="4029075" cy="523875"/>
          </a:xfrm>
          <a:prstGeom prst="roundRect">
            <a:avLst>
              <a:gd name="adj" fmla="val 14545"/>
            </a:avLst>
          </a:prstGeom>
          <a:solidFill>
            <a:srgbClr val="2525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652963" y="1795463"/>
            <a:ext cx="0" cy="523875"/>
          </a:xfrm>
          <a:prstGeom prst="line">
            <a:avLst/>
          </a:prstGeom>
          <a:noFill/>
          <a:ln w="28575">
            <a:solidFill>
              <a:srgbClr val="A855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1550" y="1890713"/>
            <a:ext cx="38473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A855F7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messages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4781550" y="2090738"/>
            <a:ext cx="38473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B8B8D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id, conv_id, author_id, content, seq_num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638675" y="2414588"/>
            <a:ext cx="4029075" cy="523875"/>
          </a:xfrm>
          <a:prstGeom prst="roundRect">
            <a:avLst>
              <a:gd name="adj" fmla="val 14545"/>
            </a:avLst>
          </a:prstGeom>
          <a:solidFill>
            <a:srgbClr val="2525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652963" y="2414588"/>
            <a:ext cx="0" cy="523875"/>
          </a:xfrm>
          <a:prstGeom prst="line">
            <a:avLst/>
          </a:prstGeom>
          <a:noFill/>
          <a:ln w="28575">
            <a:solidFill>
              <a:srgbClr val="EC48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81550" y="2509838"/>
            <a:ext cx="38473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EC489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user_events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4781550" y="2709863"/>
            <a:ext cx="38473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B8B8D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user_id, seq_num, event_type, event_data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638675" y="3033713"/>
            <a:ext cx="4029075" cy="523875"/>
          </a:xfrm>
          <a:prstGeom prst="roundRect">
            <a:avLst>
              <a:gd name="adj" fmla="val 14545"/>
            </a:avLst>
          </a:prstGeom>
          <a:solidFill>
            <a:srgbClr val="2525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652963" y="3033713"/>
            <a:ext cx="0" cy="523875"/>
          </a:xfrm>
          <a:prstGeom prst="line">
            <a:avLst/>
          </a:prstGeom>
          <a:noFill/>
          <a:ln w="28575">
            <a:solidFill>
              <a:srgbClr val="EAB30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81550" y="3128963"/>
            <a:ext cx="38473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EAB30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invites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4781550" y="3328988"/>
            <a:ext cx="38473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B8B8D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conv_id, token, expires_at, used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76250" y="4267349"/>
            <a:ext cx="2654350" cy="495151"/>
          </a:xfrm>
          <a:prstGeom prst="roundRect">
            <a:avLst>
              <a:gd name="adj" fmla="val 11542"/>
            </a:avLst>
          </a:prstGeom>
          <a:solidFill>
            <a:srgbClr val="1A1A2E"/>
          </a:solidFill>
          <a:ln w="9525">
            <a:solidFill>
              <a:srgbClr val="3D3D5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56577" y="4372124"/>
            <a:ext cx="249369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+ WAL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556577" y="4537770"/>
            <a:ext cx="249369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8B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~5K writes/s</a:t>
            </a:r>
            <a:endParaRPr lang="en-US" sz="675" dirty="0"/>
          </a:p>
        </p:txBody>
      </p:sp>
      <p:sp>
        <p:nvSpPr>
          <p:cNvPr id="31" name="Text 29"/>
          <p:cNvSpPr/>
          <p:nvPr/>
        </p:nvSpPr>
        <p:spPr>
          <a:xfrm>
            <a:off x="3244900" y="4267349"/>
            <a:ext cx="2654350" cy="495151"/>
          </a:xfrm>
          <a:prstGeom prst="roundRect">
            <a:avLst>
              <a:gd name="adj" fmla="val 11542"/>
            </a:avLst>
          </a:prstGeom>
          <a:solidFill>
            <a:srgbClr val="1A1A2E"/>
          </a:solidFill>
          <a:ln w="9525">
            <a:solidFill>
              <a:srgbClr val="3D3D5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3325227" y="4372124"/>
            <a:ext cx="249369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CASCADE Delete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3325227" y="4537770"/>
            <a:ext cx="249369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8B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Integrità referenziale</a:t>
            </a:r>
            <a:endParaRPr lang="en-US" sz="675" dirty="0"/>
          </a:p>
        </p:txBody>
      </p:sp>
      <p:sp>
        <p:nvSpPr>
          <p:cNvPr id="34" name="Text 32"/>
          <p:cNvSpPr/>
          <p:nvPr/>
        </p:nvSpPr>
        <p:spPr>
          <a:xfrm>
            <a:off x="6013549" y="4267349"/>
            <a:ext cx="2654350" cy="495151"/>
          </a:xfrm>
          <a:prstGeom prst="roundRect">
            <a:avLst>
              <a:gd name="adj" fmla="val 11542"/>
            </a:avLst>
          </a:prstGeom>
          <a:solidFill>
            <a:srgbClr val="1A1A2E"/>
          </a:solidFill>
          <a:ln w="9525">
            <a:solidFill>
              <a:srgbClr val="3D3D5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093876" y="4372124"/>
            <a:ext cx="249369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Sequences</a:t>
            </a:r>
            <a:endParaRPr lang="en-US" sz="825" dirty="0"/>
          </a:p>
        </p:txBody>
      </p:sp>
      <p:sp>
        <p:nvSpPr>
          <p:cNvPr id="36" name="Text 34"/>
          <p:cNvSpPr/>
          <p:nvPr/>
        </p:nvSpPr>
        <p:spPr>
          <a:xfrm>
            <a:off x="6093876" y="4537770"/>
            <a:ext cx="249369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8B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detection</a:t>
            </a:r>
            <a:endParaRPr lang="en-US" sz="6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266700"/>
            <a:ext cx="418738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Codice: ConnectionActor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476250" y="958155"/>
            <a:ext cx="8191500" cy="1123950"/>
          </a:xfrm>
          <a:prstGeom prst="roundRect">
            <a:avLst>
              <a:gd name="adj" fmla="val 8475"/>
            </a:avLst>
          </a:prstGeom>
          <a:solidFill>
            <a:srgbClr val="0D0D1A"/>
          </a:solidFill>
          <a:ln w="9525">
            <a:solidFill>
              <a:srgbClr val="3D3D5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76275" y="1120080"/>
            <a:ext cx="79472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(ws_tx, ws_rx) = socket.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();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76275" y="1386780"/>
            <a:ext cx="79472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(stop_tx, stop_rx) = 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watch::channel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);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76275" y="1653480"/>
            <a:ext cx="79472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(out_tx, out_rx) = 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mpsc::channel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AB3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1024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);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76250" y="2215455"/>
            <a:ext cx="8191500" cy="1657350"/>
          </a:xfrm>
          <a:prstGeom prst="roundRect">
            <a:avLst>
              <a:gd name="adj" fmla="val 5747"/>
            </a:avLst>
          </a:prstGeom>
          <a:solidFill>
            <a:srgbClr val="0D0D1A"/>
          </a:solidFill>
          <a:ln w="9525">
            <a:solidFill>
              <a:srgbClr val="3D3D5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76275" y="2377380"/>
            <a:ext cx="79472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select!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{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76275" y="2644080"/>
            <a:ext cx="7947279" cy="266700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 = reader =&gt; { stop_tx.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); recv.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abort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(); }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76275" y="2910780"/>
            <a:ext cx="7947279" cy="266700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 = receiver =&gt; { reader.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abort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(); ... }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76275" y="3177480"/>
            <a:ext cx="7947279" cy="266700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 = writer =&gt; { ... }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76275" y="3444180"/>
            <a:ext cx="79472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}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6250" y="4006155"/>
            <a:ext cx="2654350" cy="560040"/>
          </a:xfrm>
          <a:prstGeom prst="roundRect">
            <a:avLst>
              <a:gd name="adj" fmla="val 13606"/>
            </a:avLst>
          </a:prstGeom>
          <a:solidFill>
            <a:srgbClr val="2525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90538" y="4006155"/>
            <a:ext cx="0" cy="560040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9125" y="4120455"/>
            <a:ext cx="244511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select! macro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19125" y="4318546"/>
            <a:ext cx="244511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8B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Primo task a completare vince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244900" y="4006155"/>
            <a:ext cx="2654350" cy="560040"/>
          </a:xfrm>
          <a:prstGeom prst="roundRect">
            <a:avLst>
              <a:gd name="adj" fmla="val 13606"/>
            </a:avLst>
          </a:prstGeom>
          <a:solidFill>
            <a:srgbClr val="2525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3259187" y="4006155"/>
            <a:ext cx="0" cy="560040"/>
          </a:xfrm>
          <a:prstGeom prst="line">
            <a:avLst/>
          </a:prstGeom>
          <a:noFill/>
          <a:ln w="28575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7775" y="4120455"/>
            <a:ext cx="244511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watch::channel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87775" y="4318546"/>
            <a:ext cx="244511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8B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Broadcast stop signal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013549" y="4006155"/>
            <a:ext cx="2654350" cy="560040"/>
          </a:xfrm>
          <a:prstGeom prst="roundRect">
            <a:avLst>
              <a:gd name="adj" fmla="val 13606"/>
            </a:avLst>
          </a:prstGeom>
          <a:solidFill>
            <a:srgbClr val="2525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6027837" y="4006155"/>
            <a:ext cx="0" cy="560040"/>
          </a:xfrm>
          <a:prstGeom prst="line">
            <a:avLst/>
          </a:prstGeom>
          <a:noFill/>
          <a:ln w="28575">
            <a:solidFill>
              <a:srgbClr val="A855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56424" y="4120455"/>
            <a:ext cx="244511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mpsc bounded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156424" y="4318546"/>
            <a:ext cx="244511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8B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Backpressure 1024 msg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266700"/>
            <a:ext cx="418738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Codice: Broadcast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476250" y="1291530"/>
            <a:ext cx="408051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Double-checked locking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76250" y="1546771"/>
            <a:ext cx="4000500" cy="2686050"/>
          </a:xfrm>
          <a:prstGeom prst="roundRect">
            <a:avLst>
              <a:gd name="adj" fmla="val 3546"/>
            </a:avLst>
          </a:prstGeom>
          <a:solidFill>
            <a:srgbClr val="0D0D1A"/>
          </a:solidFill>
          <a:ln w="9525">
            <a:solidFill>
              <a:srgbClr val="3D3D5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9125" y="1689646"/>
            <a:ext cx="378904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8B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Fast path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19125" y="1956346"/>
            <a:ext cx="378904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channels.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().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await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19125" y="2223046"/>
            <a:ext cx="378904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let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Some(tx) = get(&amp;id)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19125" y="2489746"/>
            <a:ext cx="3789045" cy="266700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tx.clone()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19125" y="2756446"/>
            <a:ext cx="378904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8B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Slow path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19125" y="3023146"/>
            <a:ext cx="378904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channels.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().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await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19125" y="3289846"/>
            <a:ext cx="378904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.entry(id).or_insert(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19125" y="3556546"/>
            <a:ext cx="3789045" cy="266700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broadcast::channel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AB3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1024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19125" y="3823246"/>
            <a:ext cx="378904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67250" y="1158180"/>
            <a:ext cx="408051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broadcast_to_conversation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67250" y="1413421"/>
            <a:ext cx="4000500" cy="2952750"/>
          </a:xfrm>
          <a:prstGeom prst="roundRect">
            <a:avLst>
              <a:gd name="adj" fmla="val 3226"/>
            </a:avLst>
          </a:prstGeom>
          <a:solidFill>
            <a:srgbClr val="0D0D1A"/>
          </a:solidFill>
          <a:ln w="9525">
            <a:solidFill>
              <a:srgbClr val="3D3D5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10125" y="1556296"/>
            <a:ext cx="378904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tx.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(payload) {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10125" y="1822996"/>
            <a:ext cx="3789045" cy="266700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(n) =&gt; {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810125" y="2089696"/>
            <a:ext cx="3789045" cy="266700"/>
          </a:xfrm>
          <a:prstGeom prst="rect">
            <a:avLst/>
          </a:prstGeom>
          <a:noFill/>
          <a:ln/>
        </p:spPr>
        <p:txBody>
          <a:bodyPr wrap="square" lIns="30480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8B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n receivers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10125" y="2356396"/>
            <a:ext cx="3789045" cy="266700"/>
          </a:xfrm>
          <a:prstGeom prst="rect">
            <a:avLst/>
          </a:prstGeom>
          <a:noFill/>
          <a:ln/>
        </p:spPr>
        <p:txBody>
          <a:bodyPr wrap="square" lIns="30480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(n)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810125" y="2623096"/>
            <a:ext cx="3789045" cy="266700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}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810125" y="2889796"/>
            <a:ext cx="3789045" cy="266700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(_) =&gt; {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810125" y="3156496"/>
            <a:ext cx="3789045" cy="266700"/>
          </a:xfrm>
          <a:prstGeom prst="rect">
            <a:avLst/>
          </a:prstGeom>
          <a:noFill/>
          <a:ln/>
        </p:spPr>
        <p:txBody>
          <a:bodyPr wrap="square" lIns="30480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8B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Not error!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810125" y="3423196"/>
            <a:ext cx="3789045" cy="266700"/>
          </a:xfrm>
          <a:prstGeom prst="rect">
            <a:avLst/>
          </a:prstGeom>
          <a:noFill/>
          <a:ln/>
        </p:spPr>
        <p:txBody>
          <a:bodyPr wrap="square" lIns="30480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810125" y="3689896"/>
            <a:ext cx="3789045" cy="266700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}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810125" y="3956596"/>
            <a:ext cx="378904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}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76250" y="4501604"/>
            <a:ext cx="8191500" cy="356146"/>
          </a:xfrm>
          <a:prstGeom prst="roundRect">
            <a:avLst>
              <a:gd name="adj" fmla="val 21396"/>
            </a:avLst>
          </a:prstGeom>
          <a:solidFill>
            <a:srgbClr val="22C55E">
              <a:alpha val="10000"/>
            </a:srgbClr>
          </a:solidFill>
          <a:ln w="9525">
            <a:solidFill>
              <a:srgbClr val="22C5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01206" y="4606379"/>
            <a:ext cx="814158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receivers non e' errore: user_events garantisce delivery</a:t>
            </a:r>
            <a:endParaRPr lang="en-US" sz="8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228600"/>
            <a:ext cx="418738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Architettura a Layer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71500" y="571500"/>
            <a:ext cx="835533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8B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Separazione delle responsabilità</a:t>
            </a:r>
            <a:endParaRPr lang="en-US" sz="900" dirty="0"/>
          </a:p>
        </p:txBody>
      </p:sp>
      <p:pic>
        <p:nvPicPr>
          <p:cNvPr id="5" name="Image 0" descr="/tmp/rasterized-gradient-a404bae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933004"/>
            <a:ext cx="8001000" cy="63415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9058" y="1066354"/>
            <a:ext cx="2340069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Points (Axum Routes)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39058" y="1287214"/>
            <a:ext cx="23400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0000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routing • WebSocket upgrade • Middleware</a:t>
            </a:r>
            <a:endParaRPr lang="en-US" sz="825" dirty="0"/>
          </a:p>
        </p:txBody>
      </p:sp>
      <p:sp>
        <p:nvSpPr>
          <p:cNvPr id="8" name="Text 5"/>
          <p:cNvSpPr/>
          <p:nvPr/>
        </p:nvSpPr>
        <p:spPr>
          <a:xfrm>
            <a:off x="6203603" y="1126182"/>
            <a:ext cx="2178397" cy="247650"/>
          </a:xfrm>
          <a:prstGeom prst="roundRect">
            <a:avLst>
              <a:gd name="adj" fmla="val 23077"/>
            </a:avLst>
          </a:prstGeom>
          <a:solidFill>
            <a:srgbClr val="000000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298405" y="1183332"/>
            <a:ext cx="1988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A1A2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/ws • /auth/login • /auth/register</a:t>
            </a:r>
            <a:endParaRPr lang="en-US" sz="750" dirty="0"/>
          </a:p>
        </p:txBody>
      </p:sp>
      <p:pic>
        <p:nvPicPr>
          <p:cNvPr id="10" name="Image 1" descr="/tmp/rasterized-gradient-057936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757660"/>
            <a:ext cx="8001000" cy="63415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9892" y="1891010"/>
            <a:ext cx="2255059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 Handler Layer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739892" y="2111871"/>
            <a:ext cx="22550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ConnectionActor • Message routing • Broadcast</a:t>
            </a:r>
            <a:endParaRPr lang="en-US" sz="825" dirty="0"/>
          </a:p>
        </p:txBody>
      </p:sp>
      <p:sp>
        <p:nvSpPr>
          <p:cNvPr id="13" name="Text 9"/>
          <p:cNvSpPr/>
          <p:nvPr/>
        </p:nvSpPr>
        <p:spPr>
          <a:xfrm>
            <a:off x="6088856" y="1950839"/>
            <a:ext cx="2293144" cy="247650"/>
          </a:xfrm>
          <a:prstGeom prst="roundRect">
            <a:avLst>
              <a:gd name="adj" fmla="val 23077"/>
            </a:avLst>
          </a:prstGeom>
          <a:solidFill>
            <a:srgbClr val="000000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6182511" y="2007989"/>
            <a:ext cx="210583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actor.rs • handlers/* • broadcast.rs</a:t>
            </a:r>
            <a:endParaRPr lang="en-US" sz="750" dirty="0"/>
          </a:p>
        </p:txBody>
      </p:sp>
      <p:pic>
        <p:nvPicPr>
          <p:cNvPr id="15" name="Image 2" descr="/tmp/rasterized-gradient-c161845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82317"/>
            <a:ext cx="8001000" cy="63415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37464" y="2715667"/>
            <a:ext cx="2502652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Layer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737464" y="2936528"/>
            <a:ext cx="25026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0000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logic • Validation • Transaction coordination</a:t>
            </a:r>
            <a:endParaRPr lang="en-US" sz="825" dirty="0"/>
          </a:p>
        </p:txBody>
      </p:sp>
      <p:sp>
        <p:nvSpPr>
          <p:cNvPr id="18" name="Text 13"/>
          <p:cNvSpPr/>
          <p:nvPr/>
        </p:nvSpPr>
        <p:spPr>
          <a:xfrm>
            <a:off x="5286077" y="2775496"/>
            <a:ext cx="3095923" cy="247650"/>
          </a:xfrm>
          <a:prstGeom prst="roundRect">
            <a:avLst>
              <a:gd name="adj" fmla="val 23077"/>
            </a:avLst>
          </a:prstGeom>
          <a:solidFill>
            <a:srgbClr val="000000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5371704" y="2832646"/>
            <a:ext cx="29246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A1A2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MessageService • ConversationService • UserService</a:t>
            </a:r>
            <a:endParaRPr lang="en-US" sz="750" dirty="0"/>
          </a:p>
        </p:txBody>
      </p:sp>
      <p:pic>
        <p:nvPicPr>
          <p:cNvPr id="20" name="Image 3" descr="/tmp/rasterized-gradient-d5ff3c2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406973"/>
            <a:ext cx="8001000" cy="63415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36805" y="3540323"/>
            <a:ext cx="2569902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 Layer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736805" y="3761184"/>
            <a:ext cx="256990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abstraction • SQL queries • Type conversion</a:t>
            </a:r>
            <a:endParaRPr lang="en-US" sz="825" dirty="0"/>
          </a:p>
        </p:txBody>
      </p:sp>
      <p:sp>
        <p:nvSpPr>
          <p:cNvPr id="23" name="Text 17"/>
          <p:cNvSpPr/>
          <p:nvPr/>
        </p:nvSpPr>
        <p:spPr>
          <a:xfrm>
            <a:off x="5802213" y="3600152"/>
            <a:ext cx="2579787" cy="247650"/>
          </a:xfrm>
          <a:prstGeom prst="roundRect">
            <a:avLst>
              <a:gd name="adj" fmla="val 23077"/>
            </a:avLst>
          </a:prstGeom>
          <a:solidFill>
            <a:srgbClr val="000000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18"/>
          <p:cNvSpPr/>
          <p:nvPr/>
        </p:nvSpPr>
        <p:spPr>
          <a:xfrm>
            <a:off x="5893001" y="3657302"/>
            <a:ext cx="23982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MessageRepo • ConversationRepo • UserRepo</a:t>
            </a:r>
            <a:endParaRPr lang="en-US" sz="750" dirty="0"/>
          </a:p>
        </p:txBody>
      </p:sp>
      <p:sp>
        <p:nvSpPr>
          <p:cNvPr id="25" name="Text 19"/>
          <p:cNvSpPr/>
          <p:nvPr/>
        </p:nvSpPr>
        <p:spPr>
          <a:xfrm>
            <a:off x="571500" y="4231630"/>
            <a:ext cx="8001000" cy="672257"/>
          </a:xfrm>
          <a:prstGeom prst="roundRect">
            <a:avLst>
              <a:gd name="adj" fmla="val 14169"/>
            </a:avLst>
          </a:prstGeom>
          <a:solidFill>
            <a:srgbClr val="252538"/>
          </a:solidFill>
          <a:ln w="19050">
            <a:solidFill>
              <a:srgbClr val="3D3D5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0"/>
          <p:cNvSpPr/>
          <p:nvPr/>
        </p:nvSpPr>
        <p:spPr>
          <a:xfrm>
            <a:off x="760963" y="4384030"/>
            <a:ext cx="2048908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(SQLite + WAL)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760963" y="4604891"/>
            <a:ext cx="204890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8B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Tables • Indexes • Constraints • Sequences</a:t>
            </a:r>
            <a:endParaRPr lang="en-US" sz="825" dirty="0"/>
          </a:p>
        </p:txBody>
      </p:sp>
      <p:sp>
        <p:nvSpPr>
          <p:cNvPr id="28" name="Text 22"/>
          <p:cNvSpPr/>
          <p:nvPr/>
        </p:nvSpPr>
        <p:spPr>
          <a:xfrm>
            <a:off x="5840462" y="4443859"/>
            <a:ext cx="2522488" cy="247650"/>
          </a:xfrm>
          <a:prstGeom prst="roundRect">
            <a:avLst>
              <a:gd name="adj" fmla="val 23077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3"/>
          <p:cNvSpPr/>
          <p:nvPr/>
        </p:nvSpPr>
        <p:spPr>
          <a:xfrm>
            <a:off x="5931823" y="4501009"/>
            <a:ext cx="23397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8B8BA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SQLx async driver • Compile-time checked</a:t>
            </a:r>
            <a:endParaRPr lang="en-US" sz="750" dirty="0"/>
          </a:p>
        </p:txBody>
      </p:sp>
      <p:sp>
        <p:nvSpPr>
          <p:cNvPr id="30" name="Text 24"/>
          <p:cNvSpPr/>
          <p:nvPr/>
        </p:nvSpPr>
        <p:spPr>
          <a:xfrm>
            <a:off x="552641" y="4781550"/>
            <a:ext cx="19236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Testabilità</a:t>
            </a:r>
            <a:endParaRPr lang="en-US" sz="750" dirty="0"/>
          </a:p>
        </p:txBody>
      </p:sp>
      <p:sp>
        <p:nvSpPr>
          <p:cNvPr id="31" name="Text 25"/>
          <p:cNvSpPr/>
          <p:nvPr/>
        </p:nvSpPr>
        <p:spPr>
          <a:xfrm>
            <a:off x="2590991" y="4781550"/>
            <a:ext cx="19236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Manutenibilità</a:t>
            </a:r>
            <a:endParaRPr lang="en-US" sz="750" dirty="0"/>
          </a:p>
        </p:txBody>
      </p:sp>
      <p:sp>
        <p:nvSpPr>
          <p:cNvPr id="32" name="Text 26"/>
          <p:cNvSpPr/>
          <p:nvPr/>
        </p:nvSpPr>
        <p:spPr>
          <a:xfrm>
            <a:off x="4629341" y="4781550"/>
            <a:ext cx="19236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Scalabilità</a:t>
            </a:r>
            <a:endParaRPr lang="en-US" sz="750" dirty="0"/>
          </a:p>
        </p:txBody>
      </p:sp>
      <p:sp>
        <p:nvSpPr>
          <p:cNvPr id="33" name="Text 27"/>
          <p:cNvSpPr/>
          <p:nvPr/>
        </p:nvSpPr>
        <p:spPr>
          <a:xfrm>
            <a:off x="6667691" y="4781550"/>
            <a:ext cx="19236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Riusabilità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6250" y="228600"/>
            <a:ext cx="476059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&amp; Error Handling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476250" y="1074539"/>
            <a:ext cx="4061079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TARGETS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6250" y="1390650"/>
            <a:ext cx="3981450" cy="1057275"/>
          </a:xfrm>
          <a:prstGeom prst="roundRect">
            <a:avLst>
              <a:gd name="adj" fmla="val 9009"/>
            </a:avLst>
          </a:prstGeom>
          <a:solidFill>
            <a:srgbClr val="2525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1524000"/>
            <a:ext cx="37890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Latency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476250" y="2581275"/>
            <a:ext cx="3981450" cy="1057275"/>
          </a:xfrm>
          <a:prstGeom prst="roundRect">
            <a:avLst>
              <a:gd name="adj" fmla="val 9009"/>
            </a:avLst>
          </a:prstGeom>
          <a:solidFill>
            <a:srgbClr val="2525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714625"/>
            <a:ext cx="37890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Throughput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476250" y="3771900"/>
            <a:ext cx="3981450" cy="868561"/>
          </a:xfrm>
          <a:prstGeom prst="roundRect">
            <a:avLst>
              <a:gd name="adj" fmla="val 10966"/>
            </a:avLst>
          </a:prstGeom>
          <a:solidFill>
            <a:srgbClr val="2525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09600" y="3905250"/>
            <a:ext cx="37890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💾 Memory per Channel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609600" y="4143375"/>
            <a:ext cx="378904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~100KB (1KB struct + 1024 slots × ~100 bytes)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09600" y="4360515"/>
            <a:ext cx="378904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8B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Zero-copy broadcast con Arc&lt;T&gt;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4686300" y="712738"/>
            <a:ext cx="4061079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HANDLING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86300" y="1028849"/>
            <a:ext cx="3981450" cy="1019175"/>
          </a:xfrm>
          <a:prstGeom prst="roundRect">
            <a:avLst>
              <a:gd name="adj" fmla="val 9346"/>
            </a:avLst>
          </a:prstGeom>
          <a:solidFill>
            <a:srgbClr val="2525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19650" y="1162199"/>
            <a:ext cx="37890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Timeout Everywhere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4686300" y="2181374"/>
            <a:ext cx="3981450" cy="1099096"/>
          </a:xfrm>
          <a:prstGeom prst="roundRect">
            <a:avLst>
              <a:gd name="adj" fmla="val 8666"/>
            </a:avLst>
          </a:prstGeom>
          <a:solidFill>
            <a:srgbClr val="2525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19650" y="2314724"/>
            <a:ext cx="37890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Retry Logic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4819650" y="2552849"/>
            <a:ext cx="378904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</a:t>
            </a:r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failures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consecutivi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19650" y="2769989"/>
            <a:ext cx="378904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Reset counter su successo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19650" y="2987129"/>
            <a:ext cx="378904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Graceful close dopo limit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86300" y="3413820"/>
            <a:ext cx="3981450" cy="1099096"/>
          </a:xfrm>
          <a:prstGeom prst="roundRect">
            <a:avLst>
              <a:gd name="adj" fmla="val 8666"/>
            </a:avLst>
          </a:prstGeom>
          <a:solidFill>
            <a:srgbClr val="2525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819650" y="3547170"/>
            <a:ext cx="37890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Graceful Shutdown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4819650" y="3785295"/>
            <a:ext cx="378904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watch::channel per broadcast stop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19650" y="4002435"/>
            <a:ext cx="378904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Cleanup automatico risorse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19650" y="4219575"/>
            <a:ext cx="378904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Grace period </a:t>
            </a:r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minuti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686300" y="4646265"/>
            <a:ext cx="3981450" cy="356146"/>
          </a:xfrm>
          <a:prstGeom prst="roundRect">
            <a:avLst>
              <a:gd name="adj" fmla="val 21396"/>
            </a:avLst>
          </a:prstGeom>
          <a:solidFill>
            <a:srgbClr val="1A1A2E"/>
          </a:solidFill>
          <a:ln w="9525">
            <a:solidFill>
              <a:srgbClr val="3D3D5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810125" y="4751040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B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🌩️ </a:t>
            </a:r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Anti-thundering herd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B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jitter 0-5s su heartbeat</a:t>
            </a:r>
            <a:endParaRPr lang="en-US" sz="8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6250" y="266700"/>
            <a:ext cx="428453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Conclusioni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476250" y="1647825"/>
            <a:ext cx="406107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 ABBIAMO COSTRUITO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76250" y="1922115"/>
            <a:ext cx="3981450" cy="1802011"/>
          </a:xfrm>
          <a:prstGeom prst="roundRect">
            <a:avLst>
              <a:gd name="adj" fmla="val 5286"/>
            </a:avLst>
          </a:prstGeom>
          <a:solidFill>
            <a:srgbClr val="2525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95300" y="1922115"/>
            <a:ext cx="0" cy="1802011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7700" y="2055465"/>
            <a:ext cx="375018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real-time in Rust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7700" y="2234505"/>
            <a:ext cx="37501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8B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 e gruppi con WebSocket bidirezionale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47700" y="2463105"/>
            <a:ext cx="375018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Actor Model robusto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7700" y="2642146"/>
            <a:ext cx="37501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8B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task concorrenti + graceful shutdown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47700" y="2870746"/>
            <a:ext cx="375018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Dual-Sequence System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7700" y="3049786"/>
            <a:ext cx="37501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8B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Ordering e recovery affidabile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647700" y="3278386"/>
            <a:ext cx="375018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Multi-channel broadcast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7700" y="3457426"/>
            <a:ext cx="37501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8B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Triple path per zero message loss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686300" y="1499443"/>
            <a:ext cx="406107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SVILUPPI FUTURI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686300" y="1773734"/>
            <a:ext cx="3981450" cy="1024533"/>
          </a:xfrm>
          <a:prstGeom prst="roundRect">
            <a:avLst>
              <a:gd name="adj" fmla="val 9297"/>
            </a:avLst>
          </a:prstGeom>
          <a:solidFill>
            <a:srgbClr val="2525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19650" y="1907084"/>
            <a:ext cx="378904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(~10x throughput)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4819650" y="2110829"/>
            <a:ext cx="378904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Pub/Sub per multi-server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4819650" y="2314575"/>
            <a:ext cx="378904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Reactions, threads, typing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4819650" y="2518321"/>
            <a:ext cx="378904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B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encryption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4686300" y="2912566"/>
            <a:ext cx="406107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TECNOLOGIE APPRESE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686300" y="3186857"/>
            <a:ext cx="3981450" cy="685800"/>
          </a:xfrm>
          <a:prstGeom prst="roundRect">
            <a:avLst>
              <a:gd name="adj" fmla="val 13889"/>
            </a:avLst>
          </a:prstGeom>
          <a:solidFill>
            <a:srgbClr val="2525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94335" y="4400699"/>
            <a:ext cx="835533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Grazie per l'attenzione!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394335" y="4697760"/>
            <a:ext cx="835533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dirty="0">
                <a:solidFill>
                  <a:srgbClr val="8B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Domande?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Ruggine Chat - Sistema di Messaggistica Real-Time in Rust</dc:title>
  <dc:subject>Progetto Universitario</dc:subject>
  <dc:creator>Gruppo G39</dc:creator>
  <cp:lastModifiedBy>Gruppo G39</cp:lastModifiedBy>
  <cp:revision>1</cp:revision>
  <dcterms:created xsi:type="dcterms:W3CDTF">2025-11-30T20:09:19Z</dcterms:created>
  <dcterms:modified xsi:type="dcterms:W3CDTF">2025-11-30T20:09:19Z</dcterms:modified>
</cp:coreProperties>
</file>