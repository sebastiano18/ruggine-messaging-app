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5" r:id="rId3"/>
    <p:sldId id="257" r:id="rId4"/>
    <p:sldId id="273" r:id="rId5"/>
    <p:sldId id="258" r:id="rId6"/>
    <p:sldId id="266" r:id="rId7"/>
    <p:sldId id="270" r:id="rId8"/>
    <p:sldId id="262" r:id="rId9"/>
    <p:sldId id="271" r:id="rId10"/>
    <p:sldId id="261" r:id="rId11"/>
    <p:sldId id="259" r:id="rId12"/>
    <p:sldId id="260" r:id="rId13"/>
    <p:sldId id="263" r:id="rId14"/>
    <p:sldId id="267" r:id="rId15"/>
    <p:sldId id="274" r:id="rId16"/>
    <p:sldId id="268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E28"/>
    <a:srgbClr val="303854"/>
    <a:srgbClr val="14212E"/>
    <a:srgbClr val="1C152D"/>
    <a:srgbClr val="101C32"/>
    <a:srgbClr val="1A1A2E"/>
    <a:srgbClr val="FF66CC"/>
    <a:srgbClr val="FF99FF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835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alla presentazione di Ruggine Chat, un sistema di messaggistica real-time sviluppato in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D3057-DE83-9F31-BBF7-63EE2DF4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EDA717-018E-78B1-2371-E46AE86F5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A84AC-C446-95D3-4E3B-0B7CE2E92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Ruggine Chat è un'applicazione completa con server e client, costruita con tecnologie moderne e performanti.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21E98-943D-C3E2-75EC-93AE3AE324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696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Ruggine Chat è un'applicazione completa con server e client, costruita con tecnologie moderne e performanti.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si basa su WebSocket per comunicazione real-time, con un Actor Model per gestire le connessioni.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a layer separa chiaramente le responsabilità: Entry Points, Handler, Service,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C8C3-8F4B-3821-22C5-100D91DBC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8114E1-87CE-8610-F265-40355A3CD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609B9-6938-5215-4E8A-22EA50DA4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a layer separa chiaramente le responsabilità: Entry Points, Handler, Service, Repository.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7535C-78AD-EDB0-C448-D128FBE00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92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messaggio segue tre path: conferma al sender, broadcast real-time, e persistenza per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8FA02-A8A8-FD3B-E75B-F1C20B4D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98E973-C857-19EC-29B0-3B56A153A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D2AE-624C-A0B9-C46C-791536C3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 sistema è il ConnectionActor con 3 task concorrenti: Writer, Reader e Receiver.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E1B9A-A2BF-AB7E-6F84-5C75AFB205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6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dual-sequence system garantisce ordering corretto e permette recovery affidabile dei messaggi.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 sistema è il ConnectionActor con 3 task concorrenti: Writer, Reader e Receiver.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sistema di broadcast opera su due livelli: canali per conversazione e canali per utente.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schema database è ottimizzato con indici strategici e constraint di integrità referenziale.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sistema è progettato per bassa latenza e alto throughput, con error handling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abbiamo costruito un sistema completo che ci ha permesso di apprendere tecnologie avanzate.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142" y="1486423"/>
            <a:ext cx="31671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900"/>
              </a:lnSpc>
              <a:spcAft>
                <a:spcPts val="9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Ruggine Chat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2346695" y="2720003"/>
            <a:ext cx="445061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spcAft>
                <a:spcPts val="2400"/>
              </a:spcAft>
              <a:buNone/>
            </a:pPr>
            <a:r>
              <a:rPr lang="en-US" sz="1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Messaggistica Real-Time in Rust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3850640" y="3148375"/>
            <a:ext cx="1143000" cy="28575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26108" y="3659535"/>
            <a:ext cx="259206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Gruppo G39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4705350"/>
            <a:ext cx="9144000" cy="438150"/>
          </a:xfrm>
          <a:prstGeom prst="rect">
            <a:avLst/>
          </a:prstGeom>
          <a:solidFill>
            <a:srgbClr val="000000">
              <a:alpha val="3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704FC-106C-9839-0048-1D96CB8D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61D6113-26E2-EA20-219E-8BB3CAD7DC7A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4DA564-986C-C35F-1C7D-8BD764C6697A}"/>
              </a:ext>
            </a:extLst>
          </p:cNvPr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Panoramica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Progetto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FF95D6B-C049-AA10-5C1C-FB56518A3EEA}"/>
              </a:ext>
            </a:extLst>
          </p:cNvPr>
          <p:cNvSpPr/>
          <p:nvPr/>
        </p:nvSpPr>
        <p:spPr>
          <a:xfrm>
            <a:off x="4762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E27B4EB-54B6-7FD2-2BB6-767253DE6385}"/>
              </a:ext>
            </a:extLst>
          </p:cNvPr>
          <p:cNvSpPr/>
          <p:nvPr/>
        </p:nvSpPr>
        <p:spPr>
          <a:xfrm>
            <a:off x="495300" y="1648123"/>
            <a:ext cx="0" cy="15311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80F2BB-3D71-7631-FA94-1C3896EC0805}"/>
              </a:ext>
            </a:extLst>
          </p:cNvPr>
          <p:cNvSpPr/>
          <p:nvPr/>
        </p:nvSpPr>
        <p:spPr>
          <a:xfrm>
            <a:off x="704850" y="1838623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COS'È RUGGINE CHAT</a:t>
            </a:r>
            <a:endParaRPr lang="en-US" sz="1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8E90F2B-48D1-0288-AC0D-9451847C7DA9}"/>
              </a:ext>
            </a:extLst>
          </p:cNvPr>
          <p:cNvSpPr/>
          <p:nvPr/>
        </p:nvSpPr>
        <p:spPr>
          <a:xfrm>
            <a:off x="704850" y="2135684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Applicazione di messaggistica </a:t>
            </a: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sviluppata interamente in </a:t>
            </a: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Supporta chat dirette (DM) e conversazioni di gruppo con sincronizzazione affidabile dei messaggi.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ACB33A4-8F7E-2736-8349-49334A0E2C4A}"/>
              </a:ext>
            </a:extLst>
          </p:cNvPr>
          <p:cNvSpPr/>
          <p:nvPr/>
        </p:nvSpPr>
        <p:spPr>
          <a:xfrm>
            <a:off x="4714875" y="1198662"/>
            <a:ext cx="403193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TECNOLOGICO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0C3A903-46F5-1CF0-7B6F-18C9553654F9}"/>
              </a:ext>
            </a:extLst>
          </p:cNvPr>
          <p:cNvSpPr/>
          <p:nvPr/>
        </p:nvSpPr>
        <p:spPr>
          <a:xfrm>
            <a:off x="4714875" y="1472952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EF4AB2-A407-6561-93FB-31E9609BE1BC}"/>
              </a:ext>
            </a:extLst>
          </p:cNvPr>
          <p:cNvSpPr/>
          <p:nvPr/>
        </p:nvSpPr>
        <p:spPr>
          <a:xfrm>
            <a:off x="4831604" y="1606302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🦀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9BD8BCE-6516-B88D-EEB8-BDDF12B247A7}"/>
              </a:ext>
            </a:extLst>
          </p:cNvPr>
          <p:cNvSpPr/>
          <p:nvPr/>
        </p:nvSpPr>
        <p:spPr>
          <a:xfrm>
            <a:off x="4831604" y="1983432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1.70+</a:t>
            </a:r>
            <a:endParaRPr lang="en-US" sz="975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673B389-5F63-B496-47C8-935D22FF9E11}"/>
              </a:ext>
            </a:extLst>
          </p:cNvPr>
          <p:cNvSpPr/>
          <p:nvPr/>
        </p:nvSpPr>
        <p:spPr>
          <a:xfrm>
            <a:off x="4831604" y="2194768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Linguaggio</a:t>
            </a:r>
            <a:endParaRPr lang="en-US" sz="825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0839CAD-5446-3A78-47E9-4F9A022430E8}"/>
              </a:ext>
            </a:extLst>
          </p:cNvPr>
          <p:cNvSpPr/>
          <p:nvPr/>
        </p:nvSpPr>
        <p:spPr>
          <a:xfrm>
            <a:off x="6738938" y="1472952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8C93033-668E-3F06-F62A-624143C4CE35}"/>
              </a:ext>
            </a:extLst>
          </p:cNvPr>
          <p:cNvSpPr/>
          <p:nvPr/>
        </p:nvSpPr>
        <p:spPr>
          <a:xfrm>
            <a:off x="6855666" y="1606302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257229-6F89-534D-C2AE-7C63A2A24C4C}"/>
              </a:ext>
            </a:extLst>
          </p:cNvPr>
          <p:cNvSpPr/>
          <p:nvPr/>
        </p:nvSpPr>
        <p:spPr>
          <a:xfrm>
            <a:off x="6855666" y="1983432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</a:t>
            </a:r>
            <a:endParaRPr lang="en-US" sz="975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02078B3-A479-4BB7-C575-A563093B9FB4}"/>
              </a:ext>
            </a:extLst>
          </p:cNvPr>
          <p:cNvSpPr/>
          <p:nvPr/>
        </p:nvSpPr>
        <p:spPr>
          <a:xfrm>
            <a:off x="6855666" y="2194768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Runtime</a:t>
            </a:r>
            <a:endParaRPr lang="en-US" sz="825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1010786-677E-4FC6-B132-EA009E43C30C}"/>
              </a:ext>
            </a:extLst>
          </p:cNvPr>
          <p:cNvSpPr/>
          <p:nvPr/>
        </p:nvSpPr>
        <p:spPr>
          <a:xfrm>
            <a:off x="4714875" y="2589014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9AF905C-CB61-9AC1-B180-FABD71AA069E}"/>
              </a:ext>
            </a:extLst>
          </p:cNvPr>
          <p:cNvSpPr/>
          <p:nvPr/>
        </p:nvSpPr>
        <p:spPr>
          <a:xfrm>
            <a:off x="4831604" y="2722364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BC9379C-A2E7-D03F-AA9D-9F0979DFC995}"/>
              </a:ext>
            </a:extLst>
          </p:cNvPr>
          <p:cNvSpPr/>
          <p:nvPr/>
        </p:nvSpPr>
        <p:spPr>
          <a:xfrm>
            <a:off x="4831604" y="3099495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</a:t>
            </a:r>
            <a:endParaRPr lang="en-US" sz="975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3A0A299-82B7-1EC0-1634-FACD06F9BEEA}"/>
              </a:ext>
            </a:extLst>
          </p:cNvPr>
          <p:cNvSpPr/>
          <p:nvPr/>
        </p:nvSpPr>
        <p:spPr>
          <a:xfrm>
            <a:off x="4831604" y="3310830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Framework</a:t>
            </a:r>
            <a:endParaRPr lang="en-US" sz="825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06BABB7-FE6F-4B65-8EE5-E2F26DB9DC04}"/>
              </a:ext>
            </a:extLst>
          </p:cNvPr>
          <p:cNvSpPr/>
          <p:nvPr/>
        </p:nvSpPr>
        <p:spPr>
          <a:xfrm>
            <a:off x="6730841" y="2589014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FD62D41-906F-5A95-1543-8938DE940C9C}"/>
              </a:ext>
            </a:extLst>
          </p:cNvPr>
          <p:cNvSpPr/>
          <p:nvPr/>
        </p:nvSpPr>
        <p:spPr>
          <a:xfrm>
            <a:off x="6855666" y="2722364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18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EBFAB6-241D-62F5-EF9D-8E079BDD1AF6}"/>
              </a:ext>
            </a:extLst>
          </p:cNvPr>
          <p:cNvSpPr/>
          <p:nvPr/>
        </p:nvSpPr>
        <p:spPr>
          <a:xfrm>
            <a:off x="6855666" y="3099495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WAL</a:t>
            </a:r>
            <a:endParaRPr lang="en-US" sz="975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AC2B110-6259-B90F-CB5B-07F277BF6B1D}"/>
              </a:ext>
            </a:extLst>
          </p:cNvPr>
          <p:cNvSpPr/>
          <p:nvPr/>
        </p:nvSpPr>
        <p:spPr>
          <a:xfrm>
            <a:off x="6855666" y="3310830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25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1D7BE06-037F-8C8B-D32D-AF064344D76E}"/>
              </a:ext>
            </a:extLst>
          </p:cNvPr>
          <p:cNvSpPr/>
          <p:nvPr/>
        </p:nvSpPr>
        <p:spPr>
          <a:xfrm>
            <a:off x="4714875" y="3705076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F1F2AA-8B53-B66D-08A6-1410E038230F}"/>
              </a:ext>
            </a:extLst>
          </p:cNvPr>
          <p:cNvSpPr/>
          <p:nvPr/>
        </p:nvSpPr>
        <p:spPr>
          <a:xfrm>
            <a:off x="4831604" y="3838426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18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31089A8-70B8-743B-7E89-10DE22257711}"/>
              </a:ext>
            </a:extLst>
          </p:cNvPr>
          <p:cNvSpPr/>
          <p:nvPr/>
        </p:nvSpPr>
        <p:spPr>
          <a:xfrm>
            <a:off x="4831604" y="4215557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endParaRPr lang="en-US" sz="975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3EEFC0D-AB60-78E2-9934-63FA4962CD73}"/>
              </a:ext>
            </a:extLst>
          </p:cNvPr>
          <p:cNvSpPr/>
          <p:nvPr/>
        </p:nvSpPr>
        <p:spPr>
          <a:xfrm>
            <a:off x="4831604" y="4426893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825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39644BD-D57F-0A05-2140-BBF7B8798046}"/>
              </a:ext>
            </a:extLst>
          </p:cNvPr>
          <p:cNvSpPr/>
          <p:nvPr/>
        </p:nvSpPr>
        <p:spPr>
          <a:xfrm>
            <a:off x="6738938" y="3705076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4B318C5-4303-CAB4-61D1-A3BB77A3E1C0}"/>
              </a:ext>
            </a:extLst>
          </p:cNvPr>
          <p:cNvSpPr/>
          <p:nvPr/>
        </p:nvSpPr>
        <p:spPr>
          <a:xfrm>
            <a:off x="6855666" y="3838426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18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D7897E5-C8A0-3759-49E7-591DC67E197B}"/>
              </a:ext>
            </a:extLst>
          </p:cNvPr>
          <p:cNvSpPr/>
          <p:nvPr/>
        </p:nvSpPr>
        <p:spPr>
          <a:xfrm>
            <a:off x="6855666" y="4215557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endParaRPr lang="en-US" sz="975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F5BEBA7-46CA-C831-7EB9-CD3CB4C40A71}"/>
              </a:ext>
            </a:extLst>
          </p:cNvPr>
          <p:cNvSpPr/>
          <p:nvPr/>
        </p:nvSpPr>
        <p:spPr>
          <a:xfrm>
            <a:off x="6855666" y="4426893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GUI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1147318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Funzionalità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pricipali</a:t>
            </a:r>
            <a:endParaRPr lang="en-US" sz="2700" dirty="0"/>
          </a:p>
          <a:p>
            <a:pPr marL="0" indent="0" algn="l">
              <a:lnSpc>
                <a:spcPts val="2700"/>
              </a:lnSpc>
              <a:buNone/>
            </a:pP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4850" y="1838623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MESSAGGISTICA REAL-TIME</a:t>
            </a:r>
          </a:p>
        </p:txBody>
      </p:sp>
      <p:sp>
        <p:nvSpPr>
          <p:cNvPr id="7" name="Text 5"/>
          <p:cNvSpPr/>
          <p:nvPr/>
        </p:nvSpPr>
        <p:spPr>
          <a:xfrm>
            <a:off x="704850" y="2135684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one-to-one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(DM)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Gruppi multi-utente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Inviti ai gruppi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conferma messaggi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9F1474E-C89B-40A3-36CB-8F34CCE871B6}"/>
              </a:ext>
            </a:extLst>
          </p:cNvPr>
          <p:cNvSpPr/>
          <p:nvPr/>
        </p:nvSpPr>
        <p:spPr>
          <a:xfrm>
            <a:off x="48958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EC3EFE7E-3303-EFBE-8C7F-0CBECBDEACC0}"/>
              </a:ext>
            </a:extLst>
          </p:cNvPr>
          <p:cNvSpPr/>
          <p:nvPr/>
        </p:nvSpPr>
        <p:spPr>
          <a:xfrm>
            <a:off x="476250" y="3369767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A4985BD4-8BEF-DDA7-ACE1-A9E080346400}"/>
              </a:ext>
            </a:extLst>
          </p:cNvPr>
          <p:cNvSpPr/>
          <p:nvPr/>
        </p:nvSpPr>
        <p:spPr>
          <a:xfrm>
            <a:off x="4931902" y="3369767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3920F8FF-E3D9-9EF5-C021-B1ED35738A22}"/>
              </a:ext>
            </a:extLst>
          </p:cNvPr>
          <p:cNvSpPr/>
          <p:nvPr/>
        </p:nvSpPr>
        <p:spPr>
          <a:xfrm>
            <a:off x="729431" y="3606790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</a:t>
            </a: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36E36ED0-BD54-CC76-C802-E02B962E0C1A}"/>
              </a:ext>
            </a:extLst>
          </p:cNvPr>
          <p:cNvSpPr/>
          <p:nvPr/>
        </p:nvSpPr>
        <p:spPr>
          <a:xfrm>
            <a:off x="704850" y="3918689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Autenticazione JWT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hashing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Argon2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di invito con scadenza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 input robusta</a:t>
            </a: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BC16268B-4F46-DD5C-1272-25F9291D09CB}"/>
              </a:ext>
            </a:extLst>
          </p:cNvPr>
          <p:cNvSpPr/>
          <p:nvPr/>
        </p:nvSpPr>
        <p:spPr>
          <a:xfrm>
            <a:off x="5189998" y="1813169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SINCRONIZZAZIONE AVANZATA</a:t>
            </a:r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DD3BBEDD-1926-7017-9FE6-711A7FDAD2D4}"/>
              </a:ext>
            </a:extLst>
          </p:cNvPr>
          <p:cNvSpPr/>
          <p:nvPr/>
        </p:nvSpPr>
        <p:spPr>
          <a:xfrm>
            <a:off x="5189997" y="2088162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dual-sequence tracking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</a:t>
            </a: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endParaRPr lang="en-US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gap detection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Ping/Pong per health check</a:t>
            </a: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6B578E53-B3CD-7C43-1572-EAD7787ED889}"/>
              </a:ext>
            </a:extLst>
          </p:cNvPr>
          <p:cNvSpPr/>
          <p:nvPr/>
        </p:nvSpPr>
        <p:spPr>
          <a:xfrm>
            <a:off x="5189998" y="3496794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0C7FE686-AFF8-5B8E-58BA-E1ED698C8E96}"/>
              </a:ext>
            </a:extLst>
          </p:cNvPr>
          <p:cNvSpPr/>
          <p:nvPr/>
        </p:nvSpPr>
        <p:spPr>
          <a:xfrm>
            <a:off x="5189998" y="3789551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nativa desktop con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toast per eventi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modalità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190500"/>
            <a:ext cx="4381691" cy="762000"/>
          </a:xfrm>
          <a:prstGeom prst="rect">
            <a:avLst/>
          </a:prstGeom>
          <a:noFill/>
          <a:ln/>
        </p:spPr>
        <p:txBody>
          <a:bodyPr wrap="square" lIns="0" tIns="190500" rIns="0" bIns="19050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Stack Tecnologico</a:t>
            </a:r>
            <a:endParaRPr lang="en-US" sz="3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4800" y="1104900"/>
            <a:ext cx="4362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Server (Backend)</a:t>
            </a:r>
            <a:endParaRPr lang="en-US" sz="13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04800" y="1403002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150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chemeClr val="accent2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CORE FRAMEWORK</a:t>
            </a:r>
            <a:endParaRPr lang="en-US" sz="975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38150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0.7 - Web framework asincrono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38150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 - Runtime asincrono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38150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tower-http - Middleware layer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187750" y="1390650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21100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CE422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DATABASE &amp; AUTH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1100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sqlx 0.7 - Query async sicure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21100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argon2 - Password hashing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21100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jsonwebtoken - JWT tokens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070550" y="1403002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04049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CE422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REAL-TIME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04049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tokio-tungstenite -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04049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 - Stream processing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04049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tokio-stream - Async streams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4800" y="2520255"/>
            <a:ext cx="4362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Client (Desktop App)</a:t>
            </a:r>
            <a:endParaRPr lang="en-US" sz="13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4800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8150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UI FRAMEWORK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8150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eframe 0.27 - App framework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8150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0.27 - Immediate mode GUI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8150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egui-remixicon - Icon set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3187750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321100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NETWORKING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321100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reqwest 0.12 - HTTP client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21100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tokio-tungstenite -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3321100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 - Async utilities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6070699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04049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UTILITIES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204049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serde/serde_json - Serialization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04049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anyhow/thiserror - Error handling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04049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tracing - Logging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7C6D46EB-203F-2B91-DA5C-000A0976D56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High-Level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33477" y="2005304"/>
            <a:ext cx="3810000" cy="2216012"/>
          </a:xfrm>
          <a:prstGeom prst="roundRect">
            <a:avLst>
              <a:gd name="adj" fmla="val 14088"/>
            </a:avLst>
          </a:prstGeom>
          <a:solidFill>
            <a:srgbClr val="2D2D44"/>
          </a:solidFill>
          <a:ln w="19050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0389" y="2044794"/>
            <a:ext cx="326440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1654" y="2309831"/>
            <a:ext cx="32644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rendering • WebSocket client • State management</a:t>
            </a:r>
            <a:endParaRPr lang="en-US" sz="825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0630606B-DAC6-B69B-D074-45DE903341C2}"/>
              </a:ext>
            </a:extLst>
          </p:cNvPr>
          <p:cNvSpPr/>
          <p:nvPr/>
        </p:nvSpPr>
        <p:spPr>
          <a:xfrm>
            <a:off x="4264688" y="2650784"/>
            <a:ext cx="5446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CE4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18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6FBDAC4C-3B6E-9099-CE2A-57EAEC0D2796}"/>
              </a:ext>
            </a:extLst>
          </p:cNvPr>
          <p:cNvSpPr/>
          <p:nvPr/>
        </p:nvSpPr>
        <p:spPr>
          <a:xfrm>
            <a:off x="4887451" y="2044794"/>
            <a:ext cx="3810000" cy="2143748"/>
          </a:xfrm>
          <a:prstGeom prst="roundRect">
            <a:avLst>
              <a:gd name="adj" fmla="val 14088"/>
            </a:avLst>
          </a:prstGeom>
          <a:solidFill>
            <a:srgbClr val="2D2D44"/>
          </a:solidFill>
          <a:ln w="19050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633C4A8F-97E2-4C77-C83F-9DDA6CAF8F1D}"/>
              </a:ext>
            </a:extLst>
          </p:cNvPr>
          <p:cNvSpPr/>
          <p:nvPr/>
        </p:nvSpPr>
        <p:spPr>
          <a:xfrm>
            <a:off x="5206131" y="2103879"/>
            <a:ext cx="326440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105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7DA85974-5737-221A-4549-44C90D79C6BA}"/>
              </a:ext>
            </a:extLst>
          </p:cNvPr>
          <p:cNvSpPr/>
          <p:nvPr/>
        </p:nvSpPr>
        <p:spPr>
          <a:xfrm>
            <a:off x="5197938" y="2349594"/>
            <a:ext cx="32644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Databese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WebSocket server</a:t>
            </a:r>
            <a:endParaRPr lang="en-US" sz="825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F59585B-DBB6-A194-A546-C7A75347BF0B}"/>
              </a:ext>
            </a:extLst>
          </p:cNvPr>
          <p:cNvSpPr/>
          <p:nvPr/>
        </p:nvSpPr>
        <p:spPr>
          <a:xfrm>
            <a:off x="4256550" y="2954592"/>
            <a:ext cx="544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endParaRPr lang="en-US" sz="825" dirty="0"/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0B9EDABC-8522-476F-DF8A-ADE1C4BB79AB}"/>
              </a:ext>
            </a:extLst>
          </p:cNvPr>
          <p:cNvSpPr/>
          <p:nvPr/>
        </p:nvSpPr>
        <p:spPr>
          <a:xfrm>
            <a:off x="4243126" y="3112370"/>
            <a:ext cx="544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825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E9EC4BCD-B0A9-965A-37CB-FBF742007096}"/>
              </a:ext>
            </a:extLst>
          </p:cNvPr>
          <p:cNvSpPr/>
          <p:nvPr/>
        </p:nvSpPr>
        <p:spPr>
          <a:xfrm>
            <a:off x="476250" y="245849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UI LAYER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08FD4B5F-FAA2-4EDA-A368-146A5089C640}"/>
              </a:ext>
            </a:extLst>
          </p:cNvPr>
          <p:cNvSpPr/>
          <p:nvPr/>
        </p:nvSpPr>
        <p:spPr>
          <a:xfrm>
            <a:off x="446549" y="2637078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eframe/egui - Interfaccia desktop nativa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FF4520BB-5E52-244B-2FA6-A809F3D9AE0C}"/>
              </a:ext>
            </a:extLst>
          </p:cNvPr>
          <p:cNvSpPr/>
          <p:nvPr/>
        </p:nvSpPr>
        <p:spPr>
          <a:xfrm>
            <a:off x="463234" y="290406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STATE MANAGEMENT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81D6CB3B-4E05-5B9C-0119-0095AA40D0C9}"/>
              </a:ext>
            </a:extLst>
          </p:cNvPr>
          <p:cNvSpPr/>
          <p:nvPr/>
        </p:nvSpPr>
        <p:spPr>
          <a:xfrm>
            <a:off x="446549" y="3076013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centralizzata dello stato dell'app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9B86A249-0945-4846-C1C0-9361DFDD828B}"/>
              </a:ext>
            </a:extLst>
          </p:cNvPr>
          <p:cNvSpPr/>
          <p:nvPr/>
        </p:nvSpPr>
        <p:spPr>
          <a:xfrm>
            <a:off x="446549" y="3337426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API LAYER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930C7968-3575-ADBD-FE64-3B0800FB7A08}"/>
              </a:ext>
            </a:extLst>
          </p:cNvPr>
          <p:cNvSpPr/>
          <p:nvPr/>
        </p:nvSpPr>
        <p:spPr>
          <a:xfrm>
            <a:off x="446549" y="3505423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REST + WebSocket per comunicazione real-time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0C9CAFD4-8B40-E35F-47B5-0D2D5D6E8A49}"/>
              </a:ext>
            </a:extLst>
          </p:cNvPr>
          <p:cNvSpPr/>
          <p:nvPr/>
        </p:nvSpPr>
        <p:spPr>
          <a:xfrm>
            <a:off x="446549" y="3746447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WS MANAGER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A419AEFA-143D-3AC5-C513-3B92249554D5}"/>
              </a:ext>
            </a:extLst>
          </p:cNvPr>
          <p:cNvSpPr/>
          <p:nvPr/>
        </p:nvSpPr>
        <p:spPr>
          <a:xfrm>
            <a:off x="463234" y="3894977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monitoring, rate limiting, reconnection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5" name="Text 18">
            <a:extLst>
              <a:ext uri="{FF2B5EF4-FFF2-40B4-BE49-F238E27FC236}">
                <a16:creationId xmlns:a16="http://schemas.microsoft.com/office/drawing/2014/main" id="{061911CA-1B48-1192-A51B-31FC0EC866A9}"/>
              </a:ext>
            </a:extLst>
          </p:cNvPr>
          <p:cNvSpPr/>
          <p:nvPr/>
        </p:nvSpPr>
        <p:spPr>
          <a:xfrm>
            <a:off x="5011821" y="2521044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WEB FRAMEWORK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F16A01A-0E34-1931-4521-0F5B4E5B7A8D}"/>
              </a:ext>
            </a:extLst>
          </p:cNvPr>
          <p:cNvSpPr/>
          <p:nvPr/>
        </p:nvSpPr>
        <p:spPr>
          <a:xfrm>
            <a:off x="5011821" y="2678460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- Router HTTP e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7" name="Text 20">
            <a:extLst>
              <a:ext uri="{FF2B5EF4-FFF2-40B4-BE49-F238E27FC236}">
                <a16:creationId xmlns:a16="http://schemas.microsoft.com/office/drawing/2014/main" id="{9A5C0FCD-2D0E-E84B-DB11-9EBC71ED30D7}"/>
              </a:ext>
            </a:extLst>
          </p:cNvPr>
          <p:cNvSpPr/>
          <p:nvPr/>
        </p:nvSpPr>
        <p:spPr>
          <a:xfrm>
            <a:off x="5003628" y="290406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CONTROLLERS &amp; SERVICES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61778AE6-3E1F-C176-97B8-F4EC0C0B337A}"/>
              </a:ext>
            </a:extLst>
          </p:cNvPr>
          <p:cNvSpPr/>
          <p:nvPr/>
        </p:nvSpPr>
        <p:spPr>
          <a:xfrm>
            <a:off x="5003628" y="3075018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 per messaggi, chat e utenti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745B2C99-2274-9FDD-09AC-B3FF66022E73}"/>
              </a:ext>
            </a:extLst>
          </p:cNvPr>
          <p:cNvSpPr/>
          <p:nvPr/>
        </p:nvSpPr>
        <p:spPr>
          <a:xfrm>
            <a:off x="5003628" y="3337426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REPOSITORIES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5F4AF50B-E90D-8719-3326-F230BBED93CA}"/>
              </a:ext>
            </a:extLst>
          </p:cNvPr>
          <p:cNvSpPr/>
          <p:nvPr/>
        </p:nvSpPr>
        <p:spPr>
          <a:xfrm>
            <a:off x="5003628" y="3485956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layer con SQLx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1DB6690A-0068-C39A-0F10-43DB6A0BC5E1}"/>
              </a:ext>
            </a:extLst>
          </p:cNvPr>
          <p:cNvSpPr/>
          <p:nvPr/>
        </p:nvSpPr>
        <p:spPr>
          <a:xfrm>
            <a:off x="5003628" y="3731671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DATABASE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5EB240E3-3ED3-459B-94F8-6B9011345A76}"/>
              </a:ext>
            </a:extLst>
          </p:cNvPr>
          <p:cNvSpPr/>
          <p:nvPr/>
        </p:nvSpPr>
        <p:spPr>
          <a:xfrm>
            <a:off x="5011821" y="3863978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- Storage persistente</a:t>
            </a:r>
            <a:endParaRPr lang="en-US" sz="9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28600"/>
            <a:ext cx="5915959" cy="298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a Layer (Backend)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1500" y="57150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Separazione delle responsabilità</a:t>
            </a:r>
            <a:endParaRPr lang="en-US" sz="900" dirty="0"/>
          </a:p>
        </p:txBody>
      </p:sp>
      <p:pic>
        <p:nvPicPr>
          <p:cNvPr id="5" name="Image 0" descr="/tmp/rasterized-gradient-a404ba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33004"/>
            <a:ext cx="8001000" cy="6341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65731" y="1055501"/>
            <a:ext cx="234006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Points (Axum Routes)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65731" y="1298314"/>
            <a:ext cx="23400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routing • WebSocket upgrade • Middleware</a:t>
            </a:r>
            <a:endParaRPr lang="en-US" sz="825" dirty="0"/>
          </a:p>
        </p:txBody>
      </p:sp>
      <p:pic>
        <p:nvPicPr>
          <p:cNvPr id="10" name="Image 1" descr="/tmp/rasterized-gradient-057936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57660"/>
            <a:ext cx="8001000" cy="6341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78015" y="1886470"/>
            <a:ext cx="225505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Handler Layer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357034" y="2113134"/>
            <a:ext cx="225505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ConnectionActor • Message routing • Broadcast</a:t>
            </a:r>
            <a:endParaRPr lang="en-US" sz="825" dirty="0"/>
          </a:p>
        </p:txBody>
      </p:sp>
      <p:pic>
        <p:nvPicPr>
          <p:cNvPr id="15" name="Image 2" descr="/tmp/rasterized-gradient-c16184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582317"/>
            <a:ext cx="8001000" cy="63415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162483" y="2716634"/>
            <a:ext cx="250265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378015" y="2912119"/>
            <a:ext cx="2502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 • Validation • Transaction coordination</a:t>
            </a:r>
            <a:endParaRPr lang="en-US" sz="825" dirty="0"/>
          </a:p>
        </p:txBody>
      </p:sp>
      <p:pic>
        <p:nvPicPr>
          <p:cNvPr id="20" name="Image 3" descr="/tmp/rasterized-gradient-d5ff3c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06973"/>
            <a:ext cx="8001000" cy="63415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150814" y="3517254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Layer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3162483" y="3768178"/>
            <a:ext cx="25699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abstraction • SQL queries • Type conversion</a:t>
            </a:r>
            <a:endParaRPr lang="en-US" sz="825" dirty="0"/>
          </a:p>
        </p:txBody>
      </p:sp>
      <p:sp>
        <p:nvSpPr>
          <p:cNvPr id="25" name="Text 19"/>
          <p:cNvSpPr/>
          <p:nvPr/>
        </p:nvSpPr>
        <p:spPr>
          <a:xfrm>
            <a:off x="571499" y="4231629"/>
            <a:ext cx="8019859" cy="525067"/>
          </a:xfrm>
          <a:prstGeom prst="roundRect">
            <a:avLst>
              <a:gd name="adj" fmla="val 14169"/>
            </a:avLst>
          </a:prstGeom>
          <a:solidFill>
            <a:srgbClr val="252538"/>
          </a:solidFill>
          <a:ln w="19050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357034" y="4292649"/>
            <a:ext cx="20489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(SQLite + WAL)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422980" y="4481884"/>
            <a:ext cx="20489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• Indexes • Constraints • Sequences</a:t>
            </a:r>
            <a:endParaRPr lang="en-US" sz="825" dirty="0"/>
          </a:p>
        </p:txBody>
      </p:sp>
      <p:sp>
        <p:nvSpPr>
          <p:cNvPr id="30" name="Text 24"/>
          <p:cNvSpPr/>
          <p:nvPr/>
        </p:nvSpPr>
        <p:spPr>
          <a:xfrm>
            <a:off x="5526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Testabilità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259099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Manutenibilità</a:t>
            </a:r>
            <a:endParaRPr lang="en-US" sz="750" dirty="0"/>
          </a:p>
        </p:txBody>
      </p:sp>
      <p:sp>
        <p:nvSpPr>
          <p:cNvPr id="32" name="Text 26"/>
          <p:cNvSpPr/>
          <p:nvPr/>
        </p:nvSpPr>
        <p:spPr>
          <a:xfrm>
            <a:off x="46293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Scalabilità</a:t>
            </a:r>
            <a:endParaRPr lang="en-US" sz="750" dirty="0"/>
          </a:p>
        </p:txBody>
      </p:sp>
      <p:sp>
        <p:nvSpPr>
          <p:cNvPr id="33" name="Text 27"/>
          <p:cNvSpPr/>
          <p:nvPr/>
        </p:nvSpPr>
        <p:spPr>
          <a:xfrm>
            <a:off x="6667690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Riusabilità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D5D94-C973-4772-F834-D5B612B05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19">
            <a:extLst>
              <a:ext uri="{FF2B5EF4-FFF2-40B4-BE49-F238E27FC236}">
                <a16:creationId xmlns:a16="http://schemas.microsoft.com/office/drawing/2014/main" id="{5F157495-62B5-46A4-C8EC-24F6AAA58B7C}"/>
              </a:ext>
            </a:extLst>
          </p:cNvPr>
          <p:cNvSpPr/>
          <p:nvPr/>
        </p:nvSpPr>
        <p:spPr>
          <a:xfrm>
            <a:off x="552640" y="2571750"/>
            <a:ext cx="8019859" cy="928534"/>
          </a:xfrm>
          <a:prstGeom prst="roundRect">
            <a:avLst>
              <a:gd name="adj" fmla="val 14169"/>
            </a:avLst>
          </a:prstGeom>
          <a:solidFill>
            <a:srgbClr val="252538"/>
          </a:solidFill>
          <a:ln w="19050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87A3E5E-CA7F-D8FB-2290-6DA57936B692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DA062D-C5BC-4F04-82C1-EECF5ADAE50C}"/>
              </a:ext>
            </a:extLst>
          </p:cNvPr>
          <p:cNvSpPr/>
          <p:nvPr/>
        </p:nvSpPr>
        <p:spPr>
          <a:xfrm>
            <a:off x="571500" y="228600"/>
            <a:ext cx="8172076" cy="330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Model-View-</a:t>
            </a:r>
            <a:r>
              <a:rPr lang="en-US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(Frontend)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6D2EBE-09B7-891B-29F2-34622E78220D}"/>
              </a:ext>
            </a:extLst>
          </p:cNvPr>
          <p:cNvSpPr/>
          <p:nvPr/>
        </p:nvSpPr>
        <p:spPr>
          <a:xfrm>
            <a:off x="571500" y="57150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Separazione delle responsabilità</a:t>
            </a:r>
            <a:endParaRPr lang="en-US" sz="900" dirty="0"/>
          </a:p>
        </p:txBody>
      </p:sp>
      <p:pic>
        <p:nvPicPr>
          <p:cNvPr id="5" name="Image 0" descr="/tmp/rasterized-gradient-a404bae7.png">
            <a:extLst>
              <a:ext uri="{FF2B5EF4-FFF2-40B4-BE49-F238E27FC236}">
                <a16:creationId xmlns:a16="http://schemas.microsoft.com/office/drawing/2014/main" id="{22AC8407-AA3B-C67F-FDEB-40D3A7E6E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33004"/>
            <a:ext cx="8001000" cy="63415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818953DF-0F09-E8C1-7BF8-C7480690B666}"/>
              </a:ext>
            </a:extLst>
          </p:cNvPr>
          <p:cNvSpPr/>
          <p:nvPr/>
        </p:nvSpPr>
        <p:spPr>
          <a:xfrm>
            <a:off x="3265731" y="1055501"/>
            <a:ext cx="234006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AAE293B-AD7A-40B5-D17A-BEEF4F10BB81}"/>
              </a:ext>
            </a:extLst>
          </p:cNvPr>
          <p:cNvSpPr/>
          <p:nvPr/>
        </p:nvSpPr>
        <p:spPr>
          <a:xfrm>
            <a:off x="3265731" y="1298314"/>
            <a:ext cx="23400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components </a:t>
            </a:r>
            <a:r>
              <a:rPr lang="en-US" sz="825" dirty="0" err="1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pages, layout, modals</a:t>
            </a:r>
          </a:p>
        </p:txBody>
      </p:sp>
      <p:pic>
        <p:nvPicPr>
          <p:cNvPr id="10" name="Image 1" descr="/tmp/rasterized-gradient-057936ce.png">
            <a:extLst>
              <a:ext uri="{FF2B5EF4-FFF2-40B4-BE49-F238E27FC236}">
                <a16:creationId xmlns:a16="http://schemas.microsoft.com/office/drawing/2014/main" id="{C8341D22-C5DA-B666-1FD3-B26970751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15193"/>
            <a:ext cx="8001000" cy="634157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A33BE9E-538C-F7B0-CE74-80EC191E4891}"/>
              </a:ext>
            </a:extLst>
          </p:cNvPr>
          <p:cNvSpPr/>
          <p:nvPr/>
        </p:nvSpPr>
        <p:spPr>
          <a:xfrm>
            <a:off x="3378015" y="1847987"/>
            <a:ext cx="225505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View-Model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C1A50E1-6630-5ABB-87B5-80328C5C0823}"/>
              </a:ext>
            </a:extLst>
          </p:cNvPr>
          <p:cNvSpPr/>
          <p:nvPr/>
        </p:nvSpPr>
        <p:spPr>
          <a:xfrm>
            <a:off x="2935563" y="2091079"/>
            <a:ext cx="3381437" cy="128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AppState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 + </a:t>
            </a: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UIState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: current users, conversations, messages, </a:t>
            </a: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UIState</a:t>
            </a:r>
            <a:endParaRPr lang="en-US" sz="825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7315D618-B2EC-0BFC-55B8-3EF21F05FAB4}"/>
              </a:ext>
            </a:extLst>
          </p:cNvPr>
          <p:cNvSpPr/>
          <p:nvPr/>
        </p:nvSpPr>
        <p:spPr>
          <a:xfrm>
            <a:off x="3056117" y="2957721"/>
            <a:ext cx="250265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Dispatcher + Handlers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4D97A470-1BE5-DFC7-6FB8-F8C53522EBF2}"/>
              </a:ext>
            </a:extLst>
          </p:cNvPr>
          <p:cNvSpPr/>
          <p:nvPr/>
        </p:nvSpPr>
        <p:spPr>
          <a:xfrm>
            <a:off x="3021273" y="3241516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Layer + </a:t>
            </a:r>
            <a:r>
              <a:rPr lang="en-US" sz="8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Manager</a:t>
            </a:r>
            <a:endParaRPr lang="en-US" sz="800" dirty="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21933F6-4753-D1DA-C396-99E4CC429D4C}"/>
              </a:ext>
            </a:extLst>
          </p:cNvPr>
          <p:cNvSpPr/>
          <p:nvPr/>
        </p:nvSpPr>
        <p:spPr>
          <a:xfrm>
            <a:off x="3063172" y="4359876"/>
            <a:ext cx="25699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endParaRPr lang="en-US" sz="825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9ECCB232-805A-CA5B-9121-5249CB05220C}"/>
              </a:ext>
            </a:extLst>
          </p:cNvPr>
          <p:cNvSpPr/>
          <p:nvPr/>
        </p:nvSpPr>
        <p:spPr>
          <a:xfrm>
            <a:off x="5526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Testabilità</a:t>
            </a:r>
            <a:endParaRPr lang="en-US" sz="75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665D046E-410B-C352-6050-252770F8D219}"/>
              </a:ext>
            </a:extLst>
          </p:cNvPr>
          <p:cNvSpPr/>
          <p:nvPr/>
        </p:nvSpPr>
        <p:spPr>
          <a:xfrm>
            <a:off x="259099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Manutenibilità</a:t>
            </a:r>
            <a:endParaRPr lang="en-US" sz="75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B2466D91-E76E-5774-97B0-97CEF5E21C57}"/>
              </a:ext>
            </a:extLst>
          </p:cNvPr>
          <p:cNvSpPr/>
          <p:nvPr/>
        </p:nvSpPr>
        <p:spPr>
          <a:xfrm>
            <a:off x="46293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Scalabilità</a:t>
            </a:r>
            <a:endParaRPr lang="en-US" sz="750" dirty="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9C288AB-E246-33DE-3EFC-FD38E5ADFB01}"/>
              </a:ext>
            </a:extLst>
          </p:cNvPr>
          <p:cNvSpPr/>
          <p:nvPr/>
        </p:nvSpPr>
        <p:spPr>
          <a:xfrm>
            <a:off x="6667690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Riusabilità</a:t>
            </a:r>
            <a:endParaRPr lang="en-US" sz="750" dirty="0"/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39A2E460-D058-0458-BC38-6ACC6C84B491}"/>
              </a:ext>
            </a:extLst>
          </p:cNvPr>
          <p:cNvSpPr/>
          <p:nvPr/>
        </p:nvSpPr>
        <p:spPr>
          <a:xfrm>
            <a:off x="2984210" y="2669084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93055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28600"/>
            <a:ext cx="423595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Flusso dei Messaggi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71500" y="609600"/>
            <a:ext cx="8452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delivery path per affidabilità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76250" y="1134666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984349"/>
            <a:ext cx="7848600" cy="586532"/>
          </a:xfrm>
          <a:prstGeom prst="roundRect">
            <a:avLst>
              <a:gd name="adj" fmla="val 12992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66800" y="1098649"/>
            <a:ext cx="76946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 invia messaggio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066800" y="1309985"/>
            <a:ext cx="76946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"chat_message" → WebSocket → Reader Task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76250" y="1854547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1704231"/>
            <a:ext cx="7848600" cy="586532"/>
          </a:xfrm>
          <a:prstGeom prst="roundRect">
            <a:avLst>
              <a:gd name="adj" fmla="val 12992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6800" y="1818531"/>
            <a:ext cx="76946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Salvataggio nel Database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066800" y="2029867"/>
            <a:ext cx="76946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messages + assegna sequence_num + auto mark_read per sender</a:t>
            </a:r>
            <a:endParaRPr lang="en-US" sz="825" dirty="0"/>
          </a:p>
        </p:txBody>
      </p:sp>
      <p:pic>
        <p:nvPicPr>
          <p:cNvPr id="13" name="Image 0" descr="/tmp/rasterized-gradient-1ec1fe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24113"/>
            <a:ext cx="2540050" cy="108004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47750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1 — Confirmation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47750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000000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al sender (Alice)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1123950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Saved, server_msg_id, seq</a:t>
            </a:r>
            <a:endParaRPr lang="en-US" sz="675" dirty="0"/>
          </a:p>
        </p:txBody>
      </p:sp>
      <p:pic>
        <p:nvPicPr>
          <p:cNvPr id="19" name="Image 1" descr="/tmp/rasterized-gradient-abda6a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750" y="2424113"/>
            <a:ext cx="2540050" cy="108004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702100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2 — Broadcast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3702100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tutti online (incl. Alice)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702100" y="2984153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3778300" y="3041303"/>
            <a:ext cx="21633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chat_message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3778300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via conv channel</a:t>
            </a:r>
            <a:endParaRPr lang="en-US" sz="675" dirty="0"/>
          </a:p>
        </p:txBody>
      </p:sp>
      <p:pic>
        <p:nvPicPr>
          <p:cNvPr id="25" name="Image 2" descr="/tmp/rasterized-gradient-864920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426" y="2422285"/>
            <a:ext cx="2540050" cy="108004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56449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3 — User Events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6356449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Persistito per tutti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6356449" y="2984153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6432649" y="3041303"/>
            <a:ext cx="21633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new_message (DB)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32649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per offline users</a:t>
            </a:r>
            <a:endParaRPr lang="en-US" sz="675" dirty="0"/>
          </a:p>
        </p:txBody>
      </p:sp>
      <p:sp>
        <p:nvSpPr>
          <p:cNvPr id="31" name="Text 26"/>
          <p:cNvSpPr/>
          <p:nvPr/>
        </p:nvSpPr>
        <p:spPr>
          <a:xfrm>
            <a:off x="914400" y="3637508"/>
            <a:ext cx="7848600" cy="839986"/>
          </a:xfrm>
          <a:prstGeom prst="roundRect">
            <a:avLst>
              <a:gd name="adj" fmla="val 1133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1047750" y="3770858"/>
            <a:ext cx="77335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riceve cosa?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477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 Alice (sender)</a:t>
            </a:r>
            <a:endParaRPr lang="en-US" sz="825" dirty="0"/>
          </a:p>
        </p:txBody>
      </p:sp>
      <p:sp>
        <p:nvSpPr>
          <p:cNvPr id="34" name="Text 29"/>
          <p:cNvSpPr/>
          <p:nvPr/>
        </p:nvSpPr>
        <p:spPr>
          <a:xfrm>
            <a:off x="10477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Confirmation + Broadcast + Events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36385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 Bob (online)</a:t>
            </a:r>
            <a:endParaRPr lang="en-US" sz="825" dirty="0"/>
          </a:p>
        </p:txBody>
      </p:sp>
      <p:sp>
        <p:nvSpPr>
          <p:cNvPr id="36" name="Text 31"/>
          <p:cNvSpPr/>
          <p:nvPr/>
        </p:nvSpPr>
        <p:spPr>
          <a:xfrm>
            <a:off x="36385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/ ✅ Broadcast + Events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62293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Charlie (offline)</a:t>
            </a:r>
            <a:endParaRPr lang="en-US" sz="825" dirty="0"/>
          </a:p>
        </p:txBody>
      </p:sp>
      <p:sp>
        <p:nvSpPr>
          <p:cNvPr id="38" name="Text 33"/>
          <p:cNvSpPr/>
          <p:nvPr/>
        </p:nvSpPr>
        <p:spPr>
          <a:xfrm>
            <a:off x="62293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/ ❌ / ✅ Solo Events (recovery)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914400" y="4610844"/>
            <a:ext cx="7848600" cy="356146"/>
          </a:xfrm>
          <a:prstGeom prst="roundRect">
            <a:avLst>
              <a:gd name="adj" fmla="val 21396"/>
            </a:avLst>
          </a:prstGeom>
          <a:solidFill>
            <a:srgbClr val="22C55E">
              <a:alpha val="15000"/>
            </a:srgbClr>
          </a:solidFill>
          <a:ln w="9525">
            <a:solidFill>
              <a:srgbClr val="22C5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1057275" y="4715619"/>
            <a:ext cx="77141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</a:t>
            </a:r>
            <a:r>
              <a:rPr lang="en-US" sz="825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Garanzia</a:t>
            </a: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anche se broadcast fallisce, il messaggio arriva via user_events al reconnect</a:t>
            </a:r>
            <a:endParaRPr lang="en-US" sz="825" dirty="0"/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F51E1183-F0DD-F458-3D68-1DB1204621B7}"/>
              </a:ext>
            </a:extLst>
          </p:cNvPr>
          <p:cNvSpPr txBox="1"/>
          <p:nvPr/>
        </p:nvSpPr>
        <p:spPr>
          <a:xfrm>
            <a:off x="1088898" y="2942964"/>
            <a:ext cx="17675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 err="1"/>
              <a:t>message</a:t>
            </a:r>
            <a:r>
              <a:rPr lang="it-IT" sz="800" dirty="0"/>
              <a:t> </a:t>
            </a:r>
            <a:r>
              <a:rPr lang="it-IT" sz="800" dirty="0" err="1"/>
              <a:t>confirmation</a:t>
            </a:r>
            <a:endParaRPr lang="it-IT" sz="8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AB76271D-6D12-4D2F-36AF-D3C70B55C1D3}"/>
              </a:ext>
            </a:extLst>
          </p:cNvPr>
          <p:cNvSpPr/>
          <p:nvPr/>
        </p:nvSpPr>
        <p:spPr>
          <a:xfrm>
            <a:off x="1057275" y="2936085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936BB4-4164-5D02-713D-23C1885F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>
            <a:extLst>
              <a:ext uri="{FF2B5EF4-FFF2-40B4-BE49-F238E27FC236}">
                <a16:creationId xmlns:a16="http://schemas.microsoft.com/office/drawing/2014/main" id="{54C5F034-4A67-4A88-B316-EC531A203E0E}"/>
              </a:ext>
            </a:extLst>
          </p:cNvPr>
          <p:cNvSpPr/>
          <p:nvPr/>
        </p:nvSpPr>
        <p:spPr>
          <a:xfrm flipV="1">
            <a:off x="450007" y="1472797"/>
            <a:ext cx="7241" cy="2929226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7F392B8-4928-66AB-9797-02E332C743FE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DD1D4A-12A8-0918-25A1-EA1D8112F10A}"/>
              </a:ext>
            </a:extLst>
          </p:cNvPr>
          <p:cNvSpPr/>
          <p:nvPr/>
        </p:nvSpPr>
        <p:spPr>
          <a:xfrm>
            <a:off x="476249" y="266700"/>
            <a:ext cx="8345021" cy="321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Sincronizzazione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4B7722-880C-7550-E18C-6C8311B3844C}"/>
              </a:ext>
            </a:extLst>
          </p:cNvPr>
          <p:cNvSpPr/>
          <p:nvPr/>
        </p:nvSpPr>
        <p:spPr>
          <a:xfrm>
            <a:off x="476250" y="1439750"/>
            <a:ext cx="2603450" cy="3007519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89E31BA-32A8-68C3-4B26-A8A30F8CBD4E}"/>
              </a:ext>
            </a:extLst>
          </p:cNvPr>
          <p:cNvSpPr/>
          <p:nvPr/>
        </p:nvSpPr>
        <p:spPr>
          <a:xfrm>
            <a:off x="1022749" y="1540917"/>
            <a:ext cx="1459508" cy="26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Sequence</a:t>
            </a:r>
            <a:endParaRPr lang="en-US" sz="13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00D32B-3074-A89F-FEBF-36C2B5C2B25B}"/>
              </a:ext>
            </a:extLst>
          </p:cNvPr>
          <p:cNvSpPr/>
          <p:nvPr/>
        </p:nvSpPr>
        <p:spPr>
          <a:xfrm>
            <a:off x="628308" y="2151391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F16E9AF-014D-0A5E-55B4-A53EEF5C62CF}"/>
              </a:ext>
            </a:extLst>
          </p:cNvPr>
          <p:cNvSpPr/>
          <p:nvPr/>
        </p:nvSpPr>
        <p:spPr>
          <a:xfrm>
            <a:off x="697888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Nuove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Conversazioni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942098E-5223-61A2-02FB-73ACCC4AA695}"/>
              </a:ext>
            </a:extLst>
          </p:cNvPr>
          <p:cNvSpPr/>
          <p:nvPr/>
        </p:nvSpPr>
        <p:spPr>
          <a:xfrm>
            <a:off x="616284" y="284715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EF71BA2-6378-1569-889C-14E0E653C2BC}"/>
              </a:ext>
            </a:extLst>
          </p:cNvPr>
          <p:cNvSpPr/>
          <p:nvPr/>
        </p:nvSpPr>
        <p:spPr>
          <a:xfrm>
            <a:off x="650975" y="303475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Ricevuti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1435789-EE06-7CB1-E362-1FCB704F46B2}"/>
              </a:ext>
            </a:extLst>
          </p:cNvPr>
          <p:cNvSpPr/>
          <p:nvPr/>
        </p:nvSpPr>
        <p:spPr>
          <a:xfrm>
            <a:off x="603908" y="358899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0292AF1-36C8-339C-F5D4-3AC1FDAB5289}"/>
              </a:ext>
            </a:extLst>
          </p:cNvPr>
          <p:cNvSpPr/>
          <p:nvPr/>
        </p:nvSpPr>
        <p:spPr>
          <a:xfrm>
            <a:off x="710265" y="375727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</a:t>
            </a:r>
            <a:endParaRPr lang="en-US" sz="9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362D718-A8EE-05B5-C0AA-2654F23D33F9}"/>
              </a:ext>
            </a:extLst>
          </p:cNvPr>
          <p:cNvSpPr/>
          <p:nvPr/>
        </p:nvSpPr>
        <p:spPr>
          <a:xfrm>
            <a:off x="3271859" y="1451951"/>
            <a:ext cx="2603450" cy="3044403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864C886-EEF1-171E-6EAD-ADADCE822318}"/>
              </a:ext>
            </a:extLst>
          </p:cNvPr>
          <p:cNvSpPr/>
          <p:nvPr/>
        </p:nvSpPr>
        <p:spPr>
          <a:xfrm flipV="1">
            <a:off x="3271859" y="1474737"/>
            <a:ext cx="22740" cy="2984748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12502A7-1F0D-43D0-CE30-3CB046D3BB4F}"/>
              </a:ext>
            </a:extLst>
          </p:cNvPr>
          <p:cNvSpPr/>
          <p:nvPr/>
        </p:nvSpPr>
        <p:spPr>
          <a:xfrm>
            <a:off x="3675647" y="1563904"/>
            <a:ext cx="1674761" cy="233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Sequence</a:t>
            </a:r>
            <a:endParaRPr lang="en-US" sz="13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2A8DE3-4EBA-6654-F60F-41A8AFBC1119}"/>
              </a:ext>
            </a:extLst>
          </p:cNvPr>
          <p:cNvSpPr/>
          <p:nvPr/>
        </p:nvSpPr>
        <p:spPr>
          <a:xfrm>
            <a:off x="3466049" y="2138351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693FF43-051A-876E-3BE6-43D921B8887C}"/>
              </a:ext>
            </a:extLst>
          </p:cNvPr>
          <p:cNvSpPr/>
          <p:nvPr/>
        </p:nvSpPr>
        <p:spPr>
          <a:xfrm>
            <a:off x="355595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ricevuti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625AEB8-E54E-F741-D9C4-5DC0B0A0260F}"/>
              </a:ext>
            </a:extLst>
          </p:cNvPr>
          <p:cNvSpPr/>
          <p:nvPr/>
        </p:nvSpPr>
        <p:spPr>
          <a:xfrm>
            <a:off x="3466049" y="28366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6226D5C-4C99-7223-6396-2C7FB45E8F5E}"/>
              </a:ext>
            </a:extLst>
          </p:cNvPr>
          <p:cNvSpPr/>
          <p:nvPr/>
        </p:nvSpPr>
        <p:spPr>
          <a:xfrm>
            <a:off x="3563770" y="3026811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Ordinamento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garantito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4546CC2-6590-8F6B-89B9-FC9B21AAAE95}"/>
              </a:ext>
            </a:extLst>
          </p:cNvPr>
          <p:cNvSpPr/>
          <p:nvPr/>
        </p:nvSpPr>
        <p:spPr>
          <a:xfrm>
            <a:off x="3466049" y="3497257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4EFC882-2A94-5D0A-F9EB-15FF16F1C686}"/>
              </a:ext>
            </a:extLst>
          </p:cNvPr>
          <p:cNvSpPr/>
          <p:nvPr/>
        </p:nvSpPr>
        <p:spPr>
          <a:xfrm>
            <a:off x="3555949" y="364581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Rrecovery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selettivo</a:t>
            </a:r>
            <a:endParaRPr lang="en-US" sz="9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147A3FE-2776-6B6D-FDF6-8C8F23005A38}"/>
              </a:ext>
            </a:extLst>
          </p:cNvPr>
          <p:cNvSpPr/>
          <p:nvPr/>
        </p:nvSpPr>
        <p:spPr>
          <a:xfrm>
            <a:off x="6064151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>
            <a:solidFill>
              <a:srgbClr val="A855F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0B19AD2-BAF0-2224-4143-B20EE4CF0AD8}"/>
              </a:ext>
            </a:extLst>
          </p:cNvPr>
          <p:cNvSpPr/>
          <p:nvPr/>
        </p:nvSpPr>
        <p:spPr>
          <a:xfrm>
            <a:off x="6564671" y="1479264"/>
            <a:ext cx="1648541" cy="22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Workflow</a:t>
            </a:r>
            <a:endParaRPr lang="en-US" sz="13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9434B88-D6B7-9589-7D9C-CFA63D3E4854}"/>
              </a:ext>
            </a:extLst>
          </p:cNvPr>
          <p:cNvSpPr/>
          <p:nvPr/>
        </p:nvSpPr>
        <p:spPr>
          <a:xfrm>
            <a:off x="6235601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880ABAB3-A04D-EA9C-7B9D-D5BA7235DDF0}"/>
              </a:ext>
            </a:extLst>
          </p:cNvPr>
          <p:cNvSpPr/>
          <p:nvPr/>
        </p:nvSpPr>
        <p:spPr>
          <a:xfrm>
            <a:off x="6304018" y="219560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55"/>
              </a:lnSpc>
              <a:spcBef>
                <a:spcPts val="300"/>
              </a:spcBef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Client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riconnette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Ping</a:t>
            </a:r>
            <a:endParaRPr lang="en-US" sz="825" dirty="0">
              <a:solidFill>
                <a:schemeClr val="bg1"/>
              </a:solidFill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F2FCB4E-0960-F679-A7FE-E3769E5D41F6}"/>
              </a:ext>
            </a:extLst>
          </p:cNvPr>
          <p:cNvSpPr/>
          <p:nvPr/>
        </p:nvSpPr>
        <p:spPr>
          <a:xfrm>
            <a:off x="6235601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BF5767E7-AEFE-33CD-5F2D-462A18140F43}"/>
              </a:ext>
            </a:extLst>
          </p:cNvPr>
          <p:cNvSpPr/>
          <p:nvPr/>
        </p:nvSpPr>
        <p:spPr>
          <a:xfrm>
            <a:off x="6329581" y="2828123"/>
            <a:ext cx="2072589" cy="19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  <a:spcAft>
                <a:spcPts val="300"/>
              </a:spcAft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rileva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gap e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06109959-CFF1-F605-7C99-449C67A3ED82}"/>
              </a:ext>
            </a:extLst>
          </p:cNvPr>
          <p:cNvSpPr/>
          <p:nvPr/>
        </p:nvSpPr>
        <p:spPr>
          <a:xfrm>
            <a:off x="6235601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45EE5019-21C1-B265-3E8D-D59AFF81DAE7}"/>
              </a:ext>
            </a:extLst>
          </p:cNvPr>
          <p:cNvSpPr/>
          <p:nvPr/>
        </p:nvSpPr>
        <p:spPr>
          <a:xfrm>
            <a:off x="6235601" y="3474280"/>
            <a:ext cx="2072589" cy="21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  <a:spcAft>
                <a:spcPts val="300"/>
              </a:spcAft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Client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richiede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eventi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4C5560E-EE98-BB72-71CC-444C7128AD89}"/>
              </a:ext>
            </a:extLst>
          </p:cNvPr>
          <p:cNvSpPr/>
          <p:nvPr/>
        </p:nvSpPr>
        <p:spPr>
          <a:xfrm>
            <a:off x="6235601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A05B6DFB-7982-E2D7-CFB5-9E8F69963E2C}"/>
              </a:ext>
            </a:extLst>
          </p:cNvPr>
          <p:cNvSpPr/>
          <p:nvPr/>
        </p:nvSpPr>
        <p:spPr>
          <a:xfrm>
            <a:off x="6329581" y="4074262"/>
            <a:ext cx="2072589" cy="219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batch di recovery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2B740E-EEE5-6943-FA3E-49B7E5014C9C}"/>
              </a:ext>
            </a:extLst>
          </p:cNvPr>
          <p:cNvSpPr txBox="1"/>
          <p:nvPr/>
        </p:nvSpPr>
        <p:spPr>
          <a:xfrm>
            <a:off x="815189" y="1795117"/>
            <a:ext cx="20844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Traccia eventi a livello utente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6C462F27-A4FE-2DED-27C2-171C7F7FF289}"/>
              </a:ext>
            </a:extLst>
          </p:cNvPr>
          <p:cNvSpPr txBox="1"/>
          <p:nvPr/>
        </p:nvSpPr>
        <p:spPr>
          <a:xfrm>
            <a:off x="3520180" y="1803212"/>
            <a:ext cx="20844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Traccia messaggi per conversazione</a:t>
            </a:r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11EB974A-3FE6-9209-19A8-5C065AF0A0F5}"/>
              </a:ext>
            </a:extLst>
          </p:cNvPr>
          <p:cNvSpPr/>
          <p:nvPr/>
        </p:nvSpPr>
        <p:spPr>
          <a:xfrm>
            <a:off x="659431" y="702556"/>
            <a:ext cx="4410053" cy="494022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DUAL SEQUENCE SYSTEM</a:t>
            </a:r>
            <a:endParaRPr lang="en-US" sz="1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 doppia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sequenza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garantire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affidabile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il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recupero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disconnessione</a:t>
            </a:r>
            <a:endParaRPr 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7628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3331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Dual-Sequence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76250" y="1144042"/>
            <a:ext cx="3981450" cy="527596"/>
          </a:xfrm>
          <a:prstGeom prst="roundRect">
            <a:avLst>
              <a:gd name="adj" fmla="val 14443"/>
            </a:avLst>
          </a:prstGeom>
          <a:solidFill>
            <a:srgbClr val="A855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8650" y="1239292"/>
            <a:ext cx="3750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SEQUENCE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628650" y="1429792"/>
            <a:ext cx="37501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 per utente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76250" y="1766888"/>
            <a:ext cx="3981450" cy="542925"/>
          </a:xfrm>
          <a:prstGeom prst="roundRect">
            <a:avLst>
              <a:gd name="adj" fmla="val 1403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0550" y="1881187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evento riceve un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number incrementale</a:t>
            </a: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Permette gap detection e recovery.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76250" y="2405063"/>
            <a:ext cx="3981450" cy="1314450"/>
          </a:xfrm>
          <a:prstGeom prst="roundRect">
            <a:avLst>
              <a:gd name="adj" fmla="val 4348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90538" y="2405063"/>
            <a:ext cx="0" cy="1314450"/>
          </a:xfrm>
          <a:prstGeom prst="line">
            <a:avLst/>
          </a:prstGeom>
          <a:noFill/>
          <a:ln w="28575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00075" y="25003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seq=1 → new_message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0075" y="27860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seq=2 → new_conversation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0075" y="30718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seq=3 → </a:t>
            </a: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MISSING!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0075" y="33575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seq=4 → new_message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6250" y="3814763"/>
            <a:ext cx="3981450" cy="489496"/>
          </a:xfrm>
          <a:prstGeom prst="roundRect">
            <a:avLst>
              <a:gd name="adj" fmla="val 1167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71500" y="3910013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571500" y="4075658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user_events_resume da seq mancante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686300" y="1144042"/>
            <a:ext cx="3981450" cy="527596"/>
          </a:xfrm>
          <a:prstGeom prst="roundRect">
            <a:avLst>
              <a:gd name="adj" fmla="val 14443"/>
            </a:avLst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38700" y="1239292"/>
            <a:ext cx="3750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SEQUENCE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838700" y="1429792"/>
            <a:ext cx="37501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1A1A2E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conversazione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686300" y="1766888"/>
            <a:ext cx="3981450" cy="542925"/>
          </a:xfrm>
          <a:prstGeom prst="roundRect">
            <a:avLst>
              <a:gd name="adj" fmla="val 1403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00600" y="1881187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messaggio ha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sequence_num</a:t>
            </a: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locale. Ordering corretto e paginazione efficiente.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686300" y="2405063"/>
            <a:ext cx="3981450" cy="1314450"/>
          </a:xfrm>
          <a:prstGeom prst="roundRect">
            <a:avLst>
              <a:gd name="adj" fmla="val 4348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700588" y="2405063"/>
            <a:ext cx="0" cy="1314450"/>
          </a:xfrm>
          <a:prstGeom prst="line">
            <a:avLst/>
          </a:prstGeom>
          <a:noFill/>
          <a:ln w="2857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810125" y="25003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seq=1 → "Ciao!" (alice)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10125" y="27860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seq=2 → "Hey!" (bob)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10125" y="30718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seq=3 → "Come va?" (charlie)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10125" y="33575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seq=4 → "Bene!" (alice)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86300" y="3814763"/>
            <a:ext cx="3981450" cy="489496"/>
          </a:xfrm>
          <a:prstGeom prst="roundRect">
            <a:avLst>
              <a:gd name="adj" fmla="val 1167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81550" y="3910013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Paginazione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4781550" y="4075658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?before_sequence=50&amp;limit=20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266700"/>
            <a:ext cx="8345021" cy="321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Model — 3 Task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Concorrenti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76250" y="1215628"/>
            <a:ext cx="260345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205034" y="1474738"/>
            <a:ext cx="93633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 Task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7700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62000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Unico proprietario ws_tx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Garantisce invio thread-safe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647700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62000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periodico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 + jitter anti-thundering herd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647700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2000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management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10s send, 5s close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647700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62000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tracking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2000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 failures consecutivi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3270200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270200" y="1215628"/>
            <a:ext cx="260345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017259" y="1474738"/>
            <a:ext cx="102726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Task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441650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55950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JSON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55595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 type-safe con serde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3441650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555950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routing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55950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agli handler specifici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3441650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555950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Salvataggio DB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55950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SQLx async queries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3441650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55950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Ping/Pong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555950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keepalive client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064151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064151" y="1215628"/>
            <a:ext cx="2603450" cy="0"/>
          </a:xfrm>
          <a:prstGeom prst="line">
            <a:avLst/>
          </a:prstGeom>
          <a:noFill/>
          <a:ln w="381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6784084" y="1479264"/>
            <a:ext cx="1163583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Task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235601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901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channels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49901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Conversazioni + notifiche utente</a:t>
            </a:r>
            <a:endParaRPr lang="en-US" sz="825" dirty="0"/>
          </a:p>
        </p:txBody>
      </p:sp>
      <p:sp>
        <p:nvSpPr>
          <p:cNvPr id="43" name="Text 41"/>
          <p:cNvSpPr/>
          <p:nvPr/>
        </p:nvSpPr>
        <p:spPr>
          <a:xfrm>
            <a:off x="6235601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349901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broadcast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49901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SelectAll su N stream</a:t>
            </a:r>
            <a:endParaRPr lang="en-US" sz="825" dirty="0"/>
          </a:p>
        </p:txBody>
      </p:sp>
      <p:sp>
        <p:nvSpPr>
          <p:cNvPr id="46" name="Text 44"/>
          <p:cNvSpPr/>
          <p:nvPr/>
        </p:nvSpPr>
        <p:spPr>
          <a:xfrm>
            <a:off x="6235601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9901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a Writer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49901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out_tx channel (1024 cap)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6235601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49901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state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49901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Carica conversazioni al connect</a:t>
            </a:r>
            <a:endParaRPr lang="en-US" sz="8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53532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System — Due Livelli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390799"/>
            <a:ext cx="3952875" cy="557957"/>
          </a:xfrm>
          <a:prstGeom prst="roundRect">
            <a:avLst>
              <a:gd name="adj" fmla="val 1365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8650" y="1486049"/>
            <a:ext cx="372103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CHANNELS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8650" y="1706910"/>
            <a:ext cx="37210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1A1A2E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per conversazione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11953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043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43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0716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806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1806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9479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569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569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C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81025" y="3448475"/>
            <a:ext cx="3952875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6648" y="3553250"/>
            <a:ext cx="38181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Tutti i partecipanti </a:t>
            </a:r>
            <a:r>
              <a:rPr lang="en-US" sz="825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ricevono in real-time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4714875" y="1390799"/>
            <a:ext cx="3952875" cy="557957"/>
          </a:xfrm>
          <a:prstGeom prst="roundRect">
            <a:avLst>
              <a:gd name="adj" fmla="val 136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67275" y="1486049"/>
            <a:ext cx="372103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NOTIFICATION CHANNELS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67275" y="1706910"/>
            <a:ext cx="37210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per utente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54340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429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429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1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3103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192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192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1866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955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2955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3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19650" y="3448475"/>
            <a:ext cx="3952875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4333" y="3553250"/>
            <a:ext cx="38181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Auto-subscribe al </a:t>
            </a:r>
            <a:r>
              <a:rPr lang="en-US" sz="825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 canale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alla connessione</a:t>
            </a:r>
            <a:endParaRPr lang="en-US" sz="8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Tables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76250" y="179546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monospace"/>
              </a:rPr>
              <a:t>users</a:t>
            </a:r>
          </a:p>
        </p:txBody>
      </p:sp>
      <p:sp>
        <p:nvSpPr>
          <p:cNvPr id="5" name="Shape 3"/>
          <p:cNvSpPr/>
          <p:nvPr/>
        </p:nvSpPr>
        <p:spPr>
          <a:xfrm>
            <a:off x="490538" y="1795463"/>
            <a:ext cx="0" cy="523875"/>
          </a:xfrm>
          <a:prstGeom prst="line">
            <a:avLst/>
          </a:prstGeom>
          <a:noFill/>
          <a:ln w="2857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90538" y="241458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  <a:latin typeface="monospace"/>
              </a:rPr>
              <a:t>partecipants</a:t>
            </a:r>
            <a:endParaRPr lang="en-US" sz="1200" b="1" dirty="0">
              <a:solidFill>
                <a:schemeClr val="accent5">
                  <a:lumMod val="75000"/>
                </a:schemeClr>
              </a:solidFill>
              <a:latin typeface="monospace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90538" y="2414588"/>
            <a:ext cx="0" cy="523875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19125" y="2509838"/>
            <a:ext cx="38473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6250" y="303371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monospace"/>
              </a:rPr>
              <a:t>invites</a:t>
            </a:r>
          </a:p>
        </p:txBody>
      </p:sp>
      <p:sp>
        <p:nvSpPr>
          <p:cNvPr id="13" name="Shape 11"/>
          <p:cNvSpPr/>
          <p:nvPr/>
        </p:nvSpPr>
        <p:spPr>
          <a:xfrm>
            <a:off x="490538" y="3033713"/>
            <a:ext cx="0" cy="523875"/>
          </a:xfrm>
          <a:prstGeom prst="line">
            <a:avLst/>
          </a:prstGeom>
          <a:noFill/>
          <a:ln w="2857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638824" y="1796117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030A0"/>
                </a:solidFill>
                <a:latin typeface="monospace"/>
              </a:rPr>
              <a:t>conversations</a:t>
            </a:r>
          </a:p>
        </p:txBody>
      </p:sp>
      <p:sp>
        <p:nvSpPr>
          <p:cNvPr id="17" name="Shape 15"/>
          <p:cNvSpPr/>
          <p:nvPr/>
        </p:nvSpPr>
        <p:spPr>
          <a:xfrm>
            <a:off x="4652963" y="1795463"/>
            <a:ext cx="0" cy="523875"/>
          </a:xfrm>
          <a:prstGeom prst="line">
            <a:avLst/>
          </a:prstGeom>
          <a:noFill/>
          <a:ln w="28575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638675" y="241458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CC"/>
                </a:solidFill>
                <a:latin typeface="monospace"/>
              </a:rPr>
              <a:t>messages</a:t>
            </a:r>
          </a:p>
        </p:txBody>
      </p:sp>
      <p:sp>
        <p:nvSpPr>
          <p:cNvPr id="21" name="Shape 19"/>
          <p:cNvSpPr/>
          <p:nvPr/>
        </p:nvSpPr>
        <p:spPr>
          <a:xfrm>
            <a:off x="4652963" y="2414588"/>
            <a:ext cx="0" cy="523875"/>
          </a:xfrm>
          <a:prstGeom prst="line">
            <a:avLst/>
          </a:prstGeom>
          <a:noFill/>
          <a:ln w="28575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38675" y="303371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4"/>
                </a:solidFill>
                <a:latin typeface="monospace"/>
              </a:rPr>
              <a:t>user_events</a:t>
            </a:r>
            <a:endParaRPr lang="en-US" sz="1200" b="1" dirty="0">
              <a:solidFill>
                <a:schemeClr val="accent4"/>
              </a:solidFill>
              <a:latin typeface="monospace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652963" y="3033713"/>
            <a:ext cx="0" cy="523875"/>
          </a:xfrm>
          <a:prstGeom prst="line">
            <a:avLst/>
          </a:prstGeom>
          <a:noFill/>
          <a:ln w="2857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76250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6577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WAL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556577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~5K writes/s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3244900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325227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Delete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3325227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Integrità referenziale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6013549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93876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Sequences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093876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detection</a:t>
            </a:r>
            <a:endParaRPr lang="en-US" sz="675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D68B27F1-165F-292C-C607-7F773EE43007}"/>
              </a:ext>
            </a:extLst>
          </p:cNvPr>
          <p:cNvSpPr/>
          <p:nvPr/>
        </p:nvSpPr>
        <p:spPr>
          <a:xfrm>
            <a:off x="476249" y="3638699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latin typeface="monospace"/>
              </a:rPr>
              <a:t>message_seq</a:t>
            </a:r>
            <a:endParaRPr lang="en-US" sz="1200" b="1" dirty="0">
              <a:latin typeface="monospace"/>
            </a:endParaRP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CFB0A3BC-63FD-3745-02F5-5DB048B67E92}"/>
              </a:ext>
            </a:extLst>
          </p:cNvPr>
          <p:cNvSpPr/>
          <p:nvPr/>
        </p:nvSpPr>
        <p:spPr>
          <a:xfrm>
            <a:off x="4657724" y="363869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C00000"/>
                </a:solidFill>
                <a:latin typeface="monospace"/>
              </a:rPr>
              <a:t>user_seq</a:t>
            </a:r>
            <a:endParaRPr lang="en-US" sz="1200" b="1" dirty="0">
              <a:solidFill>
                <a:srgbClr val="C00000"/>
              </a:solidFill>
              <a:latin typeface="monospace"/>
            </a:endParaRPr>
          </a:p>
        </p:txBody>
      </p:sp>
      <p:sp>
        <p:nvSpPr>
          <p:cNvPr id="39" name="Shape 23">
            <a:extLst>
              <a:ext uri="{FF2B5EF4-FFF2-40B4-BE49-F238E27FC236}">
                <a16:creationId xmlns:a16="http://schemas.microsoft.com/office/drawing/2014/main" id="{10B49242-A81D-33F1-C4CC-0985BF01C95C}"/>
              </a:ext>
            </a:extLst>
          </p:cNvPr>
          <p:cNvSpPr/>
          <p:nvPr/>
        </p:nvSpPr>
        <p:spPr>
          <a:xfrm>
            <a:off x="4657724" y="3638698"/>
            <a:ext cx="0" cy="523875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B6918FAF-4D61-50CC-1129-D3DBDD804B96}"/>
              </a:ext>
            </a:extLst>
          </p:cNvPr>
          <p:cNvSpPr/>
          <p:nvPr/>
        </p:nvSpPr>
        <p:spPr>
          <a:xfrm>
            <a:off x="490538" y="3638698"/>
            <a:ext cx="0" cy="523875"/>
          </a:xfrm>
          <a:prstGeom prst="line">
            <a:avLst/>
          </a:prstGeom>
          <a:noFill/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7605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3293396" y="1269181"/>
            <a:ext cx="406107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70842" y="2181373"/>
            <a:ext cx="3981450" cy="1099096"/>
          </a:xfrm>
          <a:prstGeom prst="roundRect">
            <a:avLst>
              <a:gd name="adj" fmla="val 866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414024" y="2314724"/>
            <a:ext cx="3789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Retry Logic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414023" y="2533799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</a:t>
            </a: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failures</a:t>
            </a: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consecutivi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414024" y="2724275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counter su successo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14024" y="2966220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close dopo limit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70841" y="3385244"/>
            <a:ext cx="3981450" cy="1099096"/>
          </a:xfrm>
          <a:prstGeom prst="roundRect">
            <a:avLst>
              <a:gd name="adj" fmla="val 866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67044" y="3502371"/>
            <a:ext cx="3789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Graceful Shutdown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2414024" y="3730473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watch::channel per broadcast stop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414024" y="3927909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automatico risorse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414024" y="4139580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period </a:t>
            </a:r>
            <a:r>
              <a:rPr lang="en-US" sz="9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17820" y="4646265"/>
            <a:ext cx="3981450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7762" y="4751040"/>
            <a:ext cx="38084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🌩️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Anti-thundering herd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jitter 0-5s su heartbeat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190500"/>
            <a:ext cx="6237351" cy="762000"/>
          </a:xfrm>
          <a:prstGeom prst="rect">
            <a:avLst/>
          </a:prstGeom>
          <a:noFill/>
          <a:ln/>
        </p:spPr>
        <p:txBody>
          <a:bodyPr wrap="square" lIns="0" tIns="190500" rIns="0" bIns="19050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Ruggine: Performance e Sicurezza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3" name="Image 0" descr="/tmp/rasterized-gradient-fa430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599009"/>
            <a:ext cx="2743200" cy="16077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53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99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4953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99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PRESTAZIONI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953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garantisce velocità nativa, basso utilizzo di memoria e latenza minima nelle comunicazioni real-time.</a:t>
            </a:r>
            <a:endParaRPr lang="en-US" sz="975" dirty="0"/>
          </a:p>
        </p:txBody>
      </p:sp>
      <p:pic>
        <p:nvPicPr>
          <p:cNvPr id="7" name="Image 1" descr="/tmp/rasterized-gradient-50f627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99009"/>
            <a:ext cx="2743200" cy="16077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909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40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33909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40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SICUREZZA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3909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safety, memory safety e pattern matching di Rust eliminano intere classi di vulnerabilità comuni.</a:t>
            </a:r>
            <a:endParaRPr lang="en-US" sz="975" dirty="0"/>
          </a:p>
        </p:txBody>
      </p:sp>
      <p:pic>
        <p:nvPicPr>
          <p:cNvPr id="11" name="Image 2" descr="/tmp/rasterized-gradient-d2c6a8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599009"/>
            <a:ext cx="2743200" cy="160779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865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065F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62865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65F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AFFIDABILITÀ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2865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sincronizzazione dual-sequence e recovery automatico garantiscono zero perdite di messaggi.</a:t>
            </a:r>
            <a:endParaRPr lang="en-US" sz="975" dirty="0"/>
          </a:p>
        </p:txBody>
      </p:sp>
      <p:sp>
        <p:nvSpPr>
          <p:cNvPr id="15" name="Text 10"/>
          <p:cNvSpPr/>
          <p:nvPr/>
        </p:nvSpPr>
        <p:spPr>
          <a:xfrm>
            <a:off x="304800" y="3397300"/>
            <a:ext cx="8534400" cy="1251942"/>
          </a:xfrm>
          <a:prstGeom prst="roundRect">
            <a:avLst>
              <a:gd name="adj" fmla="val 9130"/>
            </a:avLst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2507456" y="3625900"/>
            <a:ext cx="4129088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Rust per una Chat App?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2628" y="3994100"/>
            <a:ext cx="8238744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combina prestazioni native di linguaggi di sistema con garanzie di sicurezza moderne,</a:t>
            </a:r>
            <a:endParaRPr lang="en-US" sz="1050" dirty="0"/>
          </a:p>
          <a:p>
            <a:pPr marL="0" indent="0" algn="ctr">
              <a:lnSpc>
                <a:spcPts val="168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rendendolo ideale per applicazioni real-time dove ogni millisecondo conta e la correttezza è fondamentale.</a:t>
            </a:r>
            <a:endParaRPr lang="en-US" sz="1050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0CAEA6B7-DCD8-5DBA-0B31-B464E23B495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2845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Conclusioni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3494367" y="1633475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ABBIAMO COSTRUITO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466975" y="1913706"/>
            <a:ext cx="3981450" cy="1802011"/>
          </a:xfrm>
          <a:prstGeom prst="roundRect">
            <a:avLst>
              <a:gd name="adj" fmla="val 528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499098" y="1915010"/>
            <a:ext cx="0" cy="1802011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2545230" y="2017365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real-time in Rust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45230" y="2186880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 e gruppi con WebSocket bidirezionale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545230" y="2402532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Model robusto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45230" y="2591841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task concorrenti + graceful shutdown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45230" y="2837264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Dual-Sequence System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45229" y="3008769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 e recovery affidabile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545230" y="3261458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Multi-channel broadcast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44484" y="3411769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path per zero message loss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94335" y="4400699"/>
            <a:ext cx="835533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Grazie per l'attenzione!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94335" y="469776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Domande?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1416</Words>
  <Application>Microsoft Office PowerPoint</Application>
  <PresentationFormat>Presentazione su schermo (16:9)</PresentationFormat>
  <Paragraphs>317</Paragraphs>
  <Slides>16</Slides>
  <Notes>16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Arial</vt:lpstr>
      <vt:lpstr>monospace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Ruggine Chat - Sistema di Messaggistica Real-Time in Rust</dc:title>
  <dc:subject>Progetto Universitario</dc:subject>
  <dc:creator>Gruppo G39</dc:creator>
  <cp:lastModifiedBy>Piovano  Gabriele</cp:lastModifiedBy>
  <cp:revision>8</cp:revision>
  <dcterms:created xsi:type="dcterms:W3CDTF">2025-11-30T20:09:19Z</dcterms:created>
  <dcterms:modified xsi:type="dcterms:W3CDTF">2025-12-11T20:00:09Z</dcterms:modified>
</cp:coreProperties>
</file>