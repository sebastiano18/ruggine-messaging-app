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134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1688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1435596"/>
            <a:ext cx="3954209" cy="990600"/>
          </a:xfrm>
          <a:prstGeom prst="rect">
            <a:avLst/>
          </a:prstGeom>
          <a:noFill/>
          <a:ln/>
        </p:spPr>
        <p:txBody>
          <a:bodyPr wrap="square" lIns="0" tIns="190500" rIns="0" bIns="190500" rtlCol="0" anchor="t"/>
          <a:lstStyle/>
          <a:p>
            <a:pPr marL="0" indent="0" algn="l">
              <a:lnSpc>
                <a:spcPts val="4800"/>
              </a:lnSpc>
              <a:spcAft>
                <a:spcPts val="1200"/>
              </a:spcAft>
              <a:buNone/>
            </a:pPr>
            <a:r>
              <a:rPr lang="en-US" sz="4800" b="1" dirty="0">
                <a:solidFill>
                  <a:srgbClr val="CE42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RUGGINE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38200" y="2730996"/>
            <a:ext cx="3954209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67"/>
              </a:lnSpc>
              <a:spcAft>
                <a:spcPts val="18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Chat Application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38200" y="3450580"/>
            <a:ext cx="788898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Un'applicazione di messaggistica moderna costruita interamente in Rust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190500"/>
            <a:ext cx="4469130" cy="762000"/>
          </a:xfrm>
          <a:prstGeom prst="rect">
            <a:avLst/>
          </a:prstGeom>
          <a:noFill/>
          <a:ln/>
        </p:spPr>
        <p:txBody>
          <a:bodyPr wrap="square" lIns="0" tIns="190500" rIns="0" bIns="19050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CE42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Panoramica del Progetto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04800" y="1353443"/>
            <a:ext cx="4191000" cy="1316236"/>
          </a:xfrm>
          <a:prstGeom prst="roundRect">
            <a:avLst>
              <a:gd name="adj" fmla="val 5789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6250" y="1524893"/>
            <a:ext cx="392506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CE42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COSA È RUGGINE?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6250" y="1783854"/>
            <a:ext cx="3925062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Un'applicazione di messaggistica real-time completa con architettura client-server, </a:t>
            </a:r>
            <a:endParaRPr lang="en-US" sz="1050" dirty="0"/>
          </a:p>
          <a:p>
            <a:pPr marL="0" indent="0" algn="l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costruita al 100% in Rust per garantire prestazioni, sicurezza e affidabilità.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648200" y="1104900"/>
            <a:ext cx="4191000" cy="1813322"/>
          </a:xfrm>
          <a:prstGeom prst="roundRect">
            <a:avLst>
              <a:gd name="adj" fmla="val 4202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19650" y="1276350"/>
            <a:ext cx="392506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CE42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CARATTERISTICHE CHIAVE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19650" y="1535311"/>
            <a:ext cx="3848100" cy="1211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60"/>
              </a:lnSpc>
              <a:spcAft>
                <a:spcPts val="600"/>
              </a:spcAft>
              <a:buSzPct val="100000"/>
              <a:buChar char="•"/>
            </a:pPr>
            <a:r>
              <a:rPr lang="en-US" sz="97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individuali e di gruppo</a:t>
            </a:r>
            <a:endParaRPr lang="en-US" sz="975" dirty="0"/>
          </a:p>
          <a:p>
            <a:pPr marL="342900" indent="-342900" algn="l">
              <a:lnSpc>
                <a:spcPts val="1560"/>
              </a:lnSpc>
              <a:spcAft>
                <a:spcPts val="600"/>
              </a:spcAft>
              <a:buSzPct val="100000"/>
              <a:buChar char="•"/>
            </a:pPr>
            <a:r>
              <a:rPr lang="en-US" sz="97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Comunicazione WebSocket real-time</a:t>
            </a:r>
            <a:endParaRPr lang="en-US" sz="975" dirty="0"/>
          </a:p>
          <a:p>
            <a:pPr marL="342900" indent="-342900" algn="l">
              <a:lnSpc>
                <a:spcPts val="1560"/>
              </a:lnSpc>
              <a:spcAft>
                <a:spcPts val="600"/>
              </a:spcAft>
              <a:buSzPct val="100000"/>
              <a:buChar char="•"/>
            </a:pPr>
            <a:r>
              <a:rPr lang="en-US" sz="97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di autenticazione sicuro</a:t>
            </a:r>
            <a:endParaRPr lang="en-US" sz="975" dirty="0"/>
          </a:p>
          <a:p>
            <a:pPr marL="342900" indent="-342900" algn="l">
              <a:lnSpc>
                <a:spcPts val="1560"/>
              </a:lnSpc>
              <a:spcAft>
                <a:spcPts val="600"/>
              </a:spcAft>
              <a:buSzPct val="100000"/>
              <a:buChar char="•"/>
            </a:pPr>
            <a:r>
              <a:rPr lang="en-US" sz="97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Interfaccia desktop nativa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04800" y="3070622"/>
            <a:ext cx="8534400" cy="797123"/>
          </a:xfrm>
          <a:prstGeom prst="roundRect">
            <a:avLst>
              <a:gd name="adj" fmla="val 9559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7200" y="3223022"/>
            <a:ext cx="839419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Tecnologico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190500"/>
            <a:ext cx="4381691" cy="762000"/>
          </a:xfrm>
          <a:prstGeom prst="rect">
            <a:avLst/>
          </a:prstGeom>
          <a:noFill/>
          <a:ln/>
        </p:spPr>
        <p:txBody>
          <a:bodyPr wrap="square" lIns="0" tIns="190500" rIns="0" bIns="19050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CE42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Architettura del Sistema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04800" y="1738461"/>
            <a:ext cx="3733800" cy="434280"/>
          </a:xfrm>
          <a:prstGeom prst="roundRect">
            <a:avLst>
              <a:gd name="adj" fmla="val 17546"/>
            </a:avLst>
          </a:prstGeom>
          <a:solidFill>
            <a:srgbClr val="CE422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9100" y="1852761"/>
            <a:ext cx="357530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04800" y="2287042"/>
            <a:ext cx="3733800" cy="2222897"/>
          </a:xfrm>
          <a:prstGeom prst="roundRect">
            <a:avLst>
              <a:gd name="adj" fmla="val 3428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6250" y="2458492"/>
            <a:ext cx="345871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 LAYER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76250" y="2683222"/>
            <a:ext cx="34587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eframe/egui - Interfaccia desktop nativa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6250" y="2959447"/>
            <a:ext cx="345871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MANAGEMENT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76250" y="3184178"/>
            <a:ext cx="34587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Gestione centralizzata dello stato dell'app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6250" y="3450878"/>
            <a:ext cx="345871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LAYER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76250" y="3675608"/>
            <a:ext cx="34587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REST + WebSocket per comunicazione real-time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6250" y="3942308"/>
            <a:ext cx="345871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WS MANAGER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76250" y="4167039"/>
            <a:ext cx="34587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monitoring, rate limiting, reconnection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99662" y="2757488"/>
            <a:ext cx="5446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CE4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⟷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299662" y="3176588"/>
            <a:ext cx="5446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299662" y="3333750"/>
            <a:ext cx="5446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105400" y="1733699"/>
            <a:ext cx="3733800" cy="434280"/>
          </a:xfrm>
          <a:prstGeom prst="roundRect">
            <a:avLst>
              <a:gd name="adj" fmla="val 17546"/>
            </a:avLst>
          </a:prstGeom>
          <a:solidFill>
            <a:srgbClr val="1F29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219700" y="1847999"/>
            <a:ext cx="357530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105400" y="2282279"/>
            <a:ext cx="3733800" cy="2232422"/>
          </a:xfrm>
          <a:prstGeom prst="roundRect">
            <a:avLst>
              <a:gd name="adj" fmla="val 3413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276850" y="2453729"/>
            <a:ext cx="345871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FRAMEWORK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5276850" y="2678460"/>
            <a:ext cx="34587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Axum - Router HTTP e WebSocket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76850" y="2954685"/>
            <a:ext cx="345871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CONTROLLERS &amp; SERVICES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5276850" y="3179415"/>
            <a:ext cx="34587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logic per messaggi, chat e utenti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76850" y="3446115"/>
            <a:ext cx="345871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REPOSITORIES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5276850" y="3670846"/>
            <a:ext cx="34587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access layer con SQLx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76850" y="3937546"/>
            <a:ext cx="345871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5276850" y="4162276"/>
            <a:ext cx="34587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- Storage persistente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190500"/>
            <a:ext cx="4381691" cy="762000"/>
          </a:xfrm>
          <a:prstGeom prst="rect">
            <a:avLst/>
          </a:prstGeom>
          <a:noFill/>
          <a:ln/>
        </p:spPr>
        <p:txBody>
          <a:bodyPr wrap="square" lIns="0" tIns="190500" rIns="0" bIns="19050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CE42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Funzionalità Principali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04800" y="1104900"/>
            <a:ext cx="4200525" cy="1832372"/>
          </a:xfrm>
          <a:prstGeom prst="roundRect">
            <a:avLst>
              <a:gd name="adj" fmla="val 415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04800" y="1114425"/>
            <a:ext cx="4200525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495800" y="1104900"/>
            <a:ext cx="0" cy="1832372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304800" y="2927747"/>
            <a:ext cx="4200525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323850" y="1104900"/>
            <a:ext cx="0" cy="1832372"/>
          </a:xfrm>
          <a:prstGeom prst="line">
            <a:avLst/>
          </a:prstGeom>
          <a:noFill/>
          <a:ln w="38100">
            <a:solidFill>
              <a:srgbClr val="CE42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495300" y="1276350"/>
            <a:ext cx="391534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CE42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MESSAGGISTICA REAL-TIME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5300" y="1554361"/>
            <a:ext cx="3838575" cy="1211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60"/>
              </a:lnSpc>
              <a:spcAft>
                <a:spcPts val="600"/>
              </a:spcAft>
              <a:buSzPct val="100000"/>
              <a:buChar char="•"/>
            </a:pPr>
            <a:r>
              <a:rPr lang="en-US" sz="97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one-to-one (DM)</a:t>
            </a:r>
            <a:endParaRPr lang="en-US" sz="975" dirty="0"/>
          </a:p>
          <a:p>
            <a:pPr marL="342900" indent="-342900" algn="l">
              <a:lnSpc>
                <a:spcPts val="1560"/>
              </a:lnSpc>
              <a:spcAft>
                <a:spcPts val="600"/>
              </a:spcAft>
              <a:buSzPct val="100000"/>
              <a:buChar char="•"/>
            </a:pPr>
            <a:r>
              <a:rPr lang="en-US" sz="97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Gruppi multi-utente</a:t>
            </a:r>
            <a:endParaRPr lang="en-US" sz="975" dirty="0"/>
          </a:p>
          <a:p>
            <a:pPr marL="342900" indent="-342900" algn="l">
              <a:lnSpc>
                <a:spcPts val="1560"/>
              </a:lnSpc>
              <a:spcAft>
                <a:spcPts val="600"/>
              </a:spcAft>
              <a:buSzPct val="100000"/>
              <a:buChar char="•"/>
            </a:pPr>
            <a:r>
              <a:rPr lang="en-US" sz="97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Inviti con token temporanei</a:t>
            </a:r>
            <a:endParaRPr lang="en-US" sz="975" dirty="0"/>
          </a:p>
          <a:p>
            <a:pPr marL="342900" indent="-342900" algn="l">
              <a:lnSpc>
                <a:spcPts val="1560"/>
              </a:lnSpc>
              <a:spcAft>
                <a:spcPts val="600"/>
              </a:spcAft>
              <a:buSzPct val="100000"/>
              <a:buChar char="•"/>
            </a:pPr>
            <a:r>
              <a:rPr lang="en-US" sz="97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di conferma messaggi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638675" y="1104900"/>
            <a:ext cx="4200525" cy="1832372"/>
          </a:xfrm>
          <a:prstGeom prst="roundRect">
            <a:avLst>
              <a:gd name="adj" fmla="val 415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38675" y="1114425"/>
            <a:ext cx="4200525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8829675" y="1104900"/>
            <a:ext cx="0" cy="1832372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4638675" y="2927747"/>
            <a:ext cx="4200525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4657725" y="1104900"/>
            <a:ext cx="0" cy="183237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829175" y="1276350"/>
            <a:ext cx="391534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SINCRONIZZAZIONE AVANZATA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29175" y="1554361"/>
            <a:ext cx="3838575" cy="1211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60"/>
              </a:lnSpc>
              <a:spcAft>
                <a:spcPts val="600"/>
              </a:spcAft>
              <a:buSzPct val="100000"/>
              <a:buChar char="•"/>
            </a:pPr>
            <a:r>
              <a:rPr lang="en-US" sz="97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dual-sequence tracking</a:t>
            </a:r>
            <a:endParaRPr lang="en-US" sz="975" dirty="0"/>
          </a:p>
          <a:p>
            <a:pPr marL="342900" indent="-342900" algn="l">
              <a:lnSpc>
                <a:spcPts val="1560"/>
              </a:lnSpc>
              <a:spcAft>
                <a:spcPts val="600"/>
              </a:spcAft>
              <a:buSzPct val="100000"/>
              <a:buChar char="•"/>
            </a:pPr>
            <a:r>
              <a:rPr lang="en-US" sz="97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automatico messaggi</a:t>
            </a:r>
            <a:endParaRPr lang="en-US" sz="975" dirty="0"/>
          </a:p>
          <a:p>
            <a:pPr marL="342900" indent="-342900" algn="l">
              <a:lnSpc>
                <a:spcPts val="1560"/>
              </a:lnSpc>
              <a:spcAft>
                <a:spcPts val="600"/>
              </a:spcAft>
              <a:buSzPct val="100000"/>
              <a:buChar char="•"/>
            </a:pPr>
            <a:r>
              <a:rPr lang="en-US" sz="97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Gestione gap detection</a:t>
            </a:r>
            <a:endParaRPr lang="en-US" sz="975" dirty="0"/>
          </a:p>
          <a:p>
            <a:pPr marL="342900" indent="-342900" algn="l">
              <a:lnSpc>
                <a:spcPts val="1560"/>
              </a:lnSpc>
              <a:spcAft>
                <a:spcPts val="600"/>
              </a:spcAft>
              <a:buSzPct val="100000"/>
              <a:buChar char="•"/>
            </a:pPr>
            <a:r>
              <a:rPr lang="en-US" sz="97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Ping/Pong per health check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304800" y="3070622"/>
            <a:ext cx="4200525" cy="1832372"/>
          </a:xfrm>
          <a:prstGeom prst="roundRect">
            <a:avLst>
              <a:gd name="adj" fmla="val 415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04800" y="3080147"/>
            <a:ext cx="4200525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4495800" y="3070622"/>
            <a:ext cx="0" cy="1832372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304800" y="4893469"/>
            <a:ext cx="4200525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323850" y="3070622"/>
            <a:ext cx="0" cy="1832372"/>
          </a:xfrm>
          <a:prstGeom prst="line">
            <a:avLst/>
          </a:prstGeom>
          <a:noFill/>
          <a:ln w="381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495300" y="3242072"/>
            <a:ext cx="391534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SICUREZZA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5300" y="3520083"/>
            <a:ext cx="3838575" cy="1211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60"/>
              </a:lnSpc>
              <a:spcAft>
                <a:spcPts val="600"/>
              </a:spcAft>
              <a:buSzPct val="100000"/>
              <a:buChar char="•"/>
            </a:pPr>
            <a:r>
              <a:rPr lang="en-US" sz="97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Autenticazione JWT</a:t>
            </a:r>
            <a:endParaRPr lang="en-US" sz="975" dirty="0"/>
          </a:p>
          <a:p>
            <a:pPr marL="342900" indent="-342900" algn="l">
              <a:lnSpc>
                <a:spcPts val="1560"/>
              </a:lnSpc>
              <a:spcAft>
                <a:spcPts val="600"/>
              </a:spcAft>
              <a:buSzPct val="100000"/>
              <a:buChar char="•"/>
            </a:pPr>
            <a:r>
              <a:rPr lang="en-US" sz="97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hashing con Argon2</a:t>
            </a:r>
            <a:endParaRPr lang="en-US" sz="975" dirty="0"/>
          </a:p>
          <a:p>
            <a:pPr marL="342900" indent="-342900" algn="l">
              <a:lnSpc>
                <a:spcPts val="1560"/>
              </a:lnSpc>
              <a:spcAft>
                <a:spcPts val="600"/>
              </a:spcAft>
              <a:buSzPct val="100000"/>
              <a:buChar char="•"/>
            </a:pPr>
            <a:r>
              <a:rPr lang="en-US" sz="97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di invito con scadenza</a:t>
            </a:r>
            <a:endParaRPr lang="en-US" sz="975" dirty="0"/>
          </a:p>
          <a:p>
            <a:pPr marL="342900" indent="-342900" algn="l">
              <a:lnSpc>
                <a:spcPts val="1560"/>
              </a:lnSpc>
              <a:spcAft>
                <a:spcPts val="600"/>
              </a:spcAft>
              <a:buSzPct val="100000"/>
              <a:buChar char="•"/>
            </a:pPr>
            <a:r>
              <a:rPr lang="en-US" sz="97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Validazione input robusta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4638675" y="3070622"/>
            <a:ext cx="4200525" cy="1832372"/>
          </a:xfrm>
          <a:prstGeom prst="roundRect">
            <a:avLst>
              <a:gd name="adj" fmla="val 415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38675" y="3080147"/>
            <a:ext cx="4200525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8829675" y="3070622"/>
            <a:ext cx="0" cy="1832372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4638675" y="4893469"/>
            <a:ext cx="4200525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Shape 26"/>
          <p:cNvSpPr/>
          <p:nvPr/>
        </p:nvSpPr>
        <p:spPr>
          <a:xfrm>
            <a:off x="4657725" y="3070622"/>
            <a:ext cx="0" cy="1832372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4829175" y="3242072"/>
            <a:ext cx="391534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EXPERIENCE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29175" y="3520083"/>
            <a:ext cx="3838575" cy="1211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60"/>
              </a:lnSpc>
              <a:spcAft>
                <a:spcPts val="600"/>
              </a:spcAft>
              <a:buSzPct val="100000"/>
              <a:buChar char="•"/>
            </a:pPr>
            <a:r>
              <a:rPr lang="en-US" sz="97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nativa desktop con egui</a:t>
            </a:r>
            <a:endParaRPr lang="en-US" sz="975" dirty="0"/>
          </a:p>
          <a:p>
            <a:pPr marL="342900" indent="-342900" algn="l">
              <a:lnSpc>
                <a:spcPts val="1560"/>
              </a:lnSpc>
              <a:spcAft>
                <a:spcPts val="600"/>
              </a:spcAft>
              <a:buSzPct val="100000"/>
              <a:buChar char="•"/>
            </a:pPr>
            <a:r>
              <a:rPr lang="en-US" sz="97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Notifiche toast per eventi</a:t>
            </a:r>
            <a:endParaRPr lang="en-US" sz="975" dirty="0"/>
          </a:p>
          <a:p>
            <a:pPr marL="342900" indent="-342900" algn="l">
              <a:lnSpc>
                <a:spcPts val="1560"/>
              </a:lnSpc>
              <a:spcAft>
                <a:spcPts val="600"/>
              </a:spcAft>
              <a:buSzPct val="100000"/>
              <a:buChar char="•"/>
            </a:pPr>
            <a:r>
              <a:rPr lang="en-US" sz="97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Gestione modalità typing</a:t>
            </a:r>
            <a:endParaRPr lang="en-US" sz="975" dirty="0"/>
          </a:p>
          <a:p>
            <a:pPr marL="342900" indent="-342900" algn="l">
              <a:lnSpc>
                <a:spcPts val="1560"/>
              </a:lnSpc>
              <a:spcAft>
                <a:spcPts val="600"/>
              </a:spcAft>
              <a:buSzPct val="100000"/>
              <a:buChar char="•"/>
            </a:pPr>
            <a:r>
              <a:rPr lang="en-US" sz="97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di read receipts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190500"/>
            <a:ext cx="4381691" cy="762000"/>
          </a:xfrm>
          <a:prstGeom prst="rect">
            <a:avLst/>
          </a:prstGeom>
          <a:noFill/>
          <a:ln/>
        </p:spPr>
        <p:txBody>
          <a:bodyPr wrap="square" lIns="0" tIns="190500" rIns="0" bIns="19050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CE42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 Tecnologico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04800" y="1104900"/>
            <a:ext cx="43622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 (Backend)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04800" y="1390650"/>
            <a:ext cx="2768650" cy="1015305"/>
          </a:xfrm>
          <a:prstGeom prst="roundRect">
            <a:avLst>
              <a:gd name="adj" fmla="val 7505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8150" y="1524000"/>
            <a:ext cx="255198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CE42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FRAMEWORK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438150" y="1729680"/>
            <a:ext cx="25519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axum 0.7 - Web framework asincrono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8150" y="1910655"/>
            <a:ext cx="25519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tokio - Runtime asincrono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38150" y="2091630"/>
            <a:ext cx="25519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tower-http - Middleware layer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187750" y="1390650"/>
            <a:ext cx="2768650" cy="1015305"/>
          </a:xfrm>
          <a:prstGeom prst="roundRect">
            <a:avLst>
              <a:gd name="adj" fmla="val 7505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21100" y="1524000"/>
            <a:ext cx="255198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CE42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&amp; AUTH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321100" y="1729680"/>
            <a:ext cx="25519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sqlx 0.7 - Query async sicure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21100" y="1910655"/>
            <a:ext cx="25519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argon2 - Password hashing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21100" y="2091630"/>
            <a:ext cx="25519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jsonwebtoken - JWT tokens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70699" y="1390650"/>
            <a:ext cx="2768650" cy="1015305"/>
          </a:xfrm>
          <a:prstGeom prst="roundRect">
            <a:avLst>
              <a:gd name="adj" fmla="val 7505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04049" y="1524000"/>
            <a:ext cx="255198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CE42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6204049" y="1729680"/>
            <a:ext cx="25519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tokio-tungstenite - WebSocket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04049" y="1910655"/>
            <a:ext cx="25519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futures - Stream processing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04049" y="2091630"/>
            <a:ext cx="25519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tokio-stream - Async streams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04800" y="2520255"/>
            <a:ext cx="43622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 (Desktop App)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04800" y="2806005"/>
            <a:ext cx="2768650" cy="1015305"/>
          </a:xfrm>
          <a:prstGeom prst="roundRect">
            <a:avLst>
              <a:gd name="adj" fmla="val 7505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38150" y="2939355"/>
            <a:ext cx="255198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 FRAMEWORK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438150" y="3145036"/>
            <a:ext cx="25519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eframe 0.27 - App framework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38150" y="3326011"/>
            <a:ext cx="25519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egui 0.27 - Immediate mode GUI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38150" y="3506986"/>
            <a:ext cx="25519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egui-remixicon - Icon set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187750" y="2806005"/>
            <a:ext cx="2768650" cy="1015305"/>
          </a:xfrm>
          <a:prstGeom prst="roundRect">
            <a:avLst>
              <a:gd name="adj" fmla="val 7505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321100" y="2939355"/>
            <a:ext cx="255198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NETWORKING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3321100" y="3145036"/>
            <a:ext cx="25519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reqwest 0.12 - HTTP client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21100" y="3326011"/>
            <a:ext cx="25519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tokio-tungstenite - WebSocket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21100" y="3506986"/>
            <a:ext cx="25519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futures - Async utilities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70699" y="2806005"/>
            <a:ext cx="2768650" cy="1015305"/>
          </a:xfrm>
          <a:prstGeom prst="roundRect">
            <a:avLst>
              <a:gd name="adj" fmla="val 7505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204049" y="2939355"/>
            <a:ext cx="255198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UTILITIES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6204049" y="3145036"/>
            <a:ext cx="25519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serde/serde_json - Serialization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04049" y="3326011"/>
            <a:ext cx="25519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anyhow/thiserror - Error handling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04049" y="3506986"/>
            <a:ext cx="25519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tracing - Logging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04800" y="3935611"/>
            <a:ext cx="8534400" cy="567630"/>
          </a:xfrm>
          <a:prstGeom prst="roundRect">
            <a:avLst>
              <a:gd name="adj" fmla="val 13424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28625" y="4059436"/>
            <a:ext cx="8452485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SCHEMA DATABASE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190500"/>
            <a:ext cx="5081207" cy="762000"/>
          </a:xfrm>
          <a:prstGeom prst="rect">
            <a:avLst/>
          </a:prstGeom>
          <a:noFill/>
          <a:ln/>
        </p:spPr>
        <p:txBody>
          <a:bodyPr wrap="square" lIns="0" tIns="190500" rIns="0" bIns="19050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CE42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Sistema di Sincronizzazione</a:t>
            </a:r>
            <a:endParaRPr lang="en-US" sz="3000" dirty="0"/>
          </a:p>
        </p:txBody>
      </p:sp>
      <p:pic>
        <p:nvPicPr>
          <p:cNvPr id="3" name="Image 0" descr="/tmp/rasterized-gradient-1da592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104900"/>
            <a:ext cx="8534400" cy="6552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8150" y="1238250"/>
            <a:ext cx="84330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DUAL SEQUENCE SYSTEM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38150" y="1455390"/>
            <a:ext cx="843305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a doppia sequenza per garantire la consegna affidabile dei messaggi e il recupero automatico in caso di disconnessione.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04800" y="2817019"/>
            <a:ext cx="2774900" cy="1383953"/>
          </a:xfrm>
          <a:prstGeom prst="roundRect">
            <a:avLst>
              <a:gd name="adj" fmla="val 55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304800" y="2826544"/>
            <a:ext cx="277490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5"/>
          <p:cNvSpPr/>
          <p:nvPr/>
        </p:nvSpPr>
        <p:spPr>
          <a:xfrm>
            <a:off x="3070175" y="2817019"/>
            <a:ext cx="0" cy="1383953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6"/>
          <p:cNvSpPr/>
          <p:nvPr/>
        </p:nvSpPr>
        <p:spPr>
          <a:xfrm>
            <a:off x="304800" y="4191446"/>
            <a:ext cx="277490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7"/>
          <p:cNvSpPr/>
          <p:nvPr/>
        </p:nvSpPr>
        <p:spPr>
          <a:xfrm>
            <a:off x="323850" y="2817019"/>
            <a:ext cx="0" cy="1383953"/>
          </a:xfrm>
          <a:prstGeom prst="line">
            <a:avLst/>
          </a:prstGeom>
          <a:noFill/>
          <a:ln w="38100">
            <a:solidFill>
              <a:srgbClr val="CE42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495300" y="2988469"/>
            <a:ext cx="246120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CE42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SEQUENCE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95300" y="3205609"/>
            <a:ext cx="246120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Traccia eventi a livello utente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495300" y="3419921"/>
            <a:ext cx="24129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Nuove conversazioni</a:t>
            </a:r>
            <a:endParaRPr lang="en-US" sz="750" dirty="0"/>
          </a:p>
          <a:p>
            <a:pPr marL="342900" indent="-342900" algn="l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Inviti ricevuti</a:t>
            </a:r>
            <a:endParaRPr lang="en-US" sz="750" dirty="0"/>
          </a:p>
          <a:p>
            <a:pPr marL="342900" indent="-342900" algn="l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Eventi di sistema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3194000" y="2817019"/>
            <a:ext cx="2774900" cy="1383953"/>
          </a:xfrm>
          <a:prstGeom prst="roundRect">
            <a:avLst>
              <a:gd name="adj" fmla="val 55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3194000" y="2826544"/>
            <a:ext cx="277490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3"/>
          <p:cNvSpPr/>
          <p:nvPr/>
        </p:nvSpPr>
        <p:spPr>
          <a:xfrm>
            <a:off x="5959376" y="2817019"/>
            <a:ext cx="0" cy="1383953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4"/>
          <p:cNvSpPr/>
          <p:nvPr/>
        </p:nvSpPr>
        <p:spPr>
          <a:xfrm>
            <a:off x="3194000" y="4191446"/>
            <a:ext cx="277490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5"/>
          <p:cNvSpPr/>
          <p:nvPr/>
        </p:nvSpPr>
        <p:spPr>
          <a:xfrm>
            <a:off x="3213050" y="2817019"/>
            <a:ext cx="0" cy="1383953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3384500" y="2988469"/>
            <a:ext cx="246120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MESSAGE SEQUENCE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384500" y="3205609"/>
            <a:ext cx="246120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Traccia messaggi per conversazione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3384500" y="3419921"/>
            <a:ext cx="24129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Messaggi inviati/ricevuti</a:t>
            </a:r>
            <a:endParaRPr lang="en-US" sz="750" dirty="0"/>
          </a:p>
          <a:p>
            <a:pPr marL="342900" indent="-342900" algn="l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Ordinamento garantito</a:t>
            </a:r>
            <a:endParaRPr lang="en-US" sz="750" dirty="0"/>
          </a:p>
          <a:p>
            <a:pPr marL="342900" indent="-342900" algn="l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selettivo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083201" y="2771775"/>
            <a:ext cx="2755850" cy="1474440"/>
          </a:xfrm>
          <a:prstGeom prst="roundRect">
            <a:avLst>
              <a:gd name="adj" fmla="val 5168"/>
            </a:avLst>
          </a:prstGeom>
          <a:solidFill>
            <a:srgbClr val="F3F4F6"/>
          </a:solidFill>
          <a:ln w="19050">
            <a:solidFill>
              <a:srgbClr val="1F293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254651" y="2943225"/>
            <a:ext cx="246120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RECOVERY WORKFLOW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254651" y="3160365"/>
            <a:ext cx="24612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Client riconnette e invia Ping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254651" y="3398490"/>
            <a:ext cx="24612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Server rileva gap e invia Pong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54651" y="3636615"/>
            <a:ext cx="24612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Client richiede eventi persi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254651" y="3874740"/>
            <a:ext cx="24612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Server invia batch di recovery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190500"/>
            <a:ext cx="6237351" cy="762000"/>
          </a:xfrm>
          <a:prstGeom prst="rect">
            <a:avLst/>
          </a:prstGeom>
          <a:noFill/>
          <a:ln/>
        </p:spPr>
        <p:txBody>
          <a:bodyPr wrap="square" lIns="0" tIns="190500" rIns="0" bIns="19050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CE42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Ruggine: Performance e Sicurezza</a:t>
            </a:r>
            <a:endParaRPr lang="en-US" sz="3000" dirty="0"/>
          </a:p>
        </p:txBody>
      </p:sp>
      <p:pic>
        <p:nvPicPr>
          <p:cNvPr id="3" name="Image 0" descr="/tmp/rasterized-gradient-fa430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599009"/>
            <a:ext cx="2743200" cy="16077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5300" y="1789509"/>
            <a:ext cx="1214438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33"/>
              </a:lnSpc>
              <a:spcAft>
                <a:spcPts val="900"/>
              </a:spcAft>
              <a:buNone/>
            </a:pPr>
            <a:r>
              <a:rPr lang="en-US" sz="2100" b="1" dirty="0">
                <a:solidFill>
                  <a:srgbClr val="99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95300" y="2200126"/>
            <a:ext cx="240944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99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PRESTAZIONI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95300" y="2459087"/>
            <a:ext cx="2409444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garantisce velocità nativa, basso utilizzo di memoria e latenza minima nelle comunicazioni real-time.</a:t>
            </a:r>
            <a:endParaRPr lang="en-US" sz="975" dirty="0"/>
          </a:p>
        </p:txBody>
      </p:sp>
      <p:pic>
        <p:nvPicPr>
          <p:cNvPr id="7" name="Image 1" descr="/tmp/rasterized-gradient-50f6275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599009"/>
            <a:ext cx="2743200" cy="16077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90900" y="1789509"/>
            <a:ext cx="1214438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33"/>
              </a:lnSpc>
              <a:spcAft>
                <a:spcPts val="900"/>
              </a:spcAft>
              <a:buNone/>
            </a:pPr>
            <a:r>
              <a:rPr lang="en-US" sz="21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🔒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3390900" y="2200126"/>
            <a:ext cx="240944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SICUREZZA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390900" y="2459087"/>
            <a:ext cx="2409444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safety, memory safety e pattern matching di Rust eliminano intere classi di vulnerabilità comuni.</a:t>
            </a:r>
            <a:endParaRPr lang="en-US" sz="975" dirty="0"/>
          </a:p>
        </p:txBody>
      </p:sp>
      <p:pic>
        <p:nvPicPr>
          <p:cNvPr id="11" name="Image 2" descr="/tmp/rasterized-gradient-d2c6a8b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599009"/>
            <a:ext cx="2743200" cy="160779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86500" y="1789509"/>
            <a:ext cx="1214438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33"/>
              </a:lnSpc>
              <a:spcAft>
                <a:spcPts val="900"/>
              </a:spcAft>
              <a:buNone/>
            </a:pPr>
            <a:r>
              <a:rPr lang="en-US" sz="2100" b="1" dirty="0">
                <a:solidFill>
                  <a:srgbClr val="065F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</a:t>
            </a:r>
            <a:endParaRPr lang="en-US" sz="2100" dirty="0"/>
          </a:p>
        </p:txBody>
      </p:sp>
      <p:sp>
        <p:nvSpPr>
          <p:cNvPr id="13" name="Text 8"/>
          <p:cNvSpPr/>
          <p:nvPr/>
        </p:nvSpPr>
        <p:spPr>
          <a:xfrm>
            <a:off x="6286500" y="2200126"/>
            <a:ext cx="240944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65F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AFFIDABILITÀ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286500" y="2459087"/>
            <a:ext cx="2409444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di sincronizzazione dual-sequence e recovery automatico garantiscono zero perdite di messaggi.</a:t>
            </a:r>
            <a:endParaRPr lang="en-US" sz="975" dirty="0"/>
          </a:p>
        </p:txBody>
      </p:sp>
      <p:sp>
        <p:nvSpPr>
          <p:cNvPr id="15" name="Text 10"/>
          <p:cNvSpPr/>
          <p:nvPr/>
        </p:nvSpPr>
        <p:spPr>
          <a:xfrm>
            <a:off x="304800" y="3397300"/>
            <a:ext cx="8534400" cy="1251942"/>
          </a:xfrm>
          <a:prstGeom prst="roundRect">
            <a:avLst>
              <a:gd name="adj" fmla="val 9130"/>
            </a:avLst>
          </a:prstGeom>
          <a:solidFill>
            <a:srgbClr val="1F29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2507456" y="3625900"/>
            <a:ext cx="4129088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Perché Rust per una Chat App?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452628" y="3994100"/>
            <a:ext cx="8238744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combina prestazioni native di linguaggi di sistema con garanzie di sicurezza moderne,</a:t>
            </a:r>
            <a:endParaRPr lang="en-US" sz="1050" dirty="0"/>
          </a:p>
          <a:p>
            <a:pPr marL="0" indent="0" algn="ctr">
              <a:lnSpc>
                <a:spcPts val="168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rendendolo ideale per applicazioni real-time dove ogni millisecondo conta e la correttezza è fondamentale.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494</Words>
  <Application>Microsoft Office PowerPoint</Application>
  <PresentationFormat>Presentazione su schermo (16:9)</PresentationFormat>
  <Paragraphs>122</Paragraphs>
  <Slides>7</Slides>
  <Notes>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0" baseType="lpstr">
      <vt:lpstr>Arial</vt:lpstr>
      <vt:lpstr>Trebuchet MS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Ruggine - Chat Application in Rust</dc:title>
  <dc:subject>Progetto Chat Application</dc:subject>
  <dc:creator>Gruppo G39</dc:creator>
  <cp:lastModifiedBy>Piovano  Gabriele</cp:lastModifiedBy>
  <cp:revision>1</cp:revision>
  <dcterms:created xsi:type="dcterms:W3CDTF">2025-11-28T09:39:03Z</dcterms:created>
  <dcterms:modified xsi:type="dcterms:W3CDTF">2025-11-28T09:57:07Z</dcterms:modified>
</cp:coreProperties>
</file>